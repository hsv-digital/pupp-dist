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7"/>
  </p:notesMasterIdLst>
  <p:sldIdLst>
    <p:sldId id="2147470008" r:id="rId3"/>
    <p:sldId id="259" r:id="rId4"/>
    <p:sldId id="2147470014" r:id="rId5"/>
    <p:sldId id="2147470015" r:id="rId6"/>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0E232E-D778-434D-A9E1-6C67955E94B8}" v="1" dt="2026-03-02T08:59:10.6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2284"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0:06.893" v="6"/>
      <pc:docMkLst>
        <pc:docMk/>
      </pc:docMkLst>
      <pc:sldChg chg="modSp add mod">
        <pc:chgData name="Praveen Dehury" userId="77009b3f-ee31-425d-b17c-2f6ea73f5149" providerId="ADAL" clId="{B729CC40-C5D3-4DFA-B500-D02C8BD993D7}" dt="2026-02-28T11:50:06.893" v="6"/>
        <pc:sldMkLst>
          <pc:docMk/>
          <pc:sldMk cId="2830339352" sldId="2147470014"/>
        </pc:sldMkLst>
        <pc:spChg chg="mod">
          <ac:chgData name="Praveen Dehury" userId="77009b3f-ee31-425d-b17c-2f6ea73f5149" providerId="ADAL" clId="{B729CC40-C5D3-4DFA-B500-D02C8BD993D7}" dt="2026-02-28T11:50:06.893" v="6"/>
          <ac:spMkLst>
            <pc:docMk/>
            <pc:sldMk cId="2830339352" sldId="2147470014"/>
            <ac:spMk id="3" creationId="{79B3C482-B6EF-F65E-08E2-9E465EDEC652}"/>
          </ac:spMkLst>
        </pc:spChg>
        <pc:spChg chg="mod">
          <ac:chgData name="Praveen Dehury" userId="77009b3f-ee31-425d-b17c-2f6ea73f5149" providerId="ADAL" clId="{B729CC40-C5D3-4DFA-B500-D02C8BD993D7}" dt="2026-02-28T10:24:11.319"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0:23:28.382" v="0"/>
        <pc:sldMkLst>
          <pc:docMk/>
          <pc:sldMk cId="243175164" sldId="2147470015"/>
        </pc:sldMkLst>
      </pc:sldChg>
    </pc:docChg>
  </pc:docChgLst>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3-02T08:59:14.199" v="19" actId="1076"/>
      <pc:docMkLst>
        <pc:docMk/>
      </pc:docMkLst>
      <pc:sldChg chg="modSp add mod">
        <pc:chgData name="Vandan Jain" userId="4244b45b-25d1-413d-855b-6597e767c081" providerId="ADAL" clId="{67AB2A15-26B8-47FB-BEC6-EFDC03C3B3B6}" dt="2026-03-02T08:59:07.140" v="16" actId="14100"/>
        <pc:sldMkLst>
          <pc:docMk/>
          <pc:sldMk cId="1630386862" sldId="2147470008"/>
        </pc:sldMkLst>
        <pc:spChg chg="mod">
          <ac:chgData name="Vandan Jain" userId="4244b45b-25d1-413d-855b-6597e767c081" providerId="ADAL" clId="{67AB2A15-26B8-47FB-BEC6-EFDC03C3B3B6}" dt="2026-03-02T08:59:07.140" v="16" actId="14100"/>
          <ac:spMkLst>
            <pc:docMk/>
            <pc:sldMk cId="1630386862" sldId="2147470008"/>
            <ac:spMk id="32" creationId="{C8230886-385E-3625-B41A-6EB929B3CECD}"/>
          </ac:spMkLst>
        </pc:spChg>
      </pc:sldChg>
      <pc:sldChg chg="addSp delSp modSp mod">
        <pc:chgData name="Vandan Jain" userId="4244b45b-25d1-413d-855b-6597e767c081" providerId="ADAL" clId="{67AB2A15-26B8-47FB-BEC6-EFDC03C3B3B6}" dt="2026-03-02T08:59:14.199" v="19" actId="1076"/>
        <pc:sldMkLst>
          <pc:docMk/>
          <pc:sldMk cId="2830339352" sldId="2147470014"/>
        </pc:sldMkLst>
        <pc:spChg chg="del">
          <ac:chgData name="Vandan Jain" userId="4244b45b-25d1-413d-855b-6597e767c081" providerId="ADAL" clId="{67AB2A15-26B8-47FB-BEC6-EFDC03C3B3B6}" dt="2026-03-02T08:59:10.334" v="17"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8:59:14.199" v="19" actId="1076"/>
          <ac:graphicFrameMkLst>
            <pc:docMk/>
            <pc:sldMk cId="2830339352" sldId="2147470014"/>
            <ac:graphicFrameMk id="2" creationId="{85413281-7B20-BBC3-617A-B45C07FA9674}"/>
          </ac:graphicFrameMkLst>
        </pc:graphicFrameChg>
        <pc:graphicFrameChg chg="del">
          <ac:chgData name="Vandan Jain" userId="4244b45b-25d1-413d-855b-6597e767c081" providerId="ADAL" clId="{67AB2A15-26B8-47FB-BEC6-EFDC03C3B3B6}" dt="2026-03-02T08:59:10.334" v="17"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8:59:10.334" v="17"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8:59:10.334" v="17"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8:59:10.334" v="17"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8:59:10.334" v="17"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8:59:10.334" v="17"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8:59:10.334" v="17"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8:59:10.334" v="17" actId="478"/>
          <ac:cxnSpMkLst>
            <pc:docMk/>
            <pc:sldMk cId="2830339352" sldId="2147470014"/>
            <ac:cxnSpMk id="40" creationId="{838813B3-0AF8-28F8-0DB3-A2D67FE29936}"/>
          </ac:cxnSpMkLst>
        </pc:cxnChg>
        <pc:cxnChg chg="del">
          <ac:chgData name="Vandan Jain" userId="4244b45b-25d1-413d-855b-6597e767c081" providerId="ADAL" clId="{67AB2A15-26B8-47FB-BEC6-EFDC03C3B3B6}" dt="2026-03-02T08:59:10.334" v="17" actId="478"/>
          <ac:cxnSpMkLst>
            <pc:docMk/>
            <pc:sldMk cId="2830339352" sldId="2147470014"/>
            <ac:cxnSpMk id="41" creationId="{5D0ABD50-0663-D5B6-17A1-7728958B21B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39476752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893484723"/>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342900"/>
            <a:ext cx="5667374" cy="7677149"/>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1313" y="1647450"/>
            <a:ext cx="1640799" cy="2917180"/>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2988637"/>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071683"/>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r:embed="rId6">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bwMode="black">
          <a:xfrm>
            <a:off x="304210" y="243499"/>
            <a:ext cx="1319835" cy="167302"/>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74982" y="1850913"/>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7" y="866361"/>
            <a:ext cx="2848613" cy="4038997"/>
          </a:xfrm>
          <a:prstGeom prst="rect">
            <a:avLst/>
          </a:prstGeom>
        </p:spPr>
      </p:pic>
      <p:pic>
        <p:nvPicPr>
          <p:cNvPr id="4" name="Vector 1" descr="preencoded.png"/>
          <p:cNvPicPr>
            <a:picLocks noChangeAspect="1"/>
          </p:cNvPicPr>
          <p:nvPr/>
        </p:nvPicPr>
        <p:blipFill>
          <a:blip r:embed="rId5"/>
          <a:srcRect/>
          <a:stretch/>
        </p:blipFill>
        <p:spPr>
          <a:xfrm>
            <a:off x="504825" y="1397445"/>
            <a:ext cx="2000251" cy="5112"/>
          </a:xfrm>
          <a:prstGeom prst="rect">
            <a:avLst/>
          </a:prstGeom>
        </p:spPr>
      </p:pic>
      <p:pic>
        <p:nvPicPr>
          <p:cNvPr id="5" name="Rectangle 34658328" descr="preencoded.png"/>
          <p:cNvPicPr>
            <a:picLocks noChangeAspect="1"/>
          </p:cNvPicPr>
          <p:nvPr/>
        </p:nvPicPr>
        <p:blipFill>
          <a:blip r:embed="rId6"/>
          <a:srcRect/>
          <a:stretch/>
        </p:blipFill>
        <p:spPr>
          <a:xfrm>
            <a:off x="2743217" y="866361"/>
            <a:ext cx="2848614" cy="4038997"/>
          </a:xfrm>
          <a:prstGeom prst="rect">
            <a:avLst/>
          </a:prstGeom>
        </p:spPr>
      </p:pic>
      <p:pic>
        <p:nvPicPr>
          <p:cNvPr id="6" name="Vector 1" descr="preencoded.png"/>
          <p:cNvPicPr>
            <a:picLocks noChangeAspect="1"/>
          </p:cNvPicPr>
          <p:nvPr/>
        </p:nvPicPr>
        <p:blipFill>
          <a:blip r:embed="rId5"/>
          <a:srcRect/>
          <a:stretch/>
        </p:blipFill>
        <p:spPr>
          <a:xfrm>
            <a:off x="3181350" y="1397445"/>
            <a:ext cx="2000251" cy="5112"/>
          </a:xfrm>
          <a:prstGeom prst="rect">
            <a:avLst/>
          </a:prstGeom>
        </p:spPr>
      </p:pic>
      <p:sp>
        <p:nvSpPr>
          <p:cNvPr id="9" name="Incremental capabilities from Current SKU to Target SKU"/>
          <p:cNvSpPr/>
          <p:nvPr/>
        </p:nvSpPr>
        <p:spPr>
          <a:xfrm>
            <a:off x="304800" y="419100"/>
            <a:ext cx="4986337" cy="457200"/>
          </a:xfrm>
          <a:prstGeom prst="rect">
            <a:avLst/>
          </a:prstGeom>
          <a:noFill/>
          <a:ln/>
        </p:spPr>
        <p:txBody>
          <a:bodyPr wrap="square" lIns="0" tIns="0" rIns="0" bIns="0" rtlCol="0" anchor="ctr"/>
          <a:lstStyle/>
          <a:p>
            <a:pPr marL="0" indent="0" algn="l">
              <a:lnSpc>
                <a:spcPct val="100000"/>
              </a:lnSpc>
              <a:buNone/>
            </a:pPr>
            <a:r>
              <a:rPr lang="en-US" sz="1600" dirty="0">
                <a:solidFill>
                  <a:srgbClr val="000000"/>
                </a:solidFill>
                <a:latin typeface="Segoe UI Semibold" pitchFamily="34" charset="0"/>
                <a:ea typeface="Segoe UI Semibold" pitchFamily="34" charset="-122"/>
                <a:cs typeface="Segoe UI Semibold" pitchFamily="34" charset="-120"/>
              </a:rPr>
              <a:t>Incremental security capabilities from Business Basic to Business Premium and Purview Suite</a:t>
            </a:r>
            <a:endParaRPr lang="en-US" sz="1600" dirty="0"/>
          </a:p>
        </p:txBody>
      </p:sp>
      <p:sp>
        <p:nvSpPr>
          <p:cNvPr id="10" name="Current SKU"/>
          <p:cNvSpPr/>
          <p:nvPr/>
        </p:nvSpPr>
        <p:spPr>
          <a:xfrm>
            <a:off x="504825" y="1178707"/>
            <a:ext cx="981075" cy="166712"/>
          </a:xfrm>
          <a:prstGeom prst="rect">
            <a:avLst/>
          </a:prstGeom>
          <a:noFill/>
          <a:ln/>
        </p:spPr>
        <p:txBody>
          <a:bodyPr wrap="square" lIns="0" tIns="0" rIns="0" bIns="0" rtlCol="0" anchor="ctr">
            <a:spAutoFit/>
          </a:bodyPr>
          <a:lstStyle/>
          <a:p>
            <a:pPr marL="0" indent="0" algn="l">
              <a:lnSpc>
                <a:spcPts val="1275"/>
              </a:lnSpc>
              <a:buNone/>
            </a:pPr>
            <a:r>
              <a:rPr lang="en-US" sz="1200" dirty="0">
                <a:solidFill>
                  <a:srgbClr val="8A226F"/>
                </a:solidFill>
                <a:latin typeface="Segoe UI Semibold" pitchFamily="34" charset="0"/>
                <a:ea typeface="Segoe UI Semibold" pitchFamily="34" charset="-122"/>
                <a:cs typeface="Segoe UI Semibold" pitchFamily="34" charset="-120"/>
              </a:rPr>
              <a:t>Business Basic</a:t>
            </a:r>
            <a:endParaRPr lang="en-US" sz="1200" dirty="0"/>
          </a:p>
        </p:txBody>
      </p:sp>
      <p:sp>
        <p:nvSpPr>
          <p:cNvPr id="11"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552575"/>
            <a:ext cx="2000251" cy="2154436"/>
          </a:xfrm>
          <a:prstGeom prst="rect">
            <a:avLst/>
          </a:prstGeom>
          <a:noFill/>
          <a:ln/>
        </p:spPr>
        <p:txBody>
          <a:bodyPr wrap="square" lIns="0" tIns="0" rIns="0" bIns="0" rtlCol="0" anchor="t" anchorCtr="0">
            <a:spAutoFit/>
          </a:bodyPr>
          <a:lstStyle/>
          <a:p>
            <a:pPr marL="114300" indent="-114300">
              <a:spcBef>
                <a:spcPts val="1200"/>
              </a:spcBef>
              <a:buSzPct val="100000"/>
              <a:buFontTx/>
              <a:buChar char="•"/>
            </a:pPr>
            <a:r>
              <a:rPr lang="en-US" sz="1000" dirty="0">
                <a:solidFill>
                  <a:srgbClr val="000000"/>
                </a:solidFill>
                <a:latin typeface="Segoe UI" panose="020B0502040204020203" pitchFamily="34" charset="0"/>
                <a:ea typeface="Segoe UI Regular" pitchFamily="34" charset="-122"/>
                <a:cs typeface="Segoe UI" panose="020B0502040204020203" pitchFamily="34" charset="0"/>
              </a:rPr>
              <a:t>Identity and access management: Single sign-on for apps and devices, and multifactor authentication for work accounts
Data compliance: Ability to log and search for audited activities with Microsoft Purview Audit
Insights and analytics: Insights into your organization's Microsoft 365 usage and security posture with Adoption Score and Secure Score</a:t>
            </a:r>
            <a:endParaRPr lang="en-US" sz="1000" dirty="0">
              <a:latin typeface="Segoe UI" panose="020B0502040204020203" pitchFamily="34" charset="0"/>
              <a:cs typeface="Segoe UI" panose="020B0502040204020203" pitchFamily="34" charset="0"/>
            </a:endParaRPr>
          </a:p>
        </p:txBody>
      </p:sp>
      <p:sp>
        <p:nvSpPr>
          <p:cNvPr id="12" name="Target SKU"/>
          <p:cNvSpPr/>
          <p:nvPr/>
        </p:nvSpPr>
        <p:spPr>
          <a:xfrm>
            <a:off x="3022020" y="1123059"/>
            <a:ext cx="1882525" cy="333425"/>
          </a:xfrm>
          <a:prstGeom prst="rect">
            <a:avLst/>
          </a:prstGeom>
          <a:noFill/>
          <a:ln/>
        </p:spPr>
        <p:txBody>
          <a:bodyPr wrap="square" lIns="0" tIns="0" rIns="0" bIns="0" rtlCol="0" anchor="ctr">
            <a:spAutoFit/>
          </a:bodyPr>
          <a:lstStyle/>
          <a:p>
            <a:pPr marL="0" indent="0" algn="l">
              <a:lnSpc>
                <a:spcPts val="1275"/>
              </a:lnSpc>
              <a:buNone/>
            </a:pPr>
            <a:r>
              <a:rPr lang="en-US" sz="1200" dirty="0">
                <a:solidFill>
                  <a:srgbClr val="B740C5"/>
                </a:solidFill>
                <a:latin typeface="Segoe UI Semibold" pitchFamily="34" charset="0"/>
                <a:ea typeface="Segoe UI Semibold" pitchFamily="34" charset="-122"/>
                <a:cs typeface="Segoe UI Semibold" pitchFamily="34" charset="-120"/>
              </a:rPr>
              <a:t>Business Premium and Purview Suite </a:t>
            </a:r>
            <a:endParaRPr lang="en-US" sz="1200" dirty="0"/>
          </a:p>
        </p:txBody>
      </p:sp>
      <p:sp>
        <p:nvSpPr>
          <p:cNvPr id="13"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3038476" y="1552575"/>
            <a:ext cx="2190749" cy="2923877"/>
          </a:xfrm>
          <a:prstGeom prst="rect">
            <a:avLst/>
          </a:prstGeom>
          <a:noFill/>
          <a:ln/>
        </p:spPr>
        <p:txBody>
          <a:bodyPr wrap="square" lIns="0" tIns="0" rIns="0" bIns="0" rtlCol="0" anchor="t" anchorCtr="0">
            <a:spAutoFit/>
          </a:bodyPr>
          <a:lstStyle/>
          <a:p>
            <a:pPr marL="114300" indent="-114300" algn="l">
              <a:spcBef>
                <a:spcPts val="1200"/>
              </a:spcBef>
              <a:buSzPct val="100000"/>
              <a:buChar char="•"/>
            </a:pPr>
            <a:r>
              <a:rPr lang="en-US" sz="1000" dirty="0">
                <a:solidFill>
                  <a:srgbClr val="000000"/>
                </a:solidFill>
                <a:latin typeface="Segoe UI" panose="020B0502040204020203" pitchFamily="34" charset="0"/>
                <a:ea typeface="Segoe UI Regular" pitchFamily="34" charset="-122"/>
                <a:cs typeface="Segoe UI" panose="020B0502040204020203" pitchFamily="34" charset="0"/>
              </a:rPr>
              <a:t>eDiscovery &amp; Audit: Empowers legal and compliance teams with integrated tools and deep visibility to </a:t>
            </a:r>
            <a:r>
              <a:rPr lang="en-US" sz="1000" b="1" dirty="0">
                <a:solidFill>
                  <a:srgbClr val="000000"/>
                </a:solidFill>
                <a:latin typeface="Segoe UI" panose="020B0502040204020203" pitchFamily="34" charset="0"/>
                <a:ea typeface="Segoe UI Regular" pitchFamily="34" charset="-122"/>
                <a:cs typeface="Segoe UI" panose="020B0502040204020203" pitchFamily="34" charset="0"/>
              </a:rPr>
              <a:t>streamline investigations, enforce legal holds, and maintain regulatory readiness</a:t>
            </a:r>
            <a:r>
              <a:rPr lang="en-US" sz="1000" b="1" dirty="0">
                <a:solidFill>
                  <a:srgbClr val="000000"/>
                </a:solidFill>
                <a:latin typeface="Segoe UI" panose="020B0502040204020203" pitchFamily="34" charset="0"/>
                <a:ea typeface="Segoe UI Bold" pitchFamily="34" charset="-122"/>
                <a:cs typeface="Segoe UI" panose="020B0502040204020203" pitchFamily="34" charset="0"/>
              </a:rPr>
              <a:t>
</a:t>
            </a:r>
            <a:r>
              <a:rPr lang="en-US" sz="1000" dirty="0">
                <a:solidFill>
                  <a:srgbClr val="000000"/>
                </a:solidFill>
                <a:latin typeface="Segoe UI" panose="020B0502040204020203" pitchFamily="34" charset="0"/>
                <a:ea typeface="Segoe UI Regular" pitchFamily="34" charset="-122"/>
                <a:cs typeface="Segoe UI" panose="020B0502040204020203" pitchFamily="34" charset="0"/>
              </a:rPr>
              <a:t>Insider Risk Management: Helps detect and mitigate internal threats with </a:t>
            </a:r>
            <a:r>
              <a:rPr lang="en-US" sz="1000" b="1" dirty="0">
                <a:solidFill>
                  <a:srgbClr val="000000"/>
                </a:solidFill>
                <a:latin typeface="Segoe UI" panose="020B0502040204020203" pitchFamily="34" charset="0"/>
                <a:ea typeface="Segoe UI Regular" pitchFamily="34" charset="-122"/>
                <a:cs typeface="Segoe UI" panose="020B0502040204020203" pitchFamily="34" charset="0"/>
              </a:rPr>
              <a:t>privacy-respecting behavioral analytics and granular communication controls</a:t>
            </a:r>
            <a:r>
              <a:rPr lang="en-US" sz="1000" dirty="0">
                <a:solidFill>
                  <a:srgbClr val="000000"/>
                </a:solidFill>
                <a:latin typeface="Segoe UI" panose="020B0502040204020203" pitchFamily="34" charset="0"/>
                <a:ea typeface="Segoe UI Regular" pitchFamily="34" charset="-122"/>
                <a:cs typeface="Segoe UI" panose="020B0502040204020203" pitchFamily="34" charset="0"/>
              </a:rPr>
              <a:t>
Information Protection &amp; Governance: Enables organizations to </a:t>
            </a:r>
            <a:r>
              <a:rPr lang="en-US" sz="1000" b="1" dirty="0">
                <a:solidFill>
                  <a:srgbClr val="000000"/>
                </a:solidFill>
                <a:latin typeface="Segoe UI" panose="020B0502040204020203" pitchFamily="34" charset="0"/>
                <a:ea typeface="Segoe UI Regular" pitchFamily="34" charset="-122"/>
                <a:cs typeface="Segoe UI" panose="020B0502040204020203" pitchFamily="34" charset="0"/>
              </a:rPr>
              <a:t>classify, protect, and manage sensitive data across its lifecycle</a:t>
            </a:r>
            <a:r>
              <a:rPr lang="en-US" sz="1000" dirty="0">
                <a:solidFill>
                  <a:srgbClr val="000000"/>
                </a:solidFill>
                <a:latin typeface="Segoe UI" panose="020B0502040204020203" pitchFamily="34" charset="0"/>
                <a:ea typeface="Segoe UI Regular" pitchFamily="34" charset="-122"/>
                <a:cs typeface="Segoe UI" panose="020B0502040204020203" pitchFamily="34" charset="0"/>
              </a:rPr>
              <a:t>, ensuring secure collaboration and compliance at scale</a:t>
            </a:r>
            <a:endParaRPr lang="en-US" sz="1000" dirty="0">
              <a:latin typeface="Segoe UI" panose="020B0502040204020203" pitchFamily="34" charset="0"/>
              <a:cs typeface="Segoe UI" panose="020B0502040204020203" pitchFamily="34" charset="0"/>
            </a:endParaRPr>
          </a:p>
        </p:txBody>
      </p:sp>
      <p:grpSp>
        <p:nvGrpSpPr>
          <p:cNvPr id="22" name="Group 21">
            <a:extLst>
              <a:ext uri="{FF2B5EF4-FFF2-40B4-BE49-F238E27FC236}">
                <a16:creationId xmlns:a16="http://schemas.microsoft.com/office/drawing/2014/main" id="{2D81C986-8BD7-B32F-BBFE-3DB6098081AE}"/>
              </a:ext>
            </a:extLst>
          </p:cNvPr>
          <p:cNvGrpSpPr/>
          <p:nvPr/>
        </p:nvGrpSpPr>
        <p:grpSpPr>
          <a:xfrm>
            <a:off x="2604720" y="1824449"/>
            <a:ext cx="452071" cy="452070"/>
            <a:chOff x="2604720" y="1824449"/>
            <a:chExt cx="452071" cy="452070"/>
          </a:xfrm>
        </p:grpSpPr>
        <p:grpSp>
          <p:nvGrpSpPr>
            <p:cNvPr id="18" name="Graphic 15">
              <a:extLst>
                <a:ext uri="{FF2B5EF4-FFF2-40B4-BE49-F238E27FC236}">
                  <a16:creationId xmlns:a16="http://schemas.microsoft.com/office/drawing/2014/main" id="{50E7982B-54A8-30D2-A845-47D12DEA68EB}"/>
                </a:ext>
              </a:extLst>
            </p:cNvPr>
            <p:cNvGrpSpPr/>
            <p:nvPr/>
          </p:nvGrpSpPr>
          <p:grpSpPr>
            <a:xfrm>
              <a:off x="2604720" y="1824449"/>
              <a:ext cx="452071" cy="452070"/>
              <a:chOff x="2604720" y="3739960"/>
              <a:chExt cx="452071" cy="452070"/>
            </a:xfrm>
          </p:grpSpPr>
          <p:sp>
            <p:nvSpPr>
              <p:cNvPr id="19" name="Freeform: Shape 18">
                <a:extLst>
                  <a:ext uri="{FF2B5EF4-FFF2-40B4-BE49-F238E27FC236}">
                    <a16:creationId xmlns:a16="http://schemas.microsoft.com/office/drawing/2014/main" id="{97596257-DF74-6A22-361A-B9A9E7E422F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20" name="Freeform: Shape 19">
                <a:extLst>
                  <a:ext uri="{FF2B5EF4-FFF2-40B4-BE49-F238E27FC236}">
                    <a16:creationId xmlns:a16="http://schemas.microsoft.com/office/drawing/2014/main" id="{1C2D2396-57A2-CE21-0917-D3C600BBF798}"/>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21" name="Freeform: Shape 20">
              <a:extLst>
                <a:ext uri="{FF2B5EF4-FFF2-40B4-BE49-F238E27FC236}">
                  <a16:creationId xmlns:a16="http://schemas.microsoft.com/office/drawing/2014/main" id="{E71AB5D7-AD4D-3018-4F82-83C3FB9E417A}"/>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15" name="Rectangle 34658333" descr="preencoded.png">
            <a:extLst>
              <a:ext uri="{FF2B5EF4-FFF2-40B4-BE49-F238E27FC236}">
                <a16:creationId xmlns:a16="http://schemas.microsoft.com/office/drawing/2014/main" id="{8D27CB84-8455-504E-EAD3-A77E2B4BA3D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04800" y="4808394"/>
            <a:ext cx="5057775" cy="2979676"/>
          </a:xfrm>
          <a:prstGeom prst="rect">
            <a:avLst/>
          </a:prstGeom>
        </p:spPr>
      </p:pic>
      <p:sp>
        <p:nvSpPr>
          <p:cNvPr id="16" name="Save up to 47 per license with the Defender Suite for Business Premium">
            <a:extLst>
              <a:ext uri="{FF2B5EF4-FFF2-40B4-BE49-F238E27FC236}">
                <a16:creationId xmlns:a16="http://schemas.microsoft.com/office/drawing/2014/main" id="{2C9188B6-6ECB-4317-53AC-779B8524513A}"/>
              </a:ext>
            </a:extLst>
          </p:cNvPr>
          <p:cNvSpPr/>
          <p:nvPr/>
        </p:nvSpPr>
        <p:spPr>
          <a:xfrm>
            <a:off x="1404937" y="4998894"/>
            <a:ext cx="2857500" cy="361950"/>
          </a:xfrm>
          <a:prstGeom prst="rect">
            <a:avLst/>
          </a:prstGeom>
          <a:noFill/>
          <a:ln/>
        </p:spPr>
        <p:txBody>
          <a:bodyPr wrap="square" lIns="0" tIns="0" rIns="0" bIns="0" rtlCol="0" anchor="ctr"/>
          <a:lstStyle/>
          <a:p>
            <a:pPr marL="0" indent="0" algn="ctr">
              <a:lnSpc>
                <a:spcPct val="100000"/>
              </a:lnSpc>
              <a:buNone/>
            </a:pPr>
            <a:r>
              <a:rPr lang="en-US" sz="1200" dirty="0">
                <a:solidFill>
                  <a:srgbClr val="000000"/>
                </a:solidFill>
                <a:latin typeface="Segoe UI Semibold" pitchFamily="34" charset="0"/>
                <a:ea typeface="Segoe UI Semibold" pitchFamily="34" charset="-122"/>
                <a:cs typeface="Segoe UI Semibold" pitchFamily="34" charset="-120"/>
              </a:rPr>
              <a:t>Save up to 47% per license with the Purview Suite for Business Premium</a:t>
            </a:r>
            <a:endParaRPr lang="en-US" sz="1200" dirty="0"/>
          </a:p>
        </p:txBody>
      </p:sp>
      <p:sp>
        <p:nvSpPr>
          <p:cNvPr id="14" name="Rectangle 13">
            <a:extLst>
              <a:ext uri="{FF2B5EF4-FFF2-40B4-BE49-F238E27FC236}">
                <a16:creationId xmlns:a16="http://schemas.microsoft.com/office/drawing/2014/main" id="{E8958039-A25F-0BE9-8E75-55D80341BBCD}"/>
              </a:ext>
            </a:extLst>
          </p:cNvPr>
          <p:cNvSpPr/>
          <p:nvPr/>
        </p:nvSpPr>
        <p:spPr>
          <a:xfrm>
            <a:off x="376237" y="5501336"/>
            <a:ext cx="1238250" cy="2041043"/>
          </a:xfrm>
          <a:prstGeom prst="rect">
            <a:avLst/>
          </a:prstGeom>
          <a:solidFill>
            <a:srgbClr val="F8F2F7"/>
          </a:solidFill>
          <a:ln w="9525" cap="flat">
            <a:noFill/>
            <a:prstDash val="solid"/>
            <a:miter/>
          </a:ln>
        </p:spPr>
        <p:txBody>
          <a:bodyPr/>
          <a:lstStyle/>
          <a:p>
            <a:endParaRPr lang="en-US"/>
          </a:p>
        </p:txBody>
      </p:sp>
      <p:sp>
        <p:nvSpPr>
          <p:cNvPr id="41" name="Rectangle 40">
            <a:extLst>
              <a:ext uri="{FF2B5EF4-FFF2-40B4-BE49-F238E27FC236}">
                <a16:creationId xmlns:a16="http://schemas.microsoft.com/office/drawing/2014/main" id="{4636B41A-C435-919A-44B1-88FB272F56F7}"/>
              </a:ext>
            </a:extLst>
          </p:cNvPr>
          <p:cNvSpPr/>
          <p:nvPr/>
        </p:nvSpPr>
        <p:spPr>
          <a:xfrm>
            <a:off x="4062412" y="5501336"/>
            <a:ext cx="1228725" cy="2041043"/>
          </a:xfrm>
          <a:prstGeom prst="rect">
            <a:avLst/>
          </a:prstGeom>
          <a:solidFill>
            <a:srgbClr val="F8F2F7"/>
          </a:solidFill>
          <a:ln w="9525" cap="flat">
            <a:noFill/>
            <a:prstDash val="solid"/>
            <a:miter/>
          </a:ln>
        </p:spPr>
        <p:txBody>
          <a:bodyPr/>
          <a:lstStyle/>
          <a:p>
            <a:endParaRPr lang="en-US"/>
          </a:p>
        </p:txBody>
      </p:sp>
      <p:sp>
        <p:nvSpPr>
          <p:cNvPr id="42" name="Freeform: Shape 41">
            <a:extLst>
              <a:ext uri="{FF2B5EF4-FFF2-40B4-BE49-F238E27FC236}">
                <a16:creationId xmlns:a16="http://schemas.microsoft.com/office/drawing/2014/main" id="{7BEF43C8-2D64-5B74-17E6-DB49D511B8B0}"/>
              </a:ext>
            </a:extLst>
          </p:cNvPr>
          <p:cNvSpPr/>
          <p:nvPr/>
        </p:nvSpPr>
        <p:spPr>
          <a:xfrm>
            <a:off x="1804987" y="6013125"/>
            <a:ext cx="1000125" cy="1000125"/>
          </a:xfrm>
          <a:custGeom>
            <a:avLst/>
            <a:gdLst>
              <a:gd name="csX0" fmla="*/ 1000125 w 1000125"/>
              <a:gd name="csY0" fmla="*/ 500063 h 1000125"/>
              <a:gd name="csX1" fmla="*/ 500063 w 1000125"/>
              <a:gd name="csY1" fmla="*/ 1000125 h 1000125"/>
              <a:gd name="csX2" fmla="*/ 0 w 1000125"/>
              <a:gd name="csY2" fmla="*/ 500063 h 1000125"/>
              <a:gd name="csX3" fmla="*/ 500063 w 1000125"/>
              <a:gd name="csY3" fmla="*/ 0 h 1000125"/>
              <a:gd name="csX4" fmla="*/ 1000125 w 1000125"/>
              <a:gd name="csY4" fmla="*/ 500063 h 1000125"/>
              <a:gd name="csX5" fmla="*/ 100013 w 1000125"/>
              <a:gd name="csY5" fmla="*/ 500063 h 1000125"/>
              <a:gd name="csX6" fmla="*/ 500063 w 1000125"/>
              <a:gd name="csY6" fmla="*/ 900113 h 1000125"/>
              <a:gd name="csX7" fmla="*/ 900113 w 1000125"/>
              <a:gd name="csY7" fmla="*/ 500063 h 1000125"/>
              <a:gd name="csX8" fmla="*/ 500063 w 1000125"/>
              <a:gd name="csY8" fmla="*/ 100013 h 1000125"/>
              <a:gd name="csX9" fmla="*/ 100013 w 1000125"/>
              <a:gd name="csY9" fmla="*/ 500063 h 1000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00125" h="1000125">
                <a:moveTo>
                  <a:pt x="1000125" y="500063"/>
                </a:moveTo>
                <a:cubicBezTo>
                  <a:pt x="1000125" y="776240"/>
                  <a:pt x="776240" y="1000125"/>
                  <a:pt x="500063" y="1000125"/>
                </a:cubicBezTo>
                <a:cubicBezTo>
                  <a:pt x="223885" y="1000125"/>
                  <a:pt x="0" y="776240"/>
                  <a:pt x="0" y="500063"/>
                </a:cubicBezTo>
                <a:cubicBezTo>
                  <a:pt x="0" y="223886"/>
                  <a:pt x="223885" y="0"/>
                  <a:pt x="500063" y="0"/>
                </a:cubicBezTo>
                <a:cubicBezTo>
                  <a:pt x="776240" y="0"/>
                  <a:pt x="1000125" y="223886"/>
                  <a:pt x="1000125" y="500063"/>
                </a:cubicBezTo>
                <a:close/>
                <a:moveTo>
                  <a:pt x="100013" y="500063"/>
                </a:moveTo>
                <a:cubicBezTo>
                  <a:pt x="100013" y="721004"/>
                  <a:pt x="279121" y="900113"/>
                  <a:pt x="500063" y="900113"/>
                </a:cubicBezTo>
                <a:cubicBezTo>
                  <a:pt x="721004" y="900113"/>
                  <a:pt x="900113" y="721004"/>
                  <a:pt x="900113" y="500063"/>
                </a:cubicBezTo>
                <a:cubicBezTo>
                  <a:pt x="900113" y="279121"/>
                  <a:pt x="721004" y="100013"/>
                  <a:pt x="500063" y="100013"/>
                </a:cubicBezTo>
                <a:cubicBezTo>
                  <a:pt x="279121" y="100013"/>
                  <a:pt x="100013" y="279121"/>
                  <a:pt x="100013" y="500063"/>
                </a:cubicBezTo>
                <a:close/>
              </a:path>
            </a:pathLst>
          </a:custGeom>
          <a:solidFill>
            <a:srgbClr val="8A226F"/>
          </a:solidFill>
          <a:ln w="9525" cap="flat">
            <a:noFill/>
            <a:prstDash val="solid"/>
            <a:miter/>
          </a:ln>
        </p:spPr>
        <p:txBody>
          <a:bodyPr/>
          <a:lstStyle/>
          <a:p>
            <a:endParaRPr lang="en-US"/>
          </a:p>
        </p:txBody>
      </p:sp>
      <p:sp>
        <p:nvSpPr>
          <p:cNvPr id="43" name="Freeform: Shape 42">
            <a:extLst>
              <a:ext uri="{FF2B5EF4-FFF2-40B4-BE49-F238E27FC236}">
                <a16:creationId xmlns:a16="http://schemas.microsoft.com/office/drawing/2014/main" id="{38AE2BAA-7901-7F2A-0294-46234E9D14F9}"/>
              </a:ext>
            </a:extLst>
          </p:cNvPr>
          <p:cNvSpPr/>
          <p:nvPr/>
        </p:nvSpPr>
        <p:spPr>
          <a:xfrm>
            <a:off x="2852737" y="6015759"/>
            <a:ext cx="1000125" cy="1000125"/>
          </a:xfrm>
          <a:custGeom>
            <a:avLst/>
            <a:gdLst>
              <a:gd name="csX0" fmla="*/ 1000125 w 1000125"/>
              <a:gd name="csY0" fmla="*/ 500063 h 1000125"/>
              <a:gd name="csX1" fmla="*/ 500063 w 1000125"/>
              <a:gd name="csY1" fmla="*/ 1000125 h 1000125"/>
              <a:gd name="csX2" fmla="*/ 0 w 1000125"/>
              <a:gd name="csY2" fmla="*/ 500063 h 1000125"/>
              <a:gd name="csX3" fmla="*/ 500063 w 1000125"/>
              <a:gd name="csY3" fmla="*/ 0 h 1000125"/>
              <a:gd name="csX4" fmla="*/ 1000125 w 1000125"/>
              <a:gd name="csY4" fmla="*/ 500063 h 1000125"/>
              <a:gd name="csX5" fmla="*/ 100013 w 1000125"/>
              <a:gd name="csY5" fmla="*/ 500063 h 1000125"/>
              <a:gd name="csX6" fmla="*/ 500063 w 1000125"/>
              <a:gd name="csY6" fmla="*/ 900113 h 1000125"/>
              <a:gd name="csX7" fmla="*/ 900113 w 1000125"/>
              <a:gd name="csY7" fmla="*/ 500063 h 1000125"/>
              <a:gd name="csX8" fmla="*/ 500063 w 1000125"/>
              <a:gd name="csY8" fmla="*/ 100013 h 1000125"/>
              <a:gd name="csX9" fmla="*/ 100013 w 1000125"/>
              <a:gd name="csY9" fmla="*/ 500063 h 1000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00125" h="1000125">
                <a:moveTo>
                  <a:pt x="1000125" y="500063"/>
                </a:moveTo>
                <a:cubicBezTo>
                  <a:pt x="1000125" y="776240"/>
                  <a:pt x="776240" y="1000125"/>
                  <a:pt x="500063" y="1000125"/>
                </a:cubicBezTo>
                <a:cubicBezTo>
                  <a:pt x="223885" y="1000125"/>
                  <a:pt x="0" y="776240"/>
                  <a:pt x="0" y="500063"/>
                </a:cubicBezTo>
                <a:cubicBezTo>
                  <a:pt x="0" y="223886"/>
                  <a:pt x="223885" y="0"/>
                  <a:pt x="500063" y="0"/>
                </a:cubicBezTo>
                <a:cubicBezTo>
                  <a:pt x="776240" y="0"/>
                  <a:pt x="1000125" y="223886"/>
                  <a:pt x="1000125" y="500063"/>
                </a:cubicBezTo>
                <a:close/>
                <a:moveTo>
                  <a:pt x="100013" y="500063"/>
                </a:moveTo>
                <a:cubicBezTo>
                  <a:pt x="100013" y="721004"/>
                  <a:pt x="279120" y="900113"/>
                  <a:pt x="500063" y="900113"/>
                </a:cubicBezTo>
                <a:cubicBezTo>
                  <a:pt x="721005" y="900113"/>
                  <a:pt x="900113" y="721004"/>
                  <a:pt x="900113" y="500063"/>
                </a:cubicBezTo>
                <a:cubicBezTo>
                  <a:pt x="900113" y="279121"/>
                  <a:pt x="721005" y="100013"/>
                  <a:pt x="500063" y="100013"/>
                </a:cubicBezTo>
                <a:cubicBezTo>
                  <a:pt x="279120" y="100013"/>
                  <a:pt x="100013" y="279121"/>
                  <a:pt x="100013" y="500063"/>
                </a:cubicBezTo>
                <a:close/>
              </a:path>
            </a:pathLst>
          </a:custGeom>
          <a:solidFill>
            <a:srgbClr val="B740C5"/>
          </a:solidFill>
          <a:ln w="9525" cap="flat">
            <a:noFill/>
            <a:prstDash val="solid"/>
            <a:miter/>
          </a:ln>
        </p:spPr>
        <p:txBody>
          <a:bodyPr/>
          <a:lstStyle/>
          <a:p>
            <a:endParaRPr lang="en-US"/>
          </a:p>
        </p:txBody>
      </p:sp>
      <p:sp>
        <p:nvSpPr>
          <p:cNvPr id="44" name="Freeform: Shape 43">
            <a:extLst>
              <a:ext uri="{FF2B5EF4-FFF2-40B4-BE49-F238E27FC236}">
                <a16:creationId xmlns:a16="http://schemas.microsoft.com/office/drawing/2014/main" id="{DD174CB9-6394-8A39-EE7D-8964266AC02B}"/>
              </a:ext>
            </a:extLst>
          </p:cNvPr>
          <p:cNvSpPr/>
          <p:nvPr/>
        </p:nvSpPr>
        <p:spPr>
          <a:xfrm>
            <a:off x="1614487" y="5463237"/>
            <a:ext cx="152400" cy="2112188"/>
          </a:xfrm>
          <a:custGeom>
            <a:avLst/>
            <a:gdLst>
              <a:gd name="csX0" fmla="*/ 0 w 152400"/>
              <a:gd name="csY0" fmla="*/ 0 h 1752600"/>
              <a:gd name="csX1" fmla="*/ 95707 w 152400"/>
              <a:gd name="csY1" fmla="*/ 0 h 1752600"/>
              <a:gd name="csX2" fmla="*/ 95707 w 152400"/>
              <a:gd name="csY2" fmla="*/ 876300 h 1752600"/>
              <a:gd name="csX3" fmla="*/ 0 w 152400"/>
              <a:gd name="csY3" fmla="*/ 1752600 h 1752600"/>
              <a:gd name="csX4" fmla="*/ 95707 w 152400"/>
              <a:gd name="csY4" fmla="*/ 1752600 h 1752600"/>
              <a:gd name="csX5" fmla="*/ 95707 w 152400"/>
              <a:gd name="csY5" fmla="*/ 876300 h 1752600"/>
              <a:gd name="csX6" fmla="*/ 95707 w 152400"/>
              <a:gd name="csY6" fmla="*/ 876300 h 1752600"/>
              <a:gd name="csX7" fmla="*/ 152400 w 152400"/>
              <a:gd name="csY7" fmla="*/ 876300 h 175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2400" h="1752600">
                <a:moveTo>
                  <a:pt x="0" y="0"/>
                </a:moveTo>
                <a:lnTo>
                  <a:pt x="95707" y="0"/>
                </a:lnTo>
                <a:lnTo>
                  <a:pt x="95707" y="876300"/>
                </a:lnTo>
                <a:moveTo>
                  <a:pt x="0" y="1752600"/>
                </a:moveTo>
                <a:lnTo>
                  <a:pt x="95707" y="1752600"/>
                </a:lnTo>
                <a:lnTo>
                  <a:pt x="95707" y="876300"/>
                </a:lnTo>
                <a:moveTo>
                  <a:pt x="95707" y="876300"/>
                </a:moveTo>
                <a:lnTo>
                  <a:pt x="152400" y="876300"/>
                </a:lnTo>
              </a:path>
            </a:pathLst>
          </a:custGeom>
          <a:noFill/>
          <a:ln w="4763" cap="flat">
            <a:solidFill>
              <a:srgbClr val="8A226F"/>
            </a:solidFill>
            <a:prstDash val="solid"/>
            <a:miter/>
          </a:ln>
        </p:spPr>
        <p:txBody>
          <a:bodyPr/>
          <a:lstStyle/>
          <a:p>
            <a:endParaRPr lang="en-US"/>
          </a:p>
        </p:txBody>
      </p:sp>
      <p:sp>
        <p:nvSpPr>
          <p:cNvPr id="45" name="Freeform: Shape 44">
            <a:extLst>
              <a:ext uri="{FF2B5EF4-FFF2-40B4-BE49-F238E27FC236}">
                <a16:creationId xmlns:a16="http://schemas.microsoft.com/office/drawing/2014/main" id="{09EFBCD4-7E6D-79F0-DB72-4EE1482DF021}"/>
              </a:ext>
            </a:extLst>
          </p:cNvPr>
          <p:cNvSpPr/>
          <p:nvPr/>
        </p:nvSpPr>
        <p:spPr>
          <a:xfrm>
            <a:off x="3890962" y="5463237"/>
            <a:ext cx="152400" cy="2112188"/>
          </a:xfrm>
          <a:custGeom>
            <a:avLst/>
            <a:gdLst>
              <a:gd name="csX0" fmla="*/ 152400 w 152400"/>
              <a:gd name="csY0" fmla="*/ 0 h 1752600"/>
              <a:gd name="csX1" fmla="*/ 56693 w 152400"/>
              <a:gd name="csY1" fmla="*/ 0 h 1752600"/>
              <a:gd name="csX2" fmla="*/ 56693 w 152400"/>
              <a:gd name="csY2" fmla="*/ 876300 h 1752600"/>
              <a:gd name="csX3" fmla="*/ 152400 w 152400"/>
              <a:gd name="csY3" fmla="*/ 1752600 h 1752600"/>
              <a:gd name="csX4" fmla="*/ 56693 w 152400"/>
              <a:gd name="csY4" fmla="*/ 1752600 h 1752600"/>
              <a:gd name="csX5" fmla="*/ 56693 w 152400"/>
              <a:gd name="csY5" fmla="*/ 876300 h 1752600"/>
              <a:gd name="csX6" fmla="*/ 56693 w 152400"/>
              <a:gd name="csY6" fmla="*/ 876300 h 1752600"/>
              <a:gd name="csX7" fmla="*/ 0 w 152400"/>
              <a:gd name="csY7" fmla="*/ 876300 h 175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2400" h="1752600">
                <a:moveTo>
                  <a:pt x="152400" y="0"/>
                </a:moveTo>
                <a:lnTo>
                  <a:pt x="56693" y="0"/>
                </a:lnTo>
                <a:lnTo>
                  <a:pt x="56693" y="876300"/>
                </a:lnTo>
                <a:moveTo>
                  <a:pt x="152400" y="1752600"/>
                </a:moveTo>
                <a:lnTo>
                  <a:pt x="56693" y="1752600"/>
                </a:lnTo>
                <a:lnTo>
                  <a:pt x="56693" y="876300"/>
                </a:lnTo>
                <a:moveTo>
                  <a:pt x="56693" y="876300"/>
                </a:moveTo>
                <a:lnTo>
                  <a:pt x="0" y="876300"/>
                </a:lnTo>
              </a:path>
            </a:pathLst>
          </a:custGeom>
          <a:noFill/>
          <a:ln w="4763" cap="flat">
            <a:solidFill>
              <a:srgbClr val="B740C5"/>
            </a:solidFill>
            <a:prstDash val="solid"/>
            <a:miter/>
          </a:ln>
        </p:spPr>
        <p:txBody>
          <a:bodyPr/>
          <a:lstStyle/>
          <a:p>
            <a:endParaRPr lang="en-US"/>
          </a:p>
        </p:txBody>
      </p:sp>
      <p:sp>
        <p:nvSpPr>
          <p:cNvPr id="23" name="Per user per month">
            <a:extLst>
              <a:ext uri="{FF2B5EF4-FFF2-40B4-BE49-F238E27FC236}">
                <a16:creationId xmlns:a16="http://schemas.microsoft.com/office/drawing/2014/main" id="{01EA9554-C5E5-7756-71C9-E613137EBA38}"/>
              </a:ext>
            </a:extLst>
          </p:cNvPr>
          <p:cNvSpPr/>
          <p:nvPr/>
        </p:nvSpPr>
        <p:spPr>
          <a:xfrm>
            <a:off x="2400300" y="5803622"/>
            <a:ext cx="866775" cy="114300"/>
          </a:xfrm>
          <a:prstGeom prst="rect">
            <a:avLst/>
          </a:prstGeom>
          <a:noFill/>
          <a:ln/>
        </p:spPr>
        <p:txBody>
          <a:bodyPr wrap="square" lIns="0" tIns="0" rIns="0" bIns="0" rtlCol="0" anchor="t"/>
          <a:lstStyle/>
          <a:p>
            <a:pPr marL="0" indent="0" algn="ctr">
              <a:lnSpc>
                <a:spcPct val="100000"/>
              </a:lnSpc>
              <a:spcAft>
                <a:spcPts val="1636"/>
              </a:spcAft>
              <a:buNone/>
            </a:pPr>
            <a:r>
              <a:rPr lang="en-US" sz="750" dirty="0">
                <a:solidFill>
                  <a:srgbClr val="000000"/>
                </a:solidFill>
                <a:latin typeface="Segoe UI" panose="020B0502040204020203" pitchFamily="34" charset="0"/>
                <a:ea typeface="Helvetica Neue Regular" pitchFamily="34" charset="-122"/>
                <a:cs typeface="Segoe UI" panose="020B0502040204020203" pitchFamily="34" charset="0"/>
              </a:rPr>
              <a:t>Per user, per month</a:t>
            </a:r>
            <a:endParaRPr lang="en-US" sz="750" dirty="0">
              <a:latin typeface="Segoe UI" panose="020B0502040204020203" pitchFamily="34" charset="0"/>
              <a:cs typeface="Segoe UI" panose="020B0502040204020203" pitchFamily="34" charset="0"/>
            </a:endParaRPr>
          </a:p>
        </p:txBody>
      </p:sp>
      <p:sp>
        <p:nvSpPr>
          <p:cNvPr id="24" name="Microsoft Defender">
            <a:extLst>
              <a:ext uri="{FF2B5EF4-FFF2-40B4-BE49-F238E27FC236}">
                <a16:creationId xmlns:a16="http://schemas.microsoft.com/office/drawing/2014/main" id="{7036F6C9-AD78-6A78-25B5-827609EB8288}"/>
              </a:ext>
            </a:extLst>
          </p:cNvPr>
          <p:cNvSpPr/>
          <p:nvPr/>
        </p:nvSpPr>
        <p:spPr>
          <a:xfrm>
            <a:off x="447675" y="5579919"/>
            <a:ext cx="1019175" cy="123825"/>
          </a:xfrm>
          <a:prstGeom prst="rect">
            <a:avLst/>
          </a:prstGeom>
          <a:noFill/>
          <a:ln/>
        </p:spPr>
        <p:txBody>
          <a:bodyPr wrap="square" lIns="0" tIns="0" rIns="0" bIns="0" rtlCol="0" anchor="t"/>
          <a:lstStyle/>
          <a:p>
            <a:pPr marL="0" indent="0" algn="l">
              <a:lnSpc>
                <a:spcPct val="108333"/>
              </a:lnSpc>
              <a:spcAft>
                <a:spcPts val="600"/>
              </a:spcAft>
              <a:buNone/>
            </a:pPr>
            <a:r>
              <a:rPr lang="en-US" sz="750" b="1" dirty="0">
                <a:solidFill>
                  <a:srgbClr val="8A226F"/>
                </a:solidFill>
                <a:latin typeface="Segoe UI" panose="020B0502040204020203" pitchFamily="34" charset="0"/>
                <a:ea typeface="Helvetica Neue Bold" pitchFamily="34" charset="-122"/>
                <a:cs typeface="Segoe UI" panose="020B0502040204020203" pitchFamily="34" charset="0"/>
              </a:rPr>
              <a:t>Microsoft Purview</a:t>
            </a:r>
            <a:endParaRPr lang="en-US" sz="750" dirty="0">
              <a:latin typeface="Segoe UI" panose="020B0502040204020203" pitchFamily="34" charset="0"/>
              <a:cs typeface="Segoe UI" panose="020B0502040204020203" pitchFamily="34" charset="0"/>
            </a:endParaRPr>
          </a:p>
        </p:txBody>
      </p:sp>
      <p:sp>
        <p:nvSpPr>
          <p:cNvPr id="31" name="name_65">
            <a:extLst>
              <a:ext uri="{FF2B5EF4-FFF2-40B4-BE49-F238E27FC236}">
                <a16:creationId xmlns:a16="http://schemas.microsoft.com/office/drawing/2014/main" id="{AB8C1F06-70F9-F609-579C-898E61DD7171}"/>
              </a:ext>
            </a:extLst>
          </p:cNvPr>
          <p:cNvSpPr/>
          <p:nvPr/>
        </p:nvSpPr>
        <p:spPr>
          <a:xfrm>
            <a:off x="4186238" y="5808886"/>
            <a:ext cx="942975" cy="369332"/>
          </a:xfrm>
          <a:prstGeom prst="rect">
            <a:avLst/>
          </a:prstGeom>
          <a:noFill/>
          <a:ln/>
        </p:spPr>
        <p:txBody>
          <a:bodyPr wrap="square" lIns="0" tIns="0" rIns="0" bIns="0" rtlCol="0" anchor="t">
            <a:spAutoFit/>
          </a:bodyPr>
          <a:lstStyle/>
          <a:p>
            <a:pPr marL="0" indent="0">
              <a:lnSpc>
                <a:spcPct val="100000"/>
              </a:lnSpc>
              <a:buNone/>
            </a:pPr>
            <a:r>
              <a:rPr lang="en-US" sz="800" b="1" dirty="0">
                <a:solidFill>
                  <a:srgbClr val="B740C5"/>
                </a:solidFill>
                <a:latin typeface="Segoe UI" panose="020B0502040204020203" pitchFamily="34" charset="0"/>
                <a:ea typeface="Helvetica Neue Bold" pitchFamily="34" charset="-122"/>
                <a:cs typeface="Segoe UI" panose="020B0502040204020203" pitchFamily="34" charset="0"/>
              </a:rPr>
              <a:t>Microsoft Purview Suite for Business Premium​</a:t>
            </a:r>
            <a:endParaRPr lang="en-US" sz="800" dirty="0">
              <a:latin typeface="Segoe UI" panose="020B0502040204020203" pitchFamily="34" charset="0"/>
              <a:cs typeface="Segoe UI" panose="020B0502040204020203" pitchFamily="34" charset="0"/>
            </a:endParaRPr>
          </a:p>
        </p:txBody>
      </p:sp>
      <p:sp>
        <p:nvSpPr>
          <p:cNvPr id="32" name="cost reduction per license with end-to-end security">
            <a:extLst>
              <a:ext uri="{FF2B5EF4-FFF2-40B4-BE49-F238E27FC236}">
                <a16:creationId xmlns:a16="http://schemas.microsoft.com/office/drawing/2014/main" id="{8A5A672D-DA49-6686-E49A-AE64FBDA2151}"/>
              </a:ext>
            </a:extLst>
          </p:cNvPr>
          <p:cNvSpPr/>
          <p:nvPr/>
        </p:nvSpPr>
        <p:spPr>
          <a:xfrm>
            <a:off x="4191002" y="6289889"/>
            <a:ext cx="938212" cy="861774"/>
          </a:xfrm>
          <a:prstGeom prst="rect">
            <a:avLst/>
          </a:prstGeom>
          <a:noFill/>
          <a:ln/>
        </p:spPr>
        <p:txBody>
          <a:bodyPr wrap="square" lIns="0" tIns="0" rIns="0" bIns="0" rtlCol="0" anchor="t">
            <a:spAutoFit/>
          </a:bodyPr>
          <a:lstStyle/>
          <a:p>
            <a:pPr marL="72000" indent="-72000">
              <a:lnSpc>
                <a:spcPct val="100000"/>
              </a:lnSpc>
              <a:buFont typeface="Arial" panose="020B0604020202020204" pitchFamily="34" charset="0"/>
              <a:buChar char="•"/>
            </a:pPr>
            <a:r>
              <a:rPr lang="en-US" sz="700" b="1" dirty="0">
                <a:solidFill>
                  <a:srgbClr val="B740C5"/>
                </a:solidFill>
                <a:latin typeface="Segoe UI" panose="020B0502040204020203" pitchFamily="34" charset="0"/>
                <a:ea typeface="Helvetica Neue Regular" pitchFamily="34" charset="-122"/>
                <a:cs typeface="Segoe UI" panose="020B0502040204020203" pitchFamily="34" charset="0"/>
              </a:rPr>
              <a:t>Save ~47% </a:t>
            </a:r>
            <a:r>
              <a:rPr lang="en-US" sz="700" dirty="0">
                <a:solidFill>
                  <a:srgbClr val="000000"/>
                </a:solidFill>
                <a:latin typeface="Segoe UI" panose="020B0502040204020203" pitchFamily="34" charset="0"/>
                <a:ea typeface="Helvetica Neue Regular" pitchFamily="34" charset="-122"/>
                <a:cs typeface="Segoe UI" panose="020B0502040204020203" pitchFamily="34" charset="0"/>
              </a:rPr>
              <a:t>per license​</a:t>
            </a:r>
          </a:p>
          <a:p>
            <a:pPr marL="72000" indent="-72000">
              <a:lnSpc>
                <a:spcPct val="100000"/>
              </a:lnSpc>
              <a:buFont typeface="Arial" panose="020B0604020202020204" pitchFamily="34" charset="0"/>
              <a:buChar char="•"/>
            </a:pPr>
            <a:r>
              <a:rPr lang="en-US" sz="700" dirty="0">
                <a:solidFill>
                  <a:srgbClr val="000000"/>
                </a:solidFill>
                <a:latin typeface="Segoe UI" panose="020B0502040204020203" pitchFamily="34" charset="0"/>
                <a:ea typeface="Helvetica Neue Regular" pitchFamily="34" charset="-122"/>
                <a:cs typeface="Segoe UI" panose="020B0502040204020203" pitchFamily="34" charset="0"/>
              </a:rPr>
              <a:t>Enable </a:t>
            </a:r>
            <a:r>
              <a:rPr lang="en-US" sz="700" b="1" dirty="0">
                <a:solidFill>
                  <a:srgbClr val="B740C5"/>
                </a:solidFill>
                <a:latin typeface="Segoe UI" panose="020B0502040204020203" pitchFamily="34" charset="0"/>
                <a:ea typeface="Helvetica Neue Regular" pitchFamily="34" charset="-122"/>
                <a:cs typeface="Segoe UI" panose="020B0502040204020203" pitchFamily="34" charset="0"/>
              </a:rPr>
              <a:t>end-to-end</a:t>
            </a:r>
            <a:r>
              <a:rPr lang="en-US" sz="700" dirty="0">
                <a:solidFill>
                  <a:srgbClr val="000000"/>
                </a:solidFill>
                <a:latin typeface="Segoe UI" panose="020B0502040204020203" pitchFamily="34" charset="0"/>
                <a:ea typeface="Helvetica Neue Regular" pitchFamily="34" charset="-122"/>
                <a:cs typeface="Segoe UI" panose="020B0502040204020203" pitchFamily="34" charset="0"/>
              </a:rPr>
              <a:t> data security + compliance​ </a:t>
            </a:r>
          </a:p>
          <a:p>
            <a:pPr marL="72000" indent="-72000">
              <a:lnSpc>
                <a:spcPct val="100000"/>
              </a:lnSpc>
              <a:buFont typeface="Arial" panose="020B0604020202020204" pitchFamily="34" charset="0"/>
              <a:buChar char="•"/>
            </a:pPr>
            <a:r>
              <a:rPr lang="en-US" sz="700" dirty="0">
                <a:solidFill>
                  <a:srgbClr val="000000"/>
                </a:solidFill>
                <a:latin typeface="Segoe UI" panose="020B0502040204020203" pitchFamily="34" charset="0"/>
                <a:ea typeface="Helvetica Neue Regular" pitchFamily="34" charset="-122"/>
                <a:cs typeface="Segoe UI" panose="020B0502040204020203" pitchFamily="34" charset="0"/>
              </a:rPr>
              <a:t>Prepare for </a:t>
            </a:r>
            <a:r>
              <a:rPr lang="en-US" sz="700" b="1" dirty="0">
                <a:solidFill>
                  <a:srgbClr val="B740C5"/>
                </a:solidFill>
                <a:latin typeface="Segoe UI" panose="020B0502040204020203" pitchFamily="34" charset="0"/>
                <a:ea typeface="Helvetica Neue Regular" pitchFamily="34" charset="-122"/>
                <a:cs typeface="Segoe UI" panose="020B0502040204020203" pitchFamily="34" charset="0"/>
              </a:rPr>
              <a:t>GenAI +regulatory requirements</a:t>
            </a:r>
            <a:endParaRPr lang="en-US" sz="700" b="1" dirty="0">
              <a:solidFill>
                <a:srgbClr val="B740C5"/>
              </a:solidFill>
              <a:latin typeface="Segoe UI" panose="020B0502040204020203" pitchFamily="34" charset="0"/>
              <a:cs typeface="Segoe UI" panose="020B0502040204020203" pitchFamily="34" charset="0"/>
            </a:endParaRPr>
          </a:p>
        </p:txBody>
      </p:sp>
      <p:sp>
        <p:nvSpPr>
          <p:cNvPr id="33" name="name_2820">
            <a:extLst>
              <a:ext uri="{FF2B5EF4-FFF2-40B4-BE49-F238E27FC236}">
                <a16:creationId xmlns:a16="http://schemas.microsoft.com/office/drawing/2014/main" id="{C72072DC-E9E8-C296-524C-A0EB1D4E7C28}"/>
              </a:ext>
            </a:extLst>
          </p:cNvPr>
          <p:cNvSpPr/>
          <p:nvPr/>
        </p:nvSpPr>
        <p:spPr>
          <a:xfrm>
            <a:off x="1990724" y="6296488"/>
            <a:ext cx="647700" cy="209550"/>
          </a:xfrm>
          <a:prstGeom prst="rect">
            <a:avLst/>
          </a:prstGeom>
          <a:noFill/>
          <a:ln/>
        </p:spPr>
        <p:txBody>
          <a:bodyPr wrap="square" lIns="0" tIns="0" rIns="0" bIns="0" rtlCol="0" anchor="t"/>
          <a:lstStyle/>
          <a:p>
            <a:pPr marL="0" indent="0" algn="l">
              <a:lnSpc>
                <a:spcPct val="100000"/>
              </a:lnSpc>
              <a:spcAft>
                <a:spcPts val="1636"/>
              </a:spcAft>
              <a:buNone/>
            </a:pPr>
            <a:r>
              <a:rPr lang="en-US" sz="1200" b="1" dirty="0">
                <a:solidFill>
                  <a:srgbClr val="8A226F"/>
                </a:solidFill>
                <a:latin typeface="Segoe UI" panose="020B0502040204020203" pitchFamily="34" charset="0"/>
                <a:ea typeface="Helvetica Neue Bold" pitchFamily="34" charset="-122"/>
                <a:cs typeface="Segoe UI" panose="020B0502040204020203" pitchFamily="34" charset="0"/>
              </a:rPr>
              <a:t>&gt;$19.00</a:t>
            </a:r>
            <a:endParaRPr lang="en-US" sz="1200" dirty="0">
              <a:latin typeface="Segoe UI" panose="020B0502040204020203" pitchFamily="34" charset="0"/>
              <a:cs typeface="Segoe UI" panose="020B0502040204020203" pitchFamily="34" charset="0"/>
            </a:endParaRPr>
          </a:p>
        </p:txBody>
      </p:sp>
      <p:sp>
        <p:nvSpPr>
          <p:cNvPr id="34" name="value of individual licenses">
            <a:extLst>
              <a:ext uri="{FF2B5EF4-FFF2-40B4-BE49-F238E27FC236}">
                <a16:creationId xmlns:a16="http://schemas.microsoft.com/office/drawing/2014/main" id="{09FB7B84-10CF-9AFF-0401-AF4D20178DEB}"/>
              </a:ext>
            </a:extLst>
          </p:cNvPr>
          <p:cNvSpPr/>
          <p:nvPr/>
        </p:nvSpPr>
        <p:spPr>
          <a:xfrm>
            <a:off x="2011605" y="6513103"/>
            <a:ext cx="561975" cy="133350"/>
          </a:xfrm>
          <a:prstGeom prst="rect">
            <a:avLst/>
          </a:prstGeom>
          <a:noFill/>
          <a:ln/>
        </p:spPr>
        <p:txBody>
          <a:bodyPr wrap="square" lIns="0" tIns="0" rIns="0" bIns="0" rtlCol="0" anchor="t"/>
          <a:lstStyle/>
          <a:p>
            <a:pPr marL="0" indent="0" algn="ctr">
              <a:lnSpc>
                <a:spcPct val="100000"/>
              </a:lnSpc>
              <a:spcAft>
                <a:spcPts val="1636"/>
              </a:spcAft>
              <a:buNone/>
            </a:pPr>
            <a:r>
              <a:rPr lang="en-US" sz="600" dirty="0">
                <a:solidFill>
                  <a:srgbClr val="8A226F"/>
                </a:solidFill>
                <a:latin typeface="Segoe UI" panose="020B0502040204020203" pitchFamily="34" charset="0"/>
                <a:ea typeface="Helvetica Neue Medium" pitchFamily="34" charset="-122"/>
                <a:cs typeface="Segoe UI" panose="020B0502040204020203" pitchFamily="34" charset="0"/>
              </a:rPr>
              <a:t>value of individual licenses</a:t>
            </a:r>
            <a:endParaRPr lang="en-US" sz="600" dirty="0">
              <a:latin typeface="Segoe UI" panose="020B0502040204020203" pitchFamily="34" charset="0"/>
              <a:cs typeface="Segoe UI" panose="020B0502040204020203" pitchFamily="34" charset="0"/>
            </a:endParaRPr>
          </a:p>
        </p:txBody>
      </p:sp>
      <p:sp>
        <p:nvSpPr>
          <p:cNvPr id="35" name="name_10">
            <a:extLst>
              <a:ext uri="{FF2B5EF4-FFF2-40B4-BE49-F238E27FC236}">
                <a16:creationId xmlns:a16="http://schemas.microsoft.com/office/drawing/2014/main" id="{4E102205-6D44-9352-F997-29222587BD14}"/>
              </a:ext>
            </a:extLst>
          </p:cNvPr>
          <p:cNvSpPr/>
          <p:nvPr/>
        </p:nvSpPr>
        <p:spPr>
          <a:xfrm>
            <a:off x="3066732" y="6296488"/>
            <a:ext cx="571500" cy="209550"/>
          </a:xfrm>
          <a:prstGeom prst="rect">
            <a:avLst/>
          </a:prstGeom>
          <a:noFill/>
          <a:ln/>
        </p:spPr>
        <p:txBody>
          <a:bodyPr wrap="square" lIns="0" tIns="0" rIns="0" bIns="0" rtlCol="0" anchor="t"/>
          <a:lstStyle/>
          <a:p>
            <a:pPr marL="0" indent="0" algn="ctr">
              <a:lnSpc>
                <a:spcPct val="100000"/>
              </a:lnSpc>
              <a:spcAft>
                <a:spcPts val="1636"/>
              </a:spcAft>
              <a:buNone/>
            </a:pPr>
            <a:r>
              <a:rPr lang="en-US" sz="1200" b="1" dirty="0">
                <a:solidFill>
                  <a:srgbClr val="B740C5"/>
                </a:solidFill>
                <a:latin typeface="Segoe UI" panose="020B0502040204020203" pitchFamily="34" charset="0"/>
                <a:ea typeface="Helvetica Neue Bold" pitchFamily="34" charset="-122"/>
                <a:cs typeface="Segoe UI" panose="020B0502040204020203" pitchFamily="34" charset="0"/>
              </a:rPr>
              <a:t>$10</a:t>
            </a:r>
            <a:endParaRPr lang="en-US" sz="1200" dirty="0">
              <a:latin typeface="Segoe UI" panose="020B0502040204020203" pitchFamily="34" charset="0"/>
              <a:cs typeface="Segoe UI" panose="020B0502040204020203" pitchFamily="34" charset="0"/>
            </a:endParaRPr>
          </a:p>
        </p:txBody>
      </p:sp>
      <p:sp>
        <p:nvSpPr>
          <p:cNvPr id="36" name="Microsoft Defender Suite for Business Premium">
            <a:extLst>
              <a:ext uri="{FF2B5EF4-FFF2-40B4-BE49-F238E27FC236}">
                <a16:creationId xmlns:a16="http://schemas.microsoft.com/office/drawing/2014/main" id="{89284E6E-0E65-B14F-539B-2AFF3B1BF6F9}"/>
              </a:ext>
            </a:extLst>
          </p:cNvPr>
          <p:cNvSpPr/>
          <p:nvPr/>
        </p:nvSpPr>
        <p:spPr>
          <a:xfrm>
            <a:off x="3056791" y="6513103"/>
            <a:ext cx="609699" cy="200025"/>
          </a:xfrm>
          <a:prstGeom prst="rect">
            <a:avLst/>
          </a:prstGeom>
          <a:noFill/>
          <a:ln/>
        </p:spPr>
        <p:txBody>
          <a:bodyPr wrap="square" lIns="0" tIns="0" rIns="0" bIns="0" rtlCol="0" anchor="t"/>
          <a:lstStyle/>
          <a:p>
            <a:pPr marL="0" indent="0" algn="ctr">
              <a:lnSpc>
                <a:spcPct val="100000"/>
              </a:lnSpc>
              <a:spcAft>
                <a:spcPts val="1636"/>
              </a:spcAft>
              <a:buNone/>
            </a:pPr>
            <a:r>
              <a:rPr lang="en-US" sz="600" dirty="0">
                <a:solidFill>
                  <a:srgbClr val="B740C5"/>
                </a:solidFill>
                <a:latin typeface="Segoe UI" panose="020B0502040204020203" pitchFamily="34" charset="0"/>
                <a:ea typeface="Helvetica Neue Medium" pitchFamily="34" charset="-122"/>
                <a:cs typeface="Segoe UI" panose="020B0502040204020203" pitchFamily="34" charset="0"/>
              </a:rPr>
              <a:t>Microsoft Purview Suite for Business Premium</a:t>
            </a:r>
            <a:endParaRPr lang="en-US" sz="600" dirty="0">
              <a:latin typeface="Segoe UI" panose="020B0502040204020203" pitchFamily="34" charset="0"/>
              <a:cs typeface="Segoe UI" panose="020B0502040204020203" pitchFamily="34" charset="0"/>
            </a:endParaRPr>
          </a:p>
        </p:txBody>
      </p:sp>
      <p:sp>
        <p:nvSpPr>
          <p:cNvPr id="37" name="Microsoft Defender">
            <a:extLst>
              <a:ext uri="{FF2B5EF4-FFF2-40B4-BE49-F238E27FC236}">
                <a16:creationId xmlns:a16="http://schemas.microsoft.com/office/drawing/2014/main" id="{FD743654-F125-0452-28F1-AF40C81D6133}"/>
              </a:ext>
            </a:extLst>
          </p:cNvPr>
          <p:cNvSpPr/>
          <p:nvPr/>
        </p:nvSpPr>
        <p:spPr>
          <a:xfrm>
            <a:off x="447675" y="5705332"/>
            <a:ext cx="1019175" cy="57150"/>
          </a:xfrm>
          <a:prstGeom prst="rect">
            <a:avLst/>
          </a:prstGeom>
          <a:noFill/>
          <a:ln/>
        </p:spPr>
        <p:txBody>
          <a:bodyPr wrap="square" lIns="0" tIns="0" rIns="0" bIns="0" rtlCol="0" anchor="t"/>
          <a:lstStyle/>
          <a:p>
            <a:pPr marL="0" indent="0" algn="l">
              <a:lnSpc>
                <a:spcPct val="108333"/>
              </a:lnSpc>
              <a:spcAft>
                <a:spcPts val="600"/>
              </a:spcAft>
              <a:buNone/>
            </a:pPr>
            <a:r>
              <a:rPr lang="en-US" sz="700" b="1" dirty="0">
                <a:latin typeface="Segoe UI" panose="020B0502040204020203" pitchFamily="34" charset="0"/>
                <a:ea typeface="Helvetica Neue Bold" pitchFamily="34" charset="-122"/>
                <a:cs typeface="Segoe UI" panose="020B0502040204020203" pitchFamily="34" charset="0"/>
              </a:rPr>
              <a:t>Standalone bundles​</a:t>
            </a:r>
            <a:endParaRPr lang="en-US" sz="700" dirty="0">
              <a:latin typeface="Segoe UI" panose="020B0502040204020203" pitchFamily="34" charset="0"/>
              <a:cs typeface="Segoe UI" panose="020B0502040204020203" pitchFamily="34" charset="0"/>
            </a:endParaRPr>
          </a:p>
        </p:txBody>
      </p:sp>
      <p:graphicFrame>
        <p:nvGraphicFramePr>
          <p:cNvPr id="46" name="Table 45">
            <a:extLst>
              <a:ext uri="{FF2B5EF4-FFF2-40B4-BE49-F238E27FC236}">
                <a16:creationId xmlns:a16="http://schemas.microsoft.com/office/drawing/2014/main" id="{908BEFE7-2504-E504-AF81-E29A85EA8AE4}"/>
              </a:ext>
            </a:extLst>
          </p:cNvPr>
          <p:cNvGraphicFramePr>
            <a:graphicFrameLocks noGrp="1"/>
          </p:cNvGraphicFramePr>
          <p:nvPr>
            <p:extLst>
              <p:ext uri="{D42A27DB-BD31-4B8C-83A1-F6EECF244321}">
                <p14:modId xmlns:p14="http://schemas.microsoft.com/office/powerpoint/2010/main" val="999112758"/>
              </p:ext>
            </p:extLst>
          </p:nvPr>
        </p:nvGraphicFramePr>
        <p:xfrm>
          <a:off x="449510" y="5885031"/>
          <a:ext cx="1093540" cy="1552203"/>
        </p:xfrm>
        <a:graphic>
          <a:graphicData uri="http://schemas.openxmlformats.org/drawingml/2006/table">
            <a:tbl>
              <a:tblPr bandRow="1">
                <a:tableStyleId>{5C22544A-7EE6-4342-B048-85BDC9FD1C3A}</a:tableStyleId>
              </a:tblPr>
              <a:tblGrid>
                <a:gridCol w="788622">
                  <a:extLst>
                    <a:ext uri="{9D8B030D-6E8A-4147-A177-3AD203B41FA5}">
                      <a16:colId xmlns:a16="http://schemas.microsoft.com/office/drawing/2014/main" val="2714156967"/>
                    </a:ext>
                  </a:extLst>
                </a:gridCol>
                <a:gridCol w="304918">
                  <a:extLst>
                    <a:ext uri="{9D8B030D-6E8A-4147-A177-3AD203B41FA5}">
                      <a16:colId xmlns:a16="http://schemas.microsoft.com/office/drawing/2014/main" val="184478669"/>
                    </a:ext>
                  </a:extLst>
                </a:gridCol>
              </a:tblGrid>
              <a:tr h="336044">
                <a:tc>
                  <a:txBody>
                    <a:bodyPr/>
                    <a:lstStyle/>
                    <a:p>
                      <a:r>
                        <a:rPr lang="en-US" sz="700" dirty="0">
                          <a:latin typeface="Segoe UI Semibold" panose="020B0702040204020203" pitchFamily="34" charset="0"/>
                          <a:cs typeface="Segoe UI Semibold" panose="020B0702040204020203" pitchFamily="34" charset="0"/>
                        </a:rPr>
                        <a:t>Information Protection +Governance</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800" dirty="0">
                          <a:latin typeface="Segoe UI" panose="020B0502040204020203" pitchFamily="34" charset="0"/>
                          <a:cs typeface="Segoe UI" panose="020B0502040204020203" pitchFamily="34" charset="0"/>
                        </a:rPr>
                        <a:t>$7</a:t>
                      </a:r>
                      <a:endParaRPr lang="en-US" sz="800" dirty="0">
                        <a:latin typeface="Segoe UI" panose="020B0502040204020203" pitchFamily="34" charset="0"/>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757"/>
                  </a:ext>
                </a:extLst>
              </a:tr>
              <a:tr h="384050">
                <a:tc gridSpan="2">
                  <a:txBody>
                    <a:bodyPr/>
                    <a:lstStyle/>
                    <a:p>
                      <a:r>
                        <a:rPr lang="en-US" sz="600" dirty="0">
                          <a:latin typeface="Segoe UI" panose="020B0502040204020203" pitchFamily="34" charset="0"/>
                          <a:cs typeface="Segoe UI" panose="020B0502040204020203" pitchFamily="34" charset="0"/>
                        </a:rPr>
                        <a:t>Data Loss Prevention Information Protection Data Lifecycle Management …and more​</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600" dirty="0">
                        <a:latin typeface="Segoe UI" panose="020B0502040204020203" pitchFamily="34" charset="0"/>
                        <a:cs typeface="Segoe UI" panose="020B0502040204020203"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1040719"/>
                  </a:ext>
                </a:extLst>
              </a:tr>
              <a:tr h="128017">
                <a:tc>
                  <a:txBody>
                    <a:bodyPr/>
                    <a:lstStyle/>
                    <a:p>
                      <a:pPr marL="0" algn="l" defTabSz="914400" rtl="0" eaLnBrk="1" latinLnBrk="0" hangingPunct="1"/>
                      <a:r>
                        <a:rPr lang="en-US" sz="700" kern="1200" dirty="0">
                          <a:solidFill>
                            <a:schemeClr val="dk1"/>
                          </a:solidFill>
                          <a:latin typeface="Segoe UI Semibold" panose="020B0702040204020203" pitchFamily="34" charset="0"/>
                          <a:ea typeface="+mn-ea"/>
                          <a:cs typeface="Segoe UI Semibold" panose="020B0702040204020203" pitchFamily="34" charset="0"/>
                        </a:rPr>
                        <a:t>Insider Risk Mgmt.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800" dirty="0">
                          <a:latin typeface="Segoe UI" panose="020B0502040204020203" pitchFamily="34" charset="0"/>
                          <a:cs typeface="Segoe UI" panose="020B0502040204020203" pitchFamily="34" charset="0"/>
                        </a:rPr>
                        <a:t>$6</a:t>
                      </a:r>
                      <a:endParaRPr lang="en-US" sz="800" dirty="0">
                        <a:latin typeface="Segoe UI" panose="020B0502040204020203" pitchFamily="34" charset="0"/>
                        <a:cs typeface="Segoe UI" panose="020B0502040204020203"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8415573"/>
                  </a:ext>
                </a:extLst>
              </a:tr>
              <a:tr h="384050">
                <a:tc gridSpan="2">
                  <a:txBody>
                    <a:bodyPr/>
                    <a:lstStyle/>
                    <a:p>
                      <a:pPr marL="0" algn="l" defTabSz="914400" rtl="0" eaLnBrk="1" latinLnBrk="0" hangingPunct="1"/>
                      <a:r>
                        <a:rPr lang="en-US" sz="600" kern="1200" dirty="0">
                          <a:solidFill>
                            <a:schemeClr val="dk1"/>
                          </a:solidFill>
                          <a:latin typeface="Segoe UI" panose="020B0502040204020203" pitchFamily="34" charset="0"/>
                          <a:ea typeface="+mn-ea"/>
                          <a:cs typeface="Segoe UI" panose="020B0502040204020203" pitchFamily="34" charset="0"/>
                        </a:rPr>
                        <a:t>Insider Risk Management</a:t>
                      </a:r>
                    </a:p>
                    <a:p>
                      <a:pPr marL="0" algn="l" defTabSz="914400" rtl="0" eaLnBrk="1" latinLnBrk="0" hangingPunct="1"/>
                      <a:r>
                        <a:rPr lang="en-US" sz="600" kern="1200" dirty="0">
                          <a:solidFill>
                            <a:schemeClr val="dk1"/>
                          </a:solidFill>
                          <a:latin typeface="Segoe UI" panose="020B0502040204020203" pitchFamily="34" charset="0"/>
                          <a:ea typeface="+mn-ea"/>
                          <a:cs typeface="Segoe UI" panose="020B0502040204020203" pitchFamily="34" charset="0"/>
                        </a:rPr>
                        <a:t>Communication Compliance</a:t>
                      </a:r>
                    </a:p>
                    <a:p>
                      <a:pPr marL="0" algn="l" defTabSz="914400" rtl="0" eaLnBrk="1" latinLnBrk="0" hangingPunct="1"/>
                      <a:r>
                        <a:rPr lang="en-US" sz="600" kern="1200" dirty="0">
                          <a:solidFill>
                            <a:schemeClr val="dk1"/>
                          </a:solidFill>
                          <a:latin typeface="Segoe UI" panose="020B0502040204020203" pitchFamily="34" charset="0"/>
                          <a:ea typeface="+mn-ea"/>
                          <a:cs typeface="Segoe UI" panose="020B0502040204020203" pitchFamily="34" charset="0"/>
                        </a:rPr>
                        <a:t>Privileged Access </a:t>
                      </a:r>
                      <a:r>
                        <a:rPr lang="en-US" sz="600" kern="1200" dirty="0" err="1">
                          <a:solidFill>
                            <a:schemeClr val="dk1"/>
                          </a:solidFill>
                          <a:latin typeface="Segoe UI" panose="020B0502040204020203" pitchFamily="34" charset="0"/>
                          <a:ea typeface="+mn-ea"/>
                          <a:cs typeface="Segoe UI" panose="020B0502040204020203" pitchFamily="34" charset="0"/>
                        </a:rPr>
                        <a:t>Mgmt</a:t>
                      </a:r>
                      <a:r>
                        <a:rPr lang="en-US" sz="600" kern="1200" dirty="0">
                          <a:solidFill>
                            <a:schemeClr val="dk1"/>
                          </a:solidFill>
                          <a:latin typeface="Segoe UI" panose="020B0502040204020203" pitchFamily="34" charset="0"/>
                          <a:ea typeface="+mn-ea"/>
                          <a:cs typeface="Segoe UI" panose="020B0502040204020203" pitchFamily="34" charset="0"/>
                        </a:rPr>
                        <a:t> …and more​</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latinLnBrk="0" hangingPunct="1"/>
                      <a:endParaRPr lang="en-US" sz="600" kern="1200" dirty="0">
                        <a:solidFill>
                          <a:schemeClr val="dk1"/>
                        </a:solidFill>
                        <a:latin typeface="Segoe UI" panose="020B0502040204020203" pitchFamily="34" charset="0"/>
                        <a:ea typeface="+mn-ea"/>
                        <a:cs typeface="Segoe UI" panose="020B0502040204020203"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0988118"/>
                  </a:ext>
                </a:extLst>
              </a:tr>
              <a:tr h="128017">
                <a:tc>
                  <a:txBody>
                    <a:bodyPr/>
                    <a:lstStyle/>
                    <a:p>
                      <a:pPr marL="0" algn="l" defTabSz="914400" rtl="0" eaLnBrk="1" latinLnBrk="0" hangingPunct="1"/>
                      <a:r>
                        <a:rPr lang="en-US" sz="700" kern="1200" dirty="0">
                          <a:solidFill>
                            <a:schemeClr val="dk1"/>
                          </a:solidFill>
                          <a:latin typeface="Segoe UI Semibold" panose="020B0702040204020203" pitchFamily="34" charset="0"/>
                          <a:ea typeface="+mn-ea"/>
                          <a:cs typeface="Segoe UI Semibold" panose="020B0702040204020203" pitchFamily="34" charset="0"/>
                        </a:rPr>
                        <a:t>eDiscovery + Audit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800" dirty="0">
                          <a:latin typeface="Segoe UI" panose="020B0502040204020203" pitchFamily="34" charset="0"/>
                          <a:cs typeface="Segoe UI" panose="020B0502040204020203" pitchFamily="34" charset="0"/>
                        </a:rPr>
                        <a:t>$6</a:t>
                      </a:r>
                      <a:endParaRPr lang="en-US" sz="800" dirty="0">
                        <a:latin typeface="Segoe UI" panose="020B0502040204020203" pitchFamily="34" charset="0"/>
                        <a:cs typeface="Segoe UI" panose="020B0502040204020203"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857347"/>
                  </a:ext>
                </a:extLst>
              </a:tr>
              <a:tr h="192025">
                <a:tc gridSpan="2">
                  <a:txBody>
                    <a:bodyPr/>
                    <a:lstStyle/>
                    <a:p>
                      <a:r>
                        <a:rPr lang="en-US" sz="600" dirty="0">
                          <a:latin typeface="Segoe UI" panose="020B0502040204020203" pitchFamily="34" charset="0"/>
                          <a:cs typeface="Segoe UI" panose="020B0502040204020203" pitchFamily="34" charset="0"/>
                        </a:rPr>
                        <a:t>eDiscovery (Premium) Audit (Premium)​​</a:t>
                      </a:r>
                      <a:endParaRPr lang="en-US" sz="800" dirty="0">
                        <a:latin typeface="Segoe UI" panose="020B0502040204020203" pitchFamily="34" charset="0"/>
                        <a:cs typeface="Segoe UI" panose="020B0502040204020203"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800" dirty="0">
                        <a:latin typeface="Segoe UI" panose="020B0502040204020203" pitchFamily="34" charset="0"/>
                        <a:cs typeface="Segoe UI" panose="020B0502040204020203"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230688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 from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Basic </a:t>
            </a: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to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Premium and Purview Suite</a:t>
            </a: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85413281-7B20-BBC3-617A-B45C07FA9674}"/>
              </a:ext>
            </a:extLst>
          </p:cNvPr>
          <p:cNvGraphicFramePr>
            <a:graphicFrameLocks noGrp="1"/>
          </p:cNvGraphicFramePr>
          <p:nvPr>
            <p:extLst>
              <p:ext uri="{D42A27DB-BD31-4B8C-83A1-F6EECF244321}">
                <p14:modId xmlns:p14="http://schemas.microsoft.com/office/powerpoint/2010/main" val="3494326582"/>
              </p:ext>
            </p:extLst>
          </p:nvPr>
        </p:nvGraphicFramePr>
        <p:xfrm>
          <a:off x="409575" y="1435534"/>
          <a:ext cx="4848226" cy="500003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573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5142698"/>
                  </a:ext>
                </a:extLst>
              </a:tr>
              <a:tr h="632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5844630"/>
                  </a:ext>
                </a:extLst>
              </a:tr>
              <a:tr h="6470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3951144"/>
                  </a:ext>
                </a:extLst>
              </a:tr>
              <a:tr h="5672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5343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548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064146"/>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746</Words>
  <Application>Microsoft Office PowerPoint</Application>
  <PresentationFormat>Custom</PresentationFormat>
  <Paragraphs>77</Paragraphs>
  <Slides>4</Slides>
  <Notes>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vt:i4>
      </vt:variant>
    </vt:vector>
  </HeadingPairs>
  <TitlesOfParts>
    <vt:vector size="16" baseType="lpstr">
      <vt:lpstr>Aptos</vt:lpstr>
      <vt:lpstr>Arial</vt:lpstr>
      <vt:lpstr>Calibri</vt:lpstr>
      <vt:lpstr>Segoe Sans Display</vt:lpstr>
      <vt:lpstr>Segoe Sans Display Semibold</vt:lpstr>
      <vt:lpstr>Segoe Sans Display Semilight</vt:lpstr>
      <vt:lpstr>Segoe UI</vt:lpstr>
      <vt:lpstr>Segoe UI Regular</vt:lpstr>
      <vt:lpstr>Segoe UI Semibold</vt:lpstr>
      <vt:lpstr>Wingdings</vt:lpstr>
      <vt:lpstr>Office Theme</vt:lpstr>
      <vt:lpstr>3_CSP Template Diamond 06/23</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11</cp:revision>
  <dcterms:created xsi:type="dcterms:W3CDTF">2026-02-21T17:45:29Z</dcterms:created>
  <dcterms:modified xsi:type="dcterms:W3CDTF">2026-03-02T08:59:16Z</dcterms:modified>
</cp:coreProperties>
</file>