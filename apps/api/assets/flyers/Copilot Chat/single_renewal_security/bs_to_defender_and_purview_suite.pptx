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10"/>
  </p:notesMasterIdLst>
  <p:sldIdLst>
    <p:sldId id="2147470016" r:id="rId5"/>
    <p:sldId id="2147470008" r:id="rId6"/>
    <p:sldId id="2147470021" r:id="rId7"/>
    <p:sldId id="2147470014" r:id="rId8"/>
    <p:sldId id="2147470015" r:id="rId9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331AF-5B81-4F6A-B0BA-2E965A6F53B2}" v="2" dt="2026-03-02T09:01:12.585"/>
    <p1510:client id="{F508A511-155B-E1AC-A29C-66EC3558A464}" v="8" dt="2026-03-02T08:37:32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284" y="60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h" userId="S::shreya.singh@hsv.digital::b354311e-5542-4a3b-80c7-af4347e0a1ac" providerId="AD" clId="Web-{F508A511-155B-E1AC-A29C-66EC3558A464}"/>
    <pc:docChg chg="modSld">
      <pc:chgData name="Shreya Singh" userId="S::shreya.singh@hsv.digital::b354311e-5542-4a3b-80c7-af4347e0a1ac" providerId="AD" clId="Web-{F508A511-155B-E1AC-A29C-66EC3558A464}" dt="2026-03-02T08:37:32.684" v="7" actId="1076"/>
      <pc:docMkLst>
        <pc:docMk/>
      </pc:docMkLst>
      <pc:sldChg chg="modSp">
        <pc:chgData name="Shreya Singh" userId="S::shreya.singh@hsv.digital::b354311e-5542-4a3b-80c7-af4347e0a1ac" providerId="AD" clId="Web-{F508A511-155B-E1AC-A29C-66EC3558A464}" dt="2026-03-02T08:37:32.684" v="7" actId="1076"/>
        <pc:sldMkLst>
          <pc:docMk/>
          <pc:sldMk cId="1630386862" sldId="2147470008"/>
        </pc:sldMkLst>
        <pc:spChg chg="mod">
          <ac:chgData name="Shreya Singh" userId="S::shreya.singh@hsv.digital::b354311e-5542-4a3b-80c7-af4347e0a1ac" providerId="AD" clId="Web-{F508A511-155B-E1AC-A29C-66EC3558A464}" dt="2026-03-02T08:37:32.684" v="7" actId="1076"/>
          <ac:spMkLst>
            <pc:docMk/>
            <pc:sldMk cId="1630386862" sldId="2147470008"/>
            <ac:spMk id="5" creationId="{40A7A011-A5B1-B465-6A3F-B4941EFA893C}"/>
          </ac:spMkLst>
        </pc:spChg>
        <pc:spChg chg="mod">
          <ac:chgData name="Shreya Singh" userId="S::shreya.singh@hsv.digital::b354311e-5542-4a3b-80c7-af4347e0a1ac" providerId="AD" clId="Web-{F508A511-155B-E1AC-A29C-66EC3558A464}" dt="2026-03-02T08:37:32.621" v="5" actId="1076"/>
          <ac:spMkLst>
            <pc:docMk/>
            <pc:sldMk cId="1630386862" sldId="2147470008"/>
            <ac:spMk id="89" creationId="{2D7F975A-EFFC-ED2A-C751-F90289DD4D12}"/>
          </ac:spMkLst>
        </pc:spChg>
        <pc:grpChg chg="mod">
          <ac:chgData name="Shreya Singh" userId="S::shreya.singh@hsv.digital::b354311e-5542-4a3b-80c7-af4347e0a1ac" providerId="AD" clId="Web-{F508A511-155B-E1AC-A29C-66EC3558A464}" dt="2026-03-02T08:37:32.668" v="6" actId="1076"/>
          <ac:grpSpMkLst>
            <pc:docMk/>
            <pc:sldMk cId="1630386862" sldId="2147470008"/>
            <ac:grpSpMk id="24" creationId="{B5803776-5E8B-2132-6273-96CF7F5813DA}"/>
          </ac:grpSpMkLst>
        </pc:grpChg>
      </pc:sldChg>
    </pc:docChg>
  </pc:docChgLst>
  <pc:docChgLst>
    <pc:chgData name="Praveen Dehury" userId="77009b3f-ee31-425d-b17c-2f6ea73f5149" providerId="ADAL" clId="{B729CC40-C5D3-4DFA-B500-D02C8BD993D7}"/>
    <pc:docChg chg="addSld delSld modSld">
      <pc:chgData name="Praveen Dehury" userId="77009b3f-ee31-425d-b17c-2f6ea73f5149" providerId="ADAL" clId="{B729CC40-C5D3-4DFA-B500-D02C8BD993D7}" dt="2026-02-28T11:50:53.852" v="6"/>
      <pc:docMkLst>
        <pc:docMk/>
      </pc:docMkLst>
      <pc:sldChg chg="modSp add mod">
        <pc:chgData name="Praveen Dehury" userId="77009b3f-ee31-425d-b17c-2f6ea73f5149" providerId="ADAL" clId="{B729CC40-C5D3-4DFA-B500-D02C8BD993D7}" dt="2026-02-28T11:50:53.852" v="6"/>
        <pc:sldMkLst>
          <pc:docMk/>
          <pc:sldMk cId="2830339352" sldId="2147470014"/>
        </pc:sldMkLst>
        <pc:spChg chg="mod">
          <ac:chgData name="Praveen Dehury" userId="77009b3f-ee31-425d-b17c-2f6ea73f5149" providerId="ADAL" clId="{B729CC40-C5D3-4DFA-B500-D02C8BD993D7}" dt="2026-02-28T11:50:53.852" v="6"/>
          <ac:spMkLst>
            <pc:docMk/>
            <pc:sldMk cId="2830339352" sldId="2147470014"/>
            <ac:spMk id="3" creationId="{79B3C482-B6EF-F65E-08E2-9E465EDEC652}"/>
          </ac:spMkLst>
        </pc:spChg>
        <pc:spChg chg="mod">
          <ac:chgData name="Praveen Dehury" userId="77009b3f-ee31-425d-b17c-2f6ea73f5149" providerId="ADAL" clId="{B729CC40-C5D3-4DFA-B500-D02C8BD993D7}" dt="2026-02-28T10:32:00.579" v="3" actId="207"/>
          <ac:spMkLst>
            <pc:docMk/>
            <pc:sldMk cId="2830339352" sldId="2147470014"/>
            <ac:spMk id="9" creationId="{FBD0EA6D-9670-1F46-2E2E-01AE80EFC1A8}"/>
          </ac:spMkLst>
        </pc:spChg>
      </pc:sldChg>
      <pc:sldChg chg="add">
        <pc:chgData name="Praveen Dehury" userId="77009b3f-ee31-425d-b17c-2f6ea73f5149" providerId="ADAL" clId="{B729CC40-C5D3-4DFA-B500-D02C8BD993D7}" dt="2026-02-28T10:31:43.263" v="0"/>
        <pc:sldMkLst>
          <pc:docMk/>
          <pc:sldMk cId="243175164" sldId="2147470015"/>
        </pc:sldMkLst>
      </pc:sldChg>
    </pc:docChg>
  </pc:docChgLst>
  <pc:docChgLst>
    <pc:chgData name="Vandan Jain" userId="4244b45b-25d1-413d-855b-6597e767c081" providerId="ADAL" clId="{67AB2A15-26B8-47FB-BEC6-EFDC03C3B3B6}"/>
    <pc:docChg chg="undo custSel addSld delSld modSld">
      <pc:chgData name="Vandan Jain" userId="4244b45b-25d1-413d-855b-6597e767c081" providerId="ADAL" clId="{67AB2A15-26B8-47FB-BEC6-EFDC03C3B3B6}" dt="2026-03-02T09:01:41.459" v="97" actId="14100"/>
      <pc:docMkLst>
        <pc:docMk/>
      </pc:docMkLst>
      <pc:sldChg chg="del">
        <pc:chgData name="Vandan Jain" userId="4244b45b-25d1-413d-855b-6597e767c081" providerId="ADAL" clId="{67AB2A15-26B8-47FB-BEC6-EFDC03C3B3B6}" dt="2026-03-02T08:27:29.196" v="0" actId="47"/>
        <pc:sldMkLst>
          <pc:docMk/>
          <pc:sldMk cId="0" sldId="256"/>
        </pc:sldMkLst>
      </pc:sldChg>
      <pc:sldChg chg="del">
        <pc:chgData name="Vandan Jain" userId="4244b45b-25d1-413d-855b-6597e767c081" providerId="ADAL" clId="{67AB2A15-26B8-47FB-BEC6-EFDC03C3B3B6}" dt="2026-03-02T08:27:29.196" v="0" actId="47"/>
        <pc:sldMkLst>
          <pc:docMk/>
          <pc:sldMk cId="0" sldId="260"/>
        </pc:sldMkLst>
      </pc:sldChg>
      <pc:sldChg chg="modSp add mod">
        <pc:chgData name="Vandan Jain" userId="4244b45b-25d1-413d-855b-6597e767c081" providerId="ADAL" clId="{67AB2A15-26B8-47FB-BEC6-EFDC03C3B3B6}" dt="2026-03-02T09:01:41.459" v="97" actId="14100"/>
        <pc:sldMkLst>
          <pc:docMk/>
          <pc:sldMk cId="1630386862" sldId="2147470008"/>
        </pc:sldMkLst>
        <pc:spChg chg="mod">
          <ac:chgData name="Vandan Jain" userId="4244b45b-25d1-413d-855b-6597e767c081" providerId="ADAL" clId="{67AB2A15-26B8-47FB-BEC6-EFDC03C3B3B6}" dt="2026-03-02T09:01:41.459" v="97" actId="14100"/>
          <ac:spMkLst>
            <pc:docMk/>
            <pc:sldMk cId="1630386862" sldId="2147470008"/>
            <ac:spMk id="32" creationId="{C8230886-385E-3625-B41A-6EB929B3CECD}"/>
          </ac:spMkLst>
        </pc:spChg>
      </pc:sldChg>
      <pc:sldChg chg="addSp delSp modSp mod">
        <pc:chgData name="Vandan Jain" userId="4244b45b-25d1-413d-855b-6597e767c081" providerId="ADAL" clId="{67AB2A15-26B8-47FB-BEC6-EFDC03C3B3B6}" dt="2026-03-02T09:01:16.824" v="66" actId="1035"/>
        <pc:sldMkLst>
          <pc:docMk/>
          <pc:sldMk cId="2830339352" sldId="2147470014"/>
        </pc:sldMkLst>
        <pc:spChg chg="del">
          <ac:chgData name="Vandan Jain" userId="4244b45b-25d1-413d-855b-6597e767c081" providerId="ADAL" clId="{67AB2A15-26B8-47FB-BEC6-EFDC03C3B3B6}" dt="2026-03-02T09:01:12.344" v="25" actId="478"/>
          <ac:spMkLst>
            <pc:docMk/>
            <pc:sldMk cId="2830339352" sldId="2147470014"/>
            <ac:spMk id="33" creationId="{11B08FFE-4B4A-EB5A-4866-8C40B76594CC}"/>
          </ac:spMkLst>
        </pc:spChg>
        <pc:graphicFrameChg chg="add mod">
          <ac:chgData name="Vandan Jain" userId="4244b45b-25d1-413d-855b-6597e767c081" providerId="ADAL" clId="{67AB2A15-26B8-47FB-BEC6-EFDC03C3B3B6}" dt="2026-03-02T09:01:16.824" v="66" actId="1035"/>
          <ac:graphicFrameMkLst>
            <pc:docMk/>
            <pc:sldMk cId="2830339352" sldId="2147470014"/>
            <ac:graphicFrameMk id="2" creationId="{0A8000CD-7AA0-2CF6-FD50-BD7DD5CFD3E2}"/>
          </ac:graphicFrameMkLst>
        </pc:graphicFrameChg>
        <pc:graphicFrameChg chg="del">
          <ac:chgData name="Vandan Jain" userId="4244b45b-25d1-413d-855b-6597e767c081" providerId="ADAL" clId="{67AB2A15-26B8-47FB-BEC6-EFDC03C3B3B6}" dt="2026-03-02T09:01:12.344" v="25" actId="478"/>
          <ac:graphicFrameMkLst>
            <pc:docMk/>
            <pc:sldMk cId="2830339352" sldId="2147470014"/>
            <ac:graphicFrameMk id="29" creationId="{4E7BB84D-9E35-CF2D-933A-F2164B5B640D}"/>
          </ac:graphicFrameMkLst>
        </pc:graphicFrameChg>
        <pc:picChg chg="del">
          <ac:chgData name="Vandan Jain" userId="4244b45b-25d1-413d-855b-6597e767c081" providerId="ADAL" clId="{67AB2A15-26B8-47FB-BEC6-EFDC03C3B3B6}" dt="2026-03-02T09:01:12.344" v="25" actId="478"/>
          <ac:picMkLst>
            <pc:docMk/>
            <pc:sldMk cId="2830339352" sldId="2147470014"/>
            <ac:picMk id="4" creationId="{65D2BE78-60C7-309F-967D-DB03F5F86A01}"/>
          </ac:picMkLst>
        </pc:pic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6" creationId="{1952BBF0-F332-6F68-FCA0-2C1BC213E0F2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36" creationId="{F7DEC3EF-4F58-6C4A-6003-C653D43A657F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37" creationId="{4FE8A8B7-B1C7-388B-2224-F7272B5F3979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38" creationId="{E75709A2-CB82-9CE6-8820-C613FA844A97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39" creationId="{186A2F42-4516-71B2-0981-A0D3083991C8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40" creationId="{838813B3-0AF8-28F8-0DB3-A2D67FE29936}"/>
          </ac:cxnSpMkLst>
        </pc:cxnChg>
        <pc:cxnChg chg="del">
          <ac:chgData name="Vandan Jain" userId="4244b45b-25d1-413d-855b-6597e767c081" providerId="ADAL" clId="{67AB2A15-26B8-47FB-BEC6-EFDC03C3B3B6}" dt="2026-03-02T09:01:12.344" v="25" actId="478"/>
          <ac:cxnSpMkLst>
            <pc:docMk/>
            <pc:sldMk cId="2830339352" sldId="2147470014"/>
            <ac:cxnSpMk id="42" creationId="{CB4A4CC7-1BF8-8EB6-BE37-56C8C37F23EB}"/>
          </ac:cxnSpMkLst>
        </pc:cxnChg>
      </pc:sldChg>
      <pc:sldChg chg="modSp add mod">
        <pc:chgData name="Vandan Jain" userId="4244b45b-25d1-413d-855b-6597e767c081" providerId="ADAL" clId="{67AB2A15-26B8-47FB-BEC6-EFDC03C3B3B6}" dt="2026-03-02T09:01:08.619" v="24" actId="14100"/>
        <pc:sldMkLst>
          <pc:docMk/>
          <pc:sldMk cId="4067805866" sldId="2147470016"/>
        </pc:sldMkLst>
        <pc:spChg chg="mod">
          <ac:chgData name="Vandan Jain" userId="4244b45b-25d1-413d-855b-6597e767c081" providerId="ADAL" clId="{67AB2A15-26B8-47FB-BEC6-EFDC03C3B3B6}" dt="2026-03-02T09:01:08.619" v="24" actId="14100"/>
          <ac:spMkLst>
            <pc:docMk/>
            <pc:sldMk cId="4067805866" sldId="2147470016"/>
            <ac:spMk id="32" creationId="{F30B6FEB-AEE6-4C74-E944-EEC317349239}"/>
          </ac:spMkLst>
        </pc:spChg>
      </pc:sldChg>
      <pc:sldChg chg="add">
        <pc:chgData name="Vandan Jain" userId="4244b45b-25d1-413d-855b-6597e767c081" providerId="ADAL" clId="{67AB2A15-26B8-47FB-BEC6-EFDC03C3B3B6}" dt="2026-03-02T08:27:31.300" v="1"/>
        <pc:sldMkLst>
          <pc:docMk/>
          <pc:sldMk cId="3120473942" sldId="21474700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40D-F18F-E16C-414E-278D7AAC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318DB-B491-3618-A4E0-CB26CC5C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EDBEC-0C05-EE12-A0EE-36643DBB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18F1-5568-F7B6-9411-F33C2DFF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3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6E8D2-FFAE-E855-3EDF-7A10B0F8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E8A82-F3CF-8B35-A6AA-F8E89C7E5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8B415-73A4-A9F6-E5EE-799E6F636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8C56-E71D-4F43-486B-039897A8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9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2735-F5C0-9D94-8980-3AD175EA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EAF3-859A-62A3-022B-886C16A0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4E4C-145D-CAFC-9CF7-05D753B3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EAFC-CBF7-1A7A-C8BE-DD745F3F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91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324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470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20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889952"/>
            <a:ext cx="4817269" cy="1214756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42951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2448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58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4322918" y="1474221"/>
            <a:ext cx="3608415" cy="65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0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27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hyperlink" Target="https://www.microsoft.com/en-us/security/blog/2022/02/17/4-best-practices-to-implement-a-comprehensive-zero-trust-security-approach/" TargetMode="External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6.svg"/><Relationship Id="rId5" Type="http://schemas.openxmlformats.org/officeDocument/2006/relationships/image" Target="../media/image18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active-directory/fundamentals/whatis" TargetMode="External"/><Relationship Id="rId3" Type="http://schemas.openxmlformats.org/officeDocument/2006/relationships/image" Target="../media/image23.png"/><Relationship Id="rId7" Type="http://schemas.openxmlformats.org/officeDocument/2006/relationships/hyperlink" Target="https://www.microsoft.com/en-us/security/business/cloud-app-securit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cs.microsoft.com/en-us/microsoft-365/security/office-365-security/?view=o365-worldwide" TargetMode="External"/><Relationship Id="rId11" Type="http://schemas.openxmlformats.org/officeDocument/2006/relationships/hyperlink" Target="https://learn.microsoft.com/en-us/azure/defender-for-iot/organizations/manage-subscriptions-enterprise" TargetMode="External"/><Relationship Id="rId5" Type="http://schemas.openxmlformats.org/officeDocument/2006/relationships/image" Target="../media/image25.png"/><Relationship Id="rId10" Type="http://schemas.openxmlformats.org/officeDocument/2006/relationships/hyperlink" Target="https://docs.microsoft.com/en-us/microsoft-365/security/defender-endpoint/?view=o365-worldwide" TargetMode="External"/><Relationship Id="rId4" Type="http://schemas.openxmlformats.org/officeDocument/2006/relationships/image" Target="../media/image24.png"/><Relationship Id="rId9" Type="http://schemas.openxmlformats.org/officeDocument/2006/relationships/hyperlink" Target="https://docs.microsoft.com/en-us/defender-for-identity/?view=o365-worldwid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342900"/>
            <a:ext cx="5667374" cy="767714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298" y="86"/>
            <a:ext cx="5671672" cy="1417918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270487" y="1668947"/>
            <a:ext cx="1469495" cy="2469254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-1" y="0"/>
            <a:ext cx="5667375" cy="1396789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0487" y="552371"/>
            <a:ext cx="3858168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1896592" y="1714916"/>
            <a:ext cx="3670004" cy="179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293699" y="228034"/>
            <a:ext cx="1319835" cy="16730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1899194" y="1985083"/>
            <a:ext cx="3470238" cy="2141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Zero Trust across your entire digital estate―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exposure management―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Continuously assess security posture, enable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proactive risk management and protection of assets.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security operations platform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―Leverage a single, integrated solution for end-to-end security operations, enhancing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280997" y="7704113"/>
            <a:ext cx="5113973" cy="10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1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  <a:hlinkClick r:id="rId7"/>
              </a:rPr>
              <a:t>Source: Microsoft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 	</a:t>
            </a: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2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Source: </a:t>
            </a:r>
            <a:r>
              <a:rPr kumimoji="0" lang="en-US" sz="51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IBM Cost of a Data Breach Report, IBM, p. 6​</a:t>
            </a:r>
            <a:endParaRPr kumimoji="0" lang="en-US" sz="6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388447" y="4278348"/>
            <a:ext cx="4895999" cy="266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7048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30605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34132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37718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12745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271966" y="5078668"/>
            <a:ext cx="97985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271563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Risk-based conditional   access and sign     -in assessment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   risky sign-ins and user behavior anomalies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307531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308460" y="5459025"/>
            <a:ext cx="99823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Threat and suspicious user activity detection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Built-in response and automated playbooks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Context-rich identity insights during 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2342806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2362254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Industry-leading antimalware and conditional access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Endpoint security and EDR with advanced threat hunting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3378660" y="5078668"/>
            <a:ext cx="92651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3398110" y="5459024"/>
            <a:ext cx="926511" cy="1549142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Advanced email and collaboration security with automated investigation   and response 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 user phishing simulation trainings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4414224" y="5078668"/>
            <a:ext cx="749207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4430310" y="5459025"/>
            <a:ext cx="94504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“Shadow IT”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Uncovers configuration gaps and offers recommendations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LoB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app monitoring, governance and protection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340877" y="4769074"/>
            <a:ext cx="260128" cy="260127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392861" y="4769074"/>
            <a:ext cx="260128" cy="260127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2422619" y="4769074"/>
            <a:ext cx="260128" cy="260127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3467194" y="4769074"/>
            <a:ext cx="260128" cy="260127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4496952" y="4769074"/>
            <a:ext cx="260128" cy="260127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418138" y="1792553"/>
            <a:ext cx="1174190" cy="2189184"/>
            <a:chOff x="474385" y="2278797"/>
            <a:chExt cx="1610317" cy="300230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0"/>
              <a:ext cx="1610317" cy="17939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 pitchFamily="2" charset="0"/>
                  <a:ea typeface="+mn-ea"/>
                  <a:cs typeface="Segoe Sans Display Semibold" pitchFamily="2" charset="0"/>
                </a:rPr>
                <a:t>Industry leader</a:t>
              </a:r>
            </a:p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kumimoji="0" lang="en-US" sz="10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 1 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6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5142" y="1972224"/>
            <a:ext cx="465563" cy="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7E35-A357-6951-93B8-84DA1F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3468742" descr="preencoded.png">
            <a:extLst>
              <a:ext uri="{FF2B5EF4-FFF2-40B4-BE49-F238E27FC236}">
                <a16:creationId xmlns:a16="http://schemas.microsoft.com/office/drawing/2014/main" id="{935D4737-AF15-D2BD-A0CA-A169A8D5D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" b="17144"/>
          <a:stretch>
            <a:fillRect/>
          </a:stretch>
        </p:blipFill>
        <p:spPr>
          <a:xfrm>
            <a:off x="0" y="342900"/>
            <a:ext cx="5667374" cy="7677149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F261787-A532-6E06-5DBB-DC560E196235}"/>
              </a:ext>
            </a:extLst>
          </p:cNvPr>
          <p:cNvSpPr/>
          <p:nvPr/>
        </p:nvSpPr>
        <p:spPr bwMode="auto">
          <a:xfrm>
            <a:off x="271313" y="1647450"/>
            <a:ext cx="1640799" cy="2917180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7F975A-EFFC-ED2A-C751-F90289DD4D12}"/>
              </a:ext>
            </a:extLst>
          </p:cNvPr>
          <p:cNvSpPr/>
          <p:nvPr/>
        </p:nvSpPr>
        <p:spPr bwMode="auto">
          <a:xfrm>
            <a:off x="432197" y="3383256"/>
            <a:ext cx="1330369" cy="556564"/>
          </a:xfrm>
          <a:prstGeom prst="roundRect">
            <a:avLst>
              <a:gd name="adj" fmla="val 896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1BFA34-B18A-5D19-CB2E-5EFFFD85E75F}"/>
              </a:ext>
            </a:extLst>
          </p:cNvPr>
          <p:cNvSpPr/>
          <p:nvPr/>
        </p:nvSpPr>
        <p:spPr bwMode="auto">
          <a:xfrm>
            <a:off x="282588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9FF4C58-C222-0372-551A-B65DBB1DB687}"/>
              </a:ext>
            </a:extLst>
          </p:cNvPr>
          <p:cNvSpPr/>
          <p:nvPr/>
        </p:nvSpPr>
        <p:spPr bwMode="auto">
          <a:xfrm>
            <a:off x="2023547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0975A17-5A4C-D6C3-AEC2-7F7BB3AB4AF3}"/>
              </a:ext>
            </a:extLst>
          </p:cNvPr>
          <p:cNvSpPr/>
          <p:nvPr/>
        </p:nvSpPr>
        <p:spPr bwMode="auto">
          <a:xfrm>
            <a:off x="3776853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B91F6E1-310B-4DCA-D9D1-EFA8D25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26" t="30965" r="-63239" b="25799"/>
          <a:stretch>
            <a:fillRect/>
          </a:stretch>
        </p:blipFill>
        <p:spPr>
          <a:xfrm>
            <a:off x="0" y="-6517"/>
            <a:ext cx="5672920" cy="1390790"/>
          </a:xfrm>
          <a:prstGeom prst="rect">
            <a:avLst/>
          </a:prstGeom>
          <a:effectLst/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E2C1D61-C97B-074D-2D5C-424C889179B7}"/>
              </a:ext>
            </a:extLst>
          </p:cNvPr>
          <p:cNvSpPr/>
          <p:nvPr/>
        </p:nvSpPr>
        <p:spPr bwMode="auto">
          <a:xfrm>
            <a:off x="-1" y="-3461"/>
            <a:ext cx="5667375" cy="1390789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D7817-2A34-A090-10BB-8A54EB00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031" t="49290" r="56933" b="-2909"/>
          <a:stretch>
            <a:fillRect/>
          </a:stretch>
        </p:blipFill>
        <p:spPr>
          <a:xfrm>
            <a:off x="0" y="-3461"/>
            <a:ext cx="5672920" cy="1390790"/>
          </a:xfrm>
          <a:prstGeom prst="rect">
            <a:avLst/>
          </a:prstGeom>
          <a:effectLst/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C8230886-385E-3625-B41A-6EB929B3CE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0998" y="565908"/>
            <a:ext cx="4284075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chemeClr val="tx1"/>
                </a:solidFill>
                <a:cs typeface="Segoe Sans Display Semilight" pitchFamily="2" charset="0"/>
              </a:rPr>
              <a:t>Microsoft Purview Suite 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E1932-F00B-7615-5E7D-55DC4703F1C2}"/>
              </a:ext>
            </a:extLst>
          </p:cNvPr>
          <p:cNvSpPr txBox="1">
            <a:spLocks/>
          </p:cNvSpPr>
          <p:nvPr/>
        </p:nvSpPr>
        <p:spPr>
          <a:xfrm>
            <a:off x="2081408" y="1668617"/>
            <a:ext cx="3168918" cy="44871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1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Intelligent compliance and risk management in the age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5A7B-B9D1-2B64-CAD0-43CB23302445}"/>
              </a:ext>
            </a:extLst>
          </p:cNvPr>
          <p:cNvSpPr txBox="1">
            <a:spLocks/>
          </p:cNvSpPr>
          <p:nvPr/>
        </p:nvSpPr>
        <p:spPr>
          <a:xfrm>
            <a:off x="2097300" y="2205010"/>
            <a:ext cx="3301901" cy="235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Microsoft Purview Suite, now available as an add-on to Microsoft 365 Business Premium, providers integrated data security and compliance capabilities critical for organizations looking to adopt Gen AI technologies and minimize risks related to regulatory requirements.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lt"/>
              <a:cs typeface="Segoe UI"/>
            </a:endParaRP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438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Safeguard sensitive data across clouds, apps, and endpoints.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Identify and remediate critical risks within your organization.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Investigate and respond to legal requirements with relevant data.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Built-in assessments and actions for 350+ regional regulations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803776-5E8B-2132-6273-96CF7F5813DA}"/>
              </a:ext>
            </a:extLst>
          </p:cNvPr>
          <p:cNvGrpSpPr/>
          <p:nvPr/>
        </p:nvGrpSpPr>
        <p:grpSpPr>
          <a:xfrm>
            <a:off x="513820" y="3466302"/>
            <a:ext cx="1177379" cy="390472"/>
            <a:chOff x="45932" y="4239805"/>
            <a:chExt cx="1614691" cy="53550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191316-8909-7296-9E20-E3BDDA338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2" y="4239805"/>
              <a:ext cx="529765" cy="535504"/>
            </a:xfrm>
            <a:prstGeom prst="rect">
              <a:avLst/>
            </a:prstGeom>
          </p:spPr>
        </p:pic>
        <p:pic>
          <p:nvPicPr>
            <p:cNvPr id="14" name="purview">
              <a:extLst>
                <a:ext uri="{FF2B5EF4-FFF2-40B4-BE49-F238E27FC236}">
                  <a16:creationId xmlns:a16="http://schemas.microsoft.com/office/drawing/2014/main" id="{F2F20322-882E-286F-3EFE-032ACDB9D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020" r="1020"/>
            <a:stretch/>
          </p:blipFill>
          <p:spPr>
            <a:xfrm>
              <a:off x="1155319" y="4270005"/>
              <a:ext cx="505304" cy="50530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199295-2F99-24A2-64CB-B2F820A1503C}"/>
                </a:ext>
              </a:extLst>
            </p:cNvPr>
            <p:cNvGrpSpPr/>
            <p:nvPr/>
          </p:nvGrpSpPr>
          <p:grpSpPr>
            <a:xfrm>
              <a:off x="705488" y="4347537"/>
              <a:ext cx="320040" cy="320040"/>
              <a:chOff x="638372" y="546647"/>
              <a:chExt cx="479596" cy="47959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89185B8-A5BD-AA7A-49CA-5FE58A59D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638372" y="546647"/>
                <a:ext cx="479596" cy="479596"/>
              </a:xfrm>
              <a:prstGeom prst="ellipse">
                <a:avLst/>
              </a:prstGeom>
              <a:gradFill flip="none" rotWithShape="1">
                <a:gsLst>
                  <a:gs pos="32000">
                    <a:srgbClr val="C03BC4"/>
                  </a:gs>
                  <a:gs pos="100000">
                    <a:srgbClr val="399A91"/>
                  </a:gs>
                  <a:gs pos="68000">
                    <a:srgbClr val="0078D4"/>
                  </a:gs>
                  <a:gs pos="0">
                    <a:srgbClr val="FF5C39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897" cap="flat">
                <a:noFill/>
                <a:prstDash val="solid"/>
                <a:miter/>
              </a:ln>
              <a:effectLst>
                <a:outerShdw blurRad="63500" dist="63500" dir="2700000" algn="tl" rotWithShape="0">
                  <a:srgbClr val="454142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52500" tIns="26250" rIns="52500" bIns="262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6678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13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EDF9CFBC-856B-C824-00D3-A8B41EF04B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9091" y="657366"/>
                <a:ext cx="258158" cy="258158"/>
              </a:xfrm>
              <a:prstGeom prst="rect">
                <a:avLst/>
              </a:prstGeom>
              <a:effectLst>
                <a:outerShdw blurRad="63500" dist="63500" dir="2700000" algn="ctr" rotWithShape="0">
                  <a:schemeClr val="bg1">
                    <a:alpha val="20000"/>
                  </a:schemeClr>
                </a:outerShdw>
              </a:effectLst>
            </p:spPr>
          </p:pic>
        </p:grpSp>
      </p:grp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36292F35-2848-FBFE-9DA2-A06F3BB28F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black">
          <a:xfrm>
            <a:off x="304210" y="243499"/>
            <a:ext cx="1319835" cy="167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A7A011-A5B1-B465-6A3F-B4941EFA893C}"/>
              </a:ext>
            </a:extLst>
          </p:cNvPr>
          <p:cNvSpPr txBox="1"/>
          <p:nvPr/>
        </p:nvSpPr>
        <p:spPr>
          <a:xfrm>
            <a:off x="374982" y="2129468"/>
            <a:ext cx="1436982" cy="994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Sans Display" pitchFamily="2" charset="0"/>
              </a:rPr>
              <a:t>AI transformation is happening now.</a:t>
            </a:r>
          </a:p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Secure and govern your data estate and get ready for AI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4607B54D-3EC6-3752-105A-D9D2701B8F61}"/>
              </a:ext>
            </a:extLst>
          </p:cNvPr>
          <p:cNvSpPr/>
          <p:nvPr/>
        </p:nvSpPr>
        <p:spPr>
          <a:xfrm rot="16200000" flipH="1">
            <a:off x="2719739" y="2486454"/>
            <a:ext cx="245843" cy="5103405"/>
          </a:xfrm>
          <a:prstGeom prst="leftBracket">
            <a:avLst>
              <a:gd name="adj" fmla="val 0"/>
            </a:avLst>
          </a:prstGeom>
          <a:ln w="9525" cap="rnd">
            <a:solidFill>
              <a:srgbClr val="C03BC4">
                <a:alpha val="25000"/>
              </a:srgbClr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1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0229FE75-A857-208B-452D-3AC05899E608}"/>
              </a:ext>
            </a:extLst>
          </p:cNvPr>
          <p:cNvSpPr txBox="1">
            <a:spLocks/>
          </p:cNvSpPr>
          <p:nvPr/>
        </p:nvSpPr>
        <p:spPr>
          <a:xfrm>
            <a:off x="551438" y="4835740"/>
            <a:ext cx="4591038" cy="151632"/>
          </a:xfrm>
          <a:prstGeom prst="rect">
            <a:avLst/>
          </a:prstGeom>
          <a:solidFill>
            <a:srgbClr val="F2F0F0"/>
          </a:solidFill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 w="3175"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j-lt"/>
                <a:cs typeface="Segoe UI Semibold"/>
              </a:rPr>
              <a:t>Unified solutions to secure and govern data for the era of AI</a:t>
            </a:r>
            <a:endParaRPr kumimoji="0" lang="en-US" sz="2625" b="0" i="0" u="none" strike="noStrike" kern="1200" cap="none" spc="-36" normalizeH="0" baseline="0" noProof="0" dirty="0">
              <a:ln w="3175">
                <a:noFill/>
              </a:ln>
              <a:solidFill>
                <a:srgbClr val="C03BC4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559E7-3970-4136-DC54-7BA2820FF8F5}"/>
              </a:ext>
            </a:extLst>
          </p:cNvPr>
          <p:cNvSpPr txBox="1"/>
          <p:nvPr/>
        </p:nvSpPr>
        <p:spPr>
          <a:xfrm>
            <a:off x="359517" y="5941176"/>
            <a:ext cx="1552595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Address oversharing concerns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BE6B00-7CF5-6B33-E396-66DF2835C682}"/>
              </a:ext>
            </a:extLst>
          </p:cNvPr>
          <p:cNvSpPr txBox="1"/>
          <p:nvPr/>
        </p:nvSpPr>
        <p:spPr>
          <a:xfrm>
            <a:off x="2096363" y="5941176"/>
            <a:ext cx="1543383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Protect against data loss and insider risks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731E7-05FF-532F-52AE-93BA33AE7EC1}"/>
              </a:ext>
            </a:extLst>
          </p:cNvPr>
          <p:cNvSpPr txBox="1"/>
          <p:nvPr/>
        </p:nvSpPr>
        <p:spPr>
          <a:xfrm>
            <a:off x="3845847" y="5941176"/>
            <a:ext cx="1512508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Govern AI use to meet regulations &amp; policies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F849E1-2B38-8110-7D96-69D3AF3E886A}"/>
              </a:ext>
            </a:extLst>
          </p:cNvPr>
          <p:cNvSpPr txBox="1"/>
          <p:nvPr/>
        </p:nvSpPr>
        <p:spPr>
          <a:xfrm>
            <a:off x="361764" y="6351055"/>
            <a:ext cx="1367417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Gain visibility into overshared content.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Remediate excessive permissions.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Prevent Generative AI from processing sensitive files.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C0BE90-57FC-7645-EC41-2A5A4441D26E}"/>
              </a:ext>
            </a:extLst>
          </p:cNvPr>
          <p:cNvSpPr txBox="1"/>
          <p:nvPr/>
        </p:nvSpPr>
        <p:spPr>
          <a:xfrm>
            <a:off x="2104785" y="6351055"/>
            <a:ext cx="1515676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Get alerts and reports of risky behavior and AI use.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Protect sensitive files and Copilot interactions.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Dynamically apply security policies based on risky actions.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C56BF-390F-68CB-6993-C9226762ED03}"/>
              </a:ext>
            </a:extLst>
          </p:cNvPr>
          <p:cNvSpPr txBox="1"/>
          <p:nvPr/>
        </p:nvSpPr>
        <p:spPr>
          <a:xfrm>
            <a:off x="3863913" y="6351055"/>
            <a:ext cx="1466850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Inspect interaction content and audit logs. 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Investigate for compliance and ethical violations.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Enforce lifecycle policies and legal holds.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AC263C-DD68-2093-183D-563923E8995E}"/>
              </a:ext>
            </a:extLst>
          </p:cNvPr>
          <p:cNvGrpSpPr/>
          <p:nvPr/>
        </p:nvGrpSpPr>
        <p:grpSpPr>
          <a:xfrm>
            <a:off x="925493" y="5424725"/>
            <a:ext cx="354034" cy="354032"/>
            <a:chOff x="1279011" y="2060416"/>
            <a:chExt cx="441393" cy="44139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C8F927-3A6B-5151-5591-7DBD1A7B5937}"/>
                </a:ext>
              </a:extLst>
            </p:cNvPr>
            <p:cNvSpPr/>
            <p:nvPr/>
          </p:nvSpPr>
          <p:spPr bwMode="auto">
            <a:xfrm rot="5400000">
              <a:off x="1279013" y="2060414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Graphic 81" descr="Icon of an app window with a closed padlock">
              <a:extLst>
                <a:ext uri="{FF2B5EF4-FFF2-40B4-BE49-F238E27FC236}">
                  <a16:creationId xmlns:a16="http://schemas.microsoft.com/office/drawing/2014/main" id="{EA82653D-5D21-5D23-3B69-4F87EAB3F775}"/>
                </a:ext>
              </a:extLst>
            </p:cNvPr>
            <p:cNvSpPr/>
            <p:nvPr/>
          </p:nvSpPr>
          <p:spPr>
            <a:xfrm>
              <a:off x="1407278" y="2184013"/>
              <a:ext cx="184865" cy="194188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47BE28-4AEC-895D-F51C-A5F4B37367EA}"/>
              </a:ext>
            </a:extLst>
          </p:cNvPr>
          <p:cNvGrpSpPr/>
          <p:nvPr/>
        </p:nvGrpSpPr>
        <p:grpSpPr>
          <a:xfrm>
            <a:off x="2670709" y="5424723"/>
            <a:ext cx="354034" cy="354032"/>
            <a:chOff x="3672450" y="2060414"/>
            <a:chExt cx="441393" cy="44139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EEF4C83-13A7-1861-04DA-79288535A308}"/>
                </a:ext>
              </a:extLst>
            </p:cNvPr>
            <p:cNvSpPr/>
            <p:nvPr/>
          </p:nvSpPr>
          <p:spPr bwMode="auto">
            <a:xfrm rot="5400000">
              <a:off x="3672452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Graphic 80" descr="Icon of a key">
              <a:extLst>
                <a:ext uri="{FF2B5EF4-FFF2-40B4-BE49-F238E27FC236}">
                  <a16:creationId xmlns:a16="http://schemas.microsoft.com/office/drawing/2014/main" id="{5670A3F3-ACD7-3E45-2270-28F32E926B25}"/>
                </a:ext>
              </a:extLst>
            </p:cNvPr>
            <p:cNvSpPr/>
            <p:nvPr/>
          </p:nvSpPr>
          <p:spPr>
            <a:xfrm>
              <a:off x="3810058" y="2194263"/>
              <a:ext cx="166179" cy="173691"/>
            </a:xfrm>
            <a:custGeom>
              <a:avLst/>
              <a:gdLst>
                <a:gd name="connsiteX0" fmla="*/ 251964 w 310702"/>
                <a:gd name="connsiteY0" fmla="*/ 76517 h 309156"/>
                <a:gd name="connsiteX1" fmla="*/ 232642 w 310702"/>
                <a:gd name="connsiteY1" fmla="*/ 95839 h 309156"/>
                <a:gd name="connsiteX2" fmla="*/ 213319 w 310702"/>
                <a:gd name="connsiteY2" fmla="*/ 76517 h 309156"/>
                <a:gd name="connsiteX3" fmla="*/ 232642 w 310702"/>
                <a:gd name="connsiteY3" fmla="*/ 57194 h 309156"/>
                <a:gd name="connsiteX4" fmla="*/ 251964 w 310702"/>
                <a:gd name="connsiteY4" fmla="*/ 76517 h 309156"/>
                <a:gd name="connsiteX5" fmla="*/ 209453 w 310702"/>
                <a:gd name="connsiteY5" fmla="*/ 0 h 309156"/>
                <a:gd name="connsiteX6" fmla="*/ 108205 w 310702"/>
                <a:gd name="connsiteY6" fmla="*/ 101249 h 309156"/>
                <a:gd name="connsiteX7" fmla="*/ 109912 w 310702"/>
                <a:gd name="connsiteY7" fmla="*/ 118315 h 309156"/>
                <a:gd name="connsiteX8" fmla="*/ 108842 w 310702"/>
                <a:gd name="connsiteY8" fmla="*/ 122088 h 309156"/>
                <a:gd name="connsiteX9" fmla="*/ 12451 w 310702"/>
                <a:gd name="connsiteY9" fmla="*/ 218479 h 309156"/>
                <a:gd name="connsiteX10" fmla="*/ 0 w 310702"/>
                <a:gd name="connsiteY10" fmla="*/ 248537 h 309156"/>
                <a:gd name="connsiteX11" fmla="*/ 0 w 310702"/>
                <a:gd name="connsiteY11" fmla="*/ 282105 h 309156"/>
                <a:gd name="connsiteX12" fmla="*/ 27051 w 310702"/>
                <a:gd name="connsiteY12" fmla="*/ 309157 h 309156"/>
                <a:gd name="connsiteX13" fmla="*/ 65696 w 310702"/>
                <a:gd name="connsiteY13" fmla="*/ 309157 h 309156"/>
                <a:gd name="connsiteX14" fmla="*/ 92747 w 310702"/>
                <a:gd name="connsiteY14" fmla="*/ 282105 h 309156"/>
                <a:gd name="connsiteX15" fmla="*/ 92747 w 310702"/>
                <a:gd name="connsiteY15" fmla="*/ 262783 h 309156"/>
                <a:gd name="connsiteX16" fmla="*/ 119798 w 310702"/>
                <a:gd name="connsiteY16" fmla="*/ 262783 h 309156"/>
                <a:gd name="connsiteX17" fmla="*/ 139120 w 310702"/>
                <a:gd name="connsiteY17" fmla="*/ 243461 h 309156"/>
                <a:gd name="connsiteX18" fmla="*/ 139120 w 310702"/>
                <a:gd name="connsiteY18" fmla="*/ 216410 h 309156"/>
                <a:gd name="connsiteX19" fmla="*/ 166171 w 310702"/>
                <a:gd name="connsiteY19" fmla="*/ 216410 h 309156"/>
                <a:gd name="connsiteX20" fmla="*/ 185481 w 310702"/>
                <a:gd name="connsiteY20" fmla="*/ 197802 h 309156"/>
                <a:gd name="connsiteX21" fmla="*/ 209453 w 310702"/>
                <a:gd name="connsiteY21" fmla="*/ 200952 h 309156"/>
                <a:gd name="connsiteX22" fmla="*/ 310702 w 310702"/>
                <a:gd name="connsiteY22" fmla="*/ 99703 h 309156"/>
                <a:gd name="connsiteX23" fmla="*/ 209453 w 310702"/>
                <a:gd name="connsiteY23" fmla="*/ 0 h 309156"/>
                <a:gd name="connsiteX24" fmla="*/ 131391 w 310702"/>
                <a:gd name="connsiteY24" fmla="*/ 101249 h 309156"/>
                <a:gd name="connsiteX25" fmla="*/ 209453 w 310702"/>
                <a:gd name="connsiteY25" fmla="*/ 23187 h 309156"/>
                <a:gd name="connsiteX26" fmla="*/ 287515 w 310702"/>
                <a:gd name="connsiteY26" fmla="*/ 99703 h 309156"/>
                <a:gd name="connsiteX27" fmla="*/ 209453 w 310702"/>
                <a:gd name="connsiteY27" fmla="*/ 177765 h 309156"/>
                <a:gd name="connsiteX28" fmla="*/ 178468 w 310702"/>
                <a:gd name="connsiteY28" fmla="*/ 170973 h 309156"/>
                <a:gd name="connsiteX29" fmla="*/ 167519 w 310702"/>
                <a:gd name="connsiteY29" fmla="*/ 171951 h 309156"/>
                <a:gd name="connsiteX30" fmla="*/ 162307 w 310702"/>
                <a:gd name="connsiteY30" fmla="*/ 181630 h 309156"/>
                <a:gd name="connsiteX31" fmla="*/ 162307 w 310702"/>
                <a:gd name="connsiteY31" fmla="*/ 193223 h 309156"/>
                <a:gd name="connsiteX32" fmla="*/ 135256 w 310702"/>
                <a:gd name="connsiteY32" fmla="*/ 193223 h 309156"/>
                <a:gd name="connsiteX33" fmla="*/ 115934 w 310702"/>
                <a:gd name="connsiteY33" fmla="*/ 212545 h 309156"/>
                <a:gd name="connsiteX34" fmla="*/ 115934 w 310702"/>
                <a:gd name="connsiteY34" fmla="*/ 239596 h 309156"/>
                <a:gd name="connsiteX35" fmla="*/ 88883 w 310702"/>
                <a:gd name="connsiteY35" fmla="*/ 239596 h 309156"/>
                <a:gd name="connsiteX36" fmla="*/ 69560 w 310702"/>
                <a:gd name="connsiteY36" fmla="*/ 258919 h 309156"/>
                <a:gd name="connsiteX37" fmla="*/ 69560 w 310702"/>
                <a:gd name="connsiteY37" fmla="*/ 282105 h 309156"/>
                <a:gd name="connsiteX38" fmla="*/ 65696 w 310702"/>
                <a:gd name="connsiteY38" fmla="*/ 285970 h 309156"/>
                <a:gd name="connsiteX39" fmla="*/ 27051 w 310702"/>
                <a:gd name="connsiteY39" fmla="*/ 285970 h 309156"/>
                <a:gd name="connsiteX40" fmla="*/ 23187 w 310702"/>
                <a:gd name="connsiteY40" fmla="*/ 282105 h 309156"/>
                <a:gd name="connsiteX41" fmla="*/ 23187 w 310702"/>
                <a:gd name="connsiteY41" fmla="*/ 248537 h 309156"/>
                <a:gd name="connsiteX42" fmla="*/ 28846 w 310702"/>
                <a:gd name="connsiteY42" fmla="*/ 234874 h 309156"/>
                <a:gd name="connsiteX43" fmla="*/ 125238 w 310702"/>
                <a:gd name="connsiteY43" fmla="*/ 138484 h 309156"/>
                <a:gd name="connsiteX44" fmla="*/ 132750 w 310702"/>
                <a:gd name="connsiteY44" fmla="*/ 114308 h 309156"/>
                <a:gd name="connsiteX45" fmla="*/ 131391 w 310702"/>
                <a:gd name="connsiteY45" fmla="*/ 101249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0702" h="309156">
                  <a:moveTo>
                    <a:pt x="251964" y="76517"/>
                  </a:moveTo>
                  <a:cubicBezTo>
                    <a:pt x="251964" y="87188"/>
                    <a:pt x="243312" y="95839"/>
                    <a:pt x="232642" y="95839"/>
                  </a:cubicBezTo>
                  <a:cubicBezTo>
                    <a:pt x="221970" y="95839"/>
                    <a:pt x="213319" y="87188"/>
                    <a:pt x="213319" y="76517"/>
                  </a:cubicBezTo>
                  <a:cubicBezTo>
                    <a:pt x="213319" y="65845"/>
                    <a:pt x="221970" y="57194"/>
                    <a:pt x="232642" y="57194"/>
                  </a:cubicBezTo>
                  <a:cubicBezTo>
                    <a:pt x="243312" y="57194"/>
                    <a:pt x="251964" y="65845"/>
                    <a:pt x="251964" y="76517"/>
                  </a:cubicBezTo>
                  <a:close/>
                  <a:moveTo>
                    <a:pt x="209453" y="0"/>
                  </a:moveTo>
                  <a:cubicBezTo>
                    <a:pt x="153586" y="0"/>
                    <a:pt x="108205" y="45381"/>
                    <a:pt x="108205" y="101249"/>
                  </a:cubicBezTo>
                  <a:cubicBezTo>
                    <a:pt x="108205" y="107234"/>
                    <a:pt x="108980" y="113002"/>
                    <a:pt x="109912" y="118315"/>
                  </a:cubicBezTo>
                  <a:cubicBezTo>
                    <a:pt x="110188" y="119883"/>
                    <a:pt x="109684" y="121246"/>
                    <a:pt x="108842" y="122088"/>
                  </a:cubicBezTo>
                  <a:lnTo>
                    <a:pt x="12451" y="218479"/>
                  </a:lnTo>
                  <a:cubicBezTo>
                    <a:pt x="4479" y="226451"/>
                    <a:pt x="0" y="237264"/>
                    <a:pt x="0" y="248537"/>
                  </a:cubicBezTo>
                  <a:lnTo>
                    <a:pt x="0" y="282105"/>
                  </a:lnTo>
                  <a:cubicBezTo>
                    <a:pt x="0" y="297045"/>
                    <a:pt x="12111" y="309157"/>
                    <a:pt x="27051" y="309157"/>
                  </a:cubicBezTo>
                  <a:lnTo>
                    <a:pt x="65696" y="309157"/>
                  </a:lnTo>
                  <a:cubicBezTo>
                    <a:pt x="80636" y="309157"/>
                    <a:pt x="92747" y="297045"/>
                    <a:pt x="92747" y="282105"/>
                  </a:cubicBezTo>
                  <a:lnTo>
                    <a:pt x="92747" y="262783"/>
                  </a:lnTo>
                  <a:lnTo>
                    <a:pt x="119798" y="262783"/>
                  </a:lnTo>
                  <a:cubicBezTo>
                    <a:pt x="130470" y="262783"/>
                    <a:pt x="139120" y="254133"/>
                    <a:pt x="139120" y="243461"/>
                  </a:cubicBezTo>
                  <a:lnTo>
                    <a:pt x="139120" y="216410"/>
                  </a:lnTo>
                  <a:lnTo>
                    <a:pt x="166171" y="216410"/>
                  </a:lnTo>
                  <a:cubicBezTo>
                    <a:pt x="176604" y="216410"/>
                    <a:pt x="185106" y="208143"/>
                    <a:pt x="185481" y="197802"/>
                  </a:cubicBezTo>
                  <a:cubicBezTo>
                    <a:pt x="193159" y="199777"/>
                    <a:pt x="201256" y="200952"/>
                    <a:pt x="209453" y="200952"/>
                  </a:cubicBezTo>
                  <a:cubicBezTo>
                    <a:pt x="265321" y="200952"/>
                    <a:pt x="310702" y="155571"/>
                    <a:pt x="310702" y="99703"/>
                  </a:cubicBezTo>
                  <a:cubicBezTo>
                    <a:pt x="310702" y="43573"/>
                    <a:pt x="265057" y="0"/>
                    <a:pt x="209453" y="0"/>
                  </a:cubicBezTo>
                  <a:close/>
                  <a:moveTo>
                    <a:pt x="131391" y="101249"/>
                  </a:moveTo>
                  <a:cubicBezTo>
                    <a:pt x="131391" y="58187"/>
                    <a:pt x="166391" y="23187"/>
                    <a:pt x="209453" y="23187"/>
                  </a:cubicBezTo>
                  <a:cubicBezTo>
                    <a:pt x="252780" y="23187"/>
                    <a:pt x="287515" y="56903"/>
                    <a:pt x="287515" y="99703"/>
                  </a:cubicBezTo>
                  <a:cubicBezTo>
                    <a:pt x="287515" y="142765"/>
                    <a:pt x="252516" y="177765"/>
                    <a:pt x="209453" y="177765"/>
                  </a:cubicBezTo>
                  <a:cubicBezTo>
                    <a:pt x="198953" y="177765"/>
                    <a:pt x="188143" y="175120"/>
                    <a:pt x="178468" y="170973"/>
                  </a:cubicBezTo>
                  <a:cubicBezTo>
                    <a:pt x="174885" y="169438"/>
                    <a:pt x="170772" y="169806"/>
                    <a:pt x="167519" y="171951"/>
                  </a:cubicBezTo>
                  <a:cubicBezTo>
                    <a:pt x="164265" y="174097"/>
                    <a:pt x="162307" y="177733"/>
                    <a:pt x="162307" y="181630"/>
                  </a:cubicBezTo>
                  <a:lnTo>
                    <a:pt x="162307" y="193223"/>
                  </a:lnTo>
                  <a:lnTo>
                    <a:pt x="135256" y="193223"/>
                  </a:lnTo>
                  <a:cubicBezTo>
                    <a:pt x="124585" y="193223"/>
                    <a:pt x="115934" y="201873"/>
                    <a:pt x="115934" y="212545"/>
                  </a:cubicBezTo>
                  <a:lnTo>
                    <a:pt x="115934" y="239596"/>
                  </a:lnTo>
                  <a:lnTo>
                    <a:pt x="88883" y="239596"/>
                  </a:lnTo>
                  <a:cubicBezTo>
                    <a:pt x="78211" y="239596"/>
                    <a:pt x="69560" y="248247"/>
                    <a:pt x="69560" y="258919"/>
                  </a:cubicBezTo>
                  <a:lnTo>
                    <a:pt x="69560" y="282105"/>
                  </a:lnTo>
                  <a:cubicBezTo>
                    <a:pt x="69560" y="284240"/>
                    <a:pt x="67830" y="285970"/>
                    <a:pt x="65696" y="285970"/>
                  </a:cubicBezTo>
                  <a:lnTo>
                    <a:pt x="27051" y="285970"/>
                  </a:lnTo>
                  <a:cubicBezTo>
                    <a:pt x="24917" y="285970"/>
                    <a:pt x="23187" y="284240"/>
                    <a:pt x="23187" y="282105"/>
                  </a:cubicBezTo>
                  <a:lnTo>
                    <a:pt x="23187" y="248537"/>
                  </a:lnTo>
                  <a:cubicBezTo>
                    <a:pt x="23187" y="243413"/>
                    <a:pt x="25222" y="238499"/>
                    <a:pt x="28846" y="234874"/>
                  </a:cubicBezTo>
                  <a:lnTo>
                    <a:pt x="125238" y="138484"/>
                  </a:lnTo>
                  <a:cubicBezTo>
                    <a:pt x="131705" y="132016"/>
                    <a:pt x="134262" y="122921"/>
                    <a:pt x="132750" y="114308"/>
                  </a:cubicBezTo>
                  <a:cubicBezTo>
                    <a:pt x="131920" y="109578"/>
                    <a:pt x="131391" y="105305"/>
                    <a:pt x="131391" y="101249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7538A5-9030-EA87-C481-53D0C489301C}"/>
              </a:ext>
            </a:extLst>
          </p:cNvPr>
          <p:cNvGrpSpPr/>
          <p:nvPr/>
        </p:nvGrpSpPr>
        <p:grpSpPr>
          <a:xfrm>
            <a:off x="4404880" y="5424723"/>
            <a:ext cx="354034" cy="354032"/>
            <a:chOff x="6050742" y="2060414"/>
            <a:chExt cx="441393" cy="44139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701CB2E-F682-E7D9-5624-1AE07B8C969B}"/>
                </a:ext>
              </a:extLst>
            </p:cNvPr>
            <p:cNvSpPr/>
            <p:nvPr/>
          </p:nvSpPr>
          <p:spPr bwMode="auto">
            <a:xfrm rot="5400000">
              <a:off x="6050744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Graphic 3" descr="Magnifying glass with solid fill">
              <a:extLst>
                <a:ext uri="{FF2B5EF4-FFF2-40B4-BE49-F238E27FC236}">
                  <a16:creationId xmlns:a16="http://schemas.microsoft.com/office/drawing/2014/main" id="{43DF6BA3-36A8-7F9E-4827-840F024E2CA7}"/>
                </a:ext>
              </a:extLst>
            </p:cNvPr>
            <p:cNvSpPr/>
            <p:nvPr/>
          </p:nvSpPr>
          <p:spPr>
            <a:xfrm>
              <a:off x="6182914" y="2188045"/>
              <a:ext cx="177051" cy="186127"/>
            </a:xfrm>
            <a:custGeom>
              <a:avLst/>
              <a:gdLst>
                <a:gd name="connsiteX0" fmla="*/ 326805 w 335464"/>
                <a:gd name="connsiteY0" fmla="*/ 284733 h 335729"/>
                <a:gd name="connsiteX1" fmla="*/ 273683 w 335464"/>
                <a:gd name="connsiteY1" fmla="*/ 231611 h 335729"/>
                <a:gd name="connsiteX2" fmla="*/ 247335 w 335464"/>
                <a:gd name="connsiteY2" fmla="*/ 223536 h 335729"/>
                <a:gd name="connsiteX3" fmla="*/ 228636 w 335464"/>
                <a:gd name="connsiteY3" fmla="*/ 204837 h 335729"/>
                <a:gd name="connsiteX4" fmla="*/ 254984 w 335464"/>
                <a:gd name="connsiteY4" fmla="*/ 127492 h 335729"/>
                <a:gd name="connsiteX5" fmla="*/ 127492 w 335464"/>
                <a:gd name="connsiteY5" fmla="*/ 0 h 335729"/>
                <a:gd name="connsiteX6" fmla="*/ 0 w 335464"/>
                <a:gd name="connsiteY6" fmla="*/ 127492 h 335729"/>
                <a:gd name="connsiteX7" fmla="*/ 127492 w 335464"/>
                <a:gd name="connsiteY7" fmla="*/ 254984 h 335729"/>
                <a:gd name="connsiteX8" fmla="*/ 204837 w 335464"/>
                <a:gd name="connsiteY8" fmla="*/ 228636 h 335729"/>
                <a:gd name="connsiteX9" fmla="*/ 223536 w 335464"/>
                <a:gd name="connsiteY9" fmla="*/ 247335 h 335729"/>
                <a:gd name="connsiteX10" fmla="*/ 231611 w 335464"/>
                <a:gd name="connsiteY10" fmla="*/ 273683 h 335729"/>
                <a:gd name="connsiteX11" fmla="*/ 284733 w 335464"/>
                <a:gd name="connsiteY11" fmla="*/ 326805 h 335729"/>
                <a:gd name="connsiteX12" fmla="*/ 305981 w 335464"/>
                <a:gd name="connsiteY12" fmla="*/ 335729 h 335729"/>
                <a:gd name="connsiteX13" fmla="*/ 327230 w 335464"/>
                <a:gd name="connsiteY13" fmla="*/ 326805 h 335729"/>
                <a:gd name="connsiteX14" fmla="*/ 326805 w 335464"/>
                <a:gd name="connsiteY14" fmla="*/ 284733 h 335729"/>
                <a:gd name="connsiteX15" fmla="*/ 127067 w 335464"/>
                <a:gd name="connsiteY15" fmla="*/ 229061 h 335729"/>
                <a:gd name="connsiteX16" fmla="*/ 25073 w 335464"/>
                <a:gd name="connsiteY16" fmla="*/ 127067 h 335729"/>
                <a:gd name="connsiteX17" fmla="*/ 127067 w 335464"/>
                <a:gd name="connsiteY17" fmla="*/ 25073 h 335729"/>
                <a:gd name="connsiteX18" fmla="*/ 229061 w 335464"/>
                <a:gd name="connsiteY18" fmla="*/ 127067 h 335729"/>
                <a:gd name="connsiteX19" fmla="*/ 127067 w 335464"/>
                <a:gd name="connsiteY19" fmla="*/ 229061 h 33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5464" h="335729">
                  <a:moveTo>
                    <a:pt x="326805" y="284733"/>
                  </a:moveTo>
                  <a:lnTo>
                    <a:pt x="273683" y="231611"/>
                  </a:lnTo>
                  <a:cubicBezTo>
                    <a:pt x="266459" y="224386"/>
                    <a:pt x="256684" y="221836"/>
                    <a:pt x="247335" y="223536"/>
                  </a:cubicBezTo>
                  <a:lnTo>
                    <a:pt x="228636" y="204837"/>
                  </a:lnTo>
                  <a:cubicBezTo>
                    <a:pt x="245210" y="183589"/>
                    <a:pt x="254984" y="156390"/>
                    <a:pt x="254984" y="127492"/>
                  </a:cubicBezTo>
                  <a:cubicBezTo>
                    <a:pt x="254984" y="57371"/>
                    <a:pt x="197613" y="0"/>
                    <a:pt x="127492" y="0"/>
                  </a:cubicBezTo>
                  <a:cubicBezTo>
                    <a:pt x="57371" y="0"/>
                    <a:pt x="0" y="57371"/>
                    <a:pt x="0" y="127492"/>
                  </a:cubicBezTo>
                  <a:cubicBezTo>
                    <a:pt x="0" y="197613"/>
                    <a:pt x="57371" y="254984"/>
                    <a:pt x="127492" y="254984"/>
                  </a:cubicBezTo>
                  <a:cubicBezTo>
                    <a:pt x="156390" y="254984"/>
                    <a:pt x="183164" y="245210"/>
                    <a:pt x="204837" y="228636"/>
                  </a:cubicBezTo>
                  <a:lnTo>
                    <a:pt x="223536" y="247335"/>
                  </a:lnTo>
                  <a:cubicBezTo>
                    <a:pt x="221836" y="256684"/>
                    <a:pt x="224386" y="266459"/>
                    <a:pt x="231611" y="273683"/>
                  </a:cubicBezTo>
                  <a:lnTo>
                    <a:pt x="284733" y="326805"/>
                  </a:lnTo>
                  <a:cubicBezTo>
                    <a:pt x="290682" y="332755"/>
                    <a:pt x="298332" y="335729"/>
                    <a:pt x="305981" y="335729"/>
                  </a:cubicBezTo>
                  <a:cubicBezTo>
                    <a:pt x="313631" y="335729"/>
                    <a:pt x="321280" y="332755"/>
                    <a:pt x="327230" y="326805"/>
                  </a:cubicBezTo>
                  <a:cubicBezTo>
                    <a:pt x="338279" y="314906"/>
                    <a:pt x="338279" y="296207"/>
                    <a:pt x="326805" y="284733"/>
                  </a:cubicBezTo>
                  <a:close/>
                  <a:moveTo>
                    <a:pt x="127067" y="229061"/>
                  </a:moveTo>
                  <a:cubicBezTo>
                    <a:pt x="70971" y="229061"/>
                    <a:pt x="25073" y="183164"/>
                    <a:pt x="25073" y="127067"/>
                  </a:cubicBezTo>
                  <a:cubicBezTo>
                    <a:pt x="25073" y="70971"/>
                    <a:pt x="70971" y="25073"/>
                    <a:pt x="127067" y="25073"/>
                  </a:cubicBezTo>
                  <a:cubicBezTo>
                    <a:pt x="183164" y="25073"/>
                    <a:pt x="229061" y="70971"/>
                    <a:pt x="229061" y="127067"/>
                  </a:cubicBezTo>
                  <a:cubicBezTo>
                    <a:pt x="229061" y="183164"/>
                    <a:pt x="183164" y="229061"/>
                    <a:pt x="127067" y="229061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48B8866-B1C4-6A69-B3E4-71B315EBC91E}"/>
              </a:ext>
            </a:extLst>
          </p:cNvPr>
          <p:cNvCxnSpPr>
            <a:cxnSpLocks/>
          </p:cNvCxnSpPr>
          <p:nvPr/>
        </p:nvCxnSpPr>
        <p:spPr>
          <a:xfrm>
            <a:off x="271446" y="1398131"/>
            <a:ext cx="5124483" cy="0"/>
          </a:xfrm>
          <a:prstGeom prst="line">
            <a:avLst/>
          </a:prstGeom>
          <a:ln>
            <a:solidFill>
              <a:srgbClr val="CE9E84">
                <a:alpha val="19000"/>
              </a:srgb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1FA4B85-4927-1ABB-F554-DE4985060010}"/>
              </a:ext>
            </a:extLst>
          </p:cNvPr>
          <p:cNvSpPr/>
          <p:nvPr/>
        </p:nvSpPr>
        <p:spPr bwMode="auto">
          <a:xfrm>
            <a:off x="438202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0AC1F0-B7CC-221C-CF2C-A8AB8A5E2099}"/>
              </a:ext>
            </a:extLst>
          </p:cNvPr>
          <p:cNvSpPr/>
          <p:nvPr/>
        </p:nvSpPr>
        <p:spPr bwMode="auto">
          <a:xfrm>
            <a:off x="2194717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100D5B-0759-0B55-0C50-3142C9A438E7}"/>
              </a:ext>
            </a:extLst>
          </p:cNvPr>
          <p:cNvSpPr/>
          <p:nvPr/>
        </p:nvSpPr>
        <p:spPr bwMode="auto">
          <a:xfrm>
            <a:off x="3951232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53D3556-994F-A25F-DDA0-46DAB9D9C7E2}"/>
              </a:ext>
            </a:extLst>
          </p:cNvPr>
          <p:cNvCxnSpPr>
            <a:cxnSpLocks/>
          </p:cNvCxnSpPr>
          <p:nvPr/>
        </p:nvCxnSpPr>
        <p:spPr>
          <a:xfrm>
            <a:off x="408229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E1EB94C-5A1D-76A4-70FB-CC6D2FD0C410}"/>
              </a:ext>
            </a:extLst>
          </p:cNvPr>
          <p:cNvCxnSpPr>
            <a:cxnSpLocks/>
          </p:cNvCxnSpPr>
          <p:nvPr/>
        </p:nvCxnSpPr>
        <p:spPr>
          <a:xfrm>
            <a:off x="2149188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4AE2C17-053F-26EA-40BE-817289A0DC60}"/>
              </a:ext>
            </a:extLst>
          </p:cNvPr>
          <p:cNvCxnSpPr>
            <a:cxnSpLocks/>
          </p:cNvCxnSpPr>
          <p:nvPr/>
        </p:nvCxnSpPr>
        <p:spPr>
          <a:xfrm>
            <a:off x="3890146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38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7022-0953-263B-2F63-E879BE6B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eencoded.png">
            <a:extLst>
              <a:ext uri="{FF2B5EF4-FFF2-40B4-BE49-F238E27FC236}">
                <a16:creationId xmlns:a16="http://schemas.microsoft.com/office/drawing/2014/main" id="{5183A55F-3F3F-0226-9194-CE7B504E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20" y="2394"/>
            <a:ext cx="5673838" cy="8017656"/>
          </a:xfrm>
          <a:prstGeom prst="rect">
            <a:avLst/>
          </a:prstGeom>
        </p:spPr>
      </p:pic>
      <p:pic>
        <p:nvPicPr>
          <p:cNvPr id="2" name="Picture 1" descr="A planet in space with a black background&#10;&#10;AI-generated content may be incorrect.">
            <a:extLst>
              <a:ext uri="{FF2B5EF4-FFF2-40B4-BE49-F238E27FC236}">
                <a16:creationId xmlns:a16="http://schemas.microsoft.com/office/drawing/2014/main" id="{F4973285-5912-C42B-2BD5-4C081235F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3" y="2324"/>
            <a:ext cx="4750189" cy="1458516"/>
          </a:xfrm>
          <a:prstGeom prst="rect">
            <a:avLst/>
          </a:prstGeom>
        </p:spPr>
      </p:pic>
      <p:pic>
        <p:nvPicPr>
          <p:cNvPr id="4" name="Picture 3" descr="A planet in space with a black background&#10;&#10;AI-generated content may be incorrect.">
            <a:extLst>
              <a:ext uri="{FF2B5EF4-FFF2-40B4-BE49-F238E27FC236}">
                <a16:creationId xmlns:a16="http://schemas.microsoft.com/office/drawing/2014/main" id="{FECBBD0C-33BB-FCF5-277D-AFBC656D6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03"/>
          <a:stretch>
            <a:fillRect/>
          </a:stretch>
        </p:blipFill>
        <p:spPr>
          <a:xfrm rot="10800000">
            <a:off x="-5905" y="4678252"/>
            <a:ext cx="5673280" cy="3343650"/>
          </a:xfrm>
          <a:prstGeom prst="rect">
            <a:avLst/>
          </a:prstGeom>
        </p:spPr>
      </p:pic>
      <p:pic>
        <p:nvPicPr>
          <p:cNvPr id="35" name="Rectangle 34658328" descr="preencoded.png">
            <a:extLst>
              <a:ext uri="{FF2B5EF4-FFF2-40B4-BE49-F238E27FC236}">
                <a16:creationId xmlns:a16="http://schemas.microsoft.com/office/drawing/2014/main" id="{949B0A9B-FAD2-EFDE-2B8A-CDEED492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184" y="1155348"/>
            <a:ext cx="5468474" cy="6653110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D0E01E6-050E-A4E4-55C5-262EB2256E2A}"/>
              </a:ext>
            </a:extLst>
          </p:cNvPr>
          <p:cNvGraphicFramePr>
            <a:graphicFrameLocks noGrp="1"/>
          </p:cNvGraphicFramePr>
          <p:nvPr/>
        </p:nvGraphicFramePr>
        <p:xfrm>
          <a:off x="806125" y="1515833"/>
          <a:ext cx="4414576" cy="5639369"/>
        </p:xfrm>
        <a:graphic>
          <a:graphicData uri="http://schemas.openxmlformats.org/drawingml/2006/table">
            <a:tbl>
              <a:tblPr firstRow="1" bandRow="1">
                <a:effectLst>
                  <a:innerShdw blurRad="381000">
                    <a:prstClr val="black">
                      <a:alpha val="10000"/>
                    </a:prstClr>
                  </a:innerShdw>
                </a:effectLst>
              </a:tblPr>
              <a:tblGrid>
                <a:gridCol w="1416662">
                  <a:extLst>
                    <a:ext uri="{9D8B030D-6E8A-4147-A177-3AD203B41FA5}">
                      <a16:colId xmlns:a16="http://schemas.microsoft.com/office/drawing/2014/main" val="259652654"/>
                    </a:ext>
                  </a:extLst>
                </a:gridCol>
                <a:gridCol w="542929">
                  <a:extLst>
                    <a:ext uri="{9D8B030D-6E8A-4147-A177-3AD203B41FA5}">
                      <a16:colId xmlns:a16="http://schemas.microsoft.com/office/drawing/2014/main" val="2297842495"/>
                    </a:ext>
                  </a:extLst>
                </a:gridCol>
                <a:gridCol w="245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013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u="sng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Office 365 Plan 2</a:t>
                      </a:r>
                      <a:endParaRPr lang="en-US" sz="800" b="1" u="sng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$5.00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Automated investigation and response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and end user phishing simulation trainings</a:t>
                      </a:r>
                      <a:endParaRPr lang="en-US" sz="800" b="0" i="0">
                        <a:solidFill>
                          <a:srgbClr val="0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90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Cloud Apps</a:t>
                      </a:r>
                      <a:endParaRPr kumimoji="0" lang="en-US" sz="800" b="1" i="0" u="sng" strike="noStrike" kern="1200" cap="none" spc="0" normalizeH="0" baseline="3000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$3.50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Automatically discover and block apps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 based on risk level, unusual user activity, or data-sharing behavior</a:t>
                      </a:r>
                      <a:endParaRPr lang="en-US" sz="800" b="0" i="0" baseline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606157"/>
                  </a:ext>
                </a:extLst>
              </a:tr>
              <a:tr h="736076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u="none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Entra ID P2</a:t>
                      </a:r>
                      <a:endParaRPr lang="en-US" sz="800" b="1" u="none" kern="12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$9.00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Risk-based conditional access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visibility into risky sign-ins and user behavior anomalies.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ID Governance 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and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Privileged Identity Management</a:t>
                      </a:r>
                      <a:endParaRPr lang="en-US" sz="800" b="0" i="0" kern="12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65125"/>
                  </a:ext>
                </a:extLst>
              </a:tr>
              <a:tr h="539013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Identity</a:t>
                      </a:r>
                      <a:endParaRPr lang="en-US" sz="800" b="1" u="sng" kern="12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$5.50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Identify, detect, and investigate 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advanced threats, compromised identities, and malicious insider actions</a:t>
                      </a: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762922"/>
                  </a:ext>
                </a:extLst>
              </a:tr>
              <a:tr h="539013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Endpoint</a:t>
                      </a:r>
                      <a:r>
                        <a:rPr lang="en-US" sz="8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Plan 2</a:t>
                      </a: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$5.20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EDR with advanced threat hunting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as well as access to threat experts for additional investigations</a:t>
                      </a:r>
                      <a:endParaRPr lang="en-US" sz="800" b="0" i="0" kern="12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678730"/>
                  </a:ext>
                </a:extLst>
              </a:tr>
              <a:tr h="539013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IoT – EIoT</a:t>
                      </a:r>
                      <a:r>
                        <a:rPr lang="en-US" sz="800" b="1" u="sng" kern="1200" baseline="300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</a:t>
                      </a:r>
                      <a:endParaRPr lang="en-US" sz="800" b="1" u="sng" kern="1200" baseline="300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$0.85*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discovery of network devices, vulnerability management, and threat detection and response.</a:t>
                      </a: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928535"/>
                  </a:ext>
                </a:extLst>
              </a:tr>
              <a:tr h="736076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M365 E5 ​eDiscovery &amp; Audit ​</a:t>
                      </a: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$6.00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Integrated tools and deep visibility for legal and compliance teams to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streamline investigations, enforce legal holds, and maintain regulatory readiness</a:t>
                      </a:r>
                      <a:endParaRPr lang="en-US" sz="800" b="0" i="0" kern="120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5950" marR="66675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97632"/>
                  </a:ext>
                </a:extLst>
              </a:tr>
              <a:tr h="736076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Information Protection &amp; Governance</a:t>
                      </a: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$7.00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Classify, protect, and manage sensitive data across its lifecycle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, ensuring secure collaboration and compliance at scale</a:t>
                      </a:r>
                      <a:endParaRPr lang="en-US" sz="800" b="0" i="0" kern="120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2682" marR="32682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77455"/>
                  </a:ext>
                </a:extLst>
              </a:tr>
              <a:tr h="736076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Insider Risk Management</a:t>
                      </a:r>
                    </a:p>
                  </a:txBody>
                  <a:tcPr marL="100013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$6.00</a:t>
                      </a:r>
                    </a:p>
                  </a:txBody>
                  <a:tcPr marL="35950" marR="35950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Detect and mitigate internal threats with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privacy-respecting behavioral analytics and granular communication controls</a:t>
                      </a:r>
                      <a:endParaRPr lang="en-US" sz="800" b="0" i="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2682" marR="32682" marT="32682" marB="32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51723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E677EFB-5162-0315-F0F0-43987902C36F}"/>
              </a:ext>
            </a:extLst>
          </p:cNvPr>
          <p:cNvSpPr txBox="1"/>
          <p:nvPr/>
        </p:nvSpPr>
        <p:spPr>
          <a:xfrm>
            <a:off x="526488" y="7100577"/>
            <a:ext cx="2889250" cy="2019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094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1893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284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0378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473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0568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62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757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8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"/>
                <a:ea typeface="+mn-ea"/>
                <a:cs typeface="+mn-cs"/>
              </a:rPr>
              <a:t>Prices – ERP /per user/per month</a:t>
            </a:r>
            <a:endParaRPr kumimoji="0" lang="en-US" sz="438" b="0" i="0" u="none" strike="noStrike" kern="1200" cap="none" spc="0" normalizeH="0" baseline="0" noProof="0">
              <a:ln>
                <a:noFill/>
              </a:ln>
              <a:gradFill>
                <a:gsLst>
                  <a:gs pos="2917">
                    <a:srgbClr val="000000"/>
                  </a:gs>
                  <a:gs pos="30000">
                    <a:srgbClr val="000000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+mn-ea"/>
              <a:cs typeface="Segoe UI"/>
            </a:endParaRPr>
          </a:p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8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1</a:t>
            </a:r>
            <a:r>
              <a:rPr kumimoji="0" lang="en-US" sz="43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Only provided via Microsoft 365 E5 or Microsoft Defender Suite</a:t>
            </a:r>
          </a:p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8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2</a:t>
            </a:r>
            <a:r>
              <a:rPr kumimoji="0" lang="en-US" sz="43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Per device per month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721547A-3D42-3808-BFC8-B73A66A78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6489" y="1565730"/>
            <a:ext cx="130283" cy="5321113"/>
            <a:chOff x="1646420" y="1472880"/>
            <a:chExt cx="182880" cy="420088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CFD49A-28C9-E09F-572A-C4BE720E2A4A}"/>
                </a:ext>
              </a:extLst>
            </p:cNvPr>
            <p:cNvCxnSpPr>
              <a:cxnSpLocks/>
            </p:cNvCxnSpPr>
            <p:nvPr/>
          </p:nvCxnSpPr>
          <p:spPr>
            <a:xfrm>
              <a:off x="1737860" y="1472880"/>
              <a:ext cx="0" cy="4200883"/>
            </a:xfrm>
            <a:prstGeom prst="line">
              <a:avLst/>
            </a:prstGeom>
            <a:noFill/>
            <a:ln w="19050" cap="flat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A109C7-290A-7015-3DCF-256D3BD64717}"/>
                </a:ext>
              </a:extLst>
            </p:cNvPr>
            <p:cNvCxnSpPr>
              <a:cxnSpLocks/>
            </p:cNvCxnSpPr>
            <p:nvPr/>
          </p:nvCxnSpPr>
          <p:spPr>
            <a:xfrm>
              <a:off x="1646420" y="5673763"/>
              <a:ext cx="182880" cy="0"/>
            </a:xfrm>
            <a:prstGeom prst="line">
              <a:avLst/>
            </a:prstGeom>
            <a:noFill/>
            <a:ln w="19050" cap="rnd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051150-C648-E133-1BB6-B594BE977748}"/>
                </a:ext>
              </a:extLst>
            </p:cNvPr>
            <p:cNvCxnSpPr>
              <a:cxnSpLocks/>
            </p:cNvCxnSpPr>
            <p:nvPr/>
          </p:nvCxnSpPr>
          <p:spPr>
            <a:xfrm>
              <a:off x="1646420" y="1472880"/>
              <a:ext cx="182880" cy="0"/>
            </a:xfrm>
            <a:prstGeom prst="line">
              <a:avLst/>
            </a:prstGeom>
            <a:noFill/>
            <a:ln w="19050" cap="rnd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F872E0B-793C-5A5C-39D1-B14D743A2FFB}"/>
              </a:ext>
            </a:extLst>
          </p:cNvPr>
          <p:cNvSpPr txBox="1"/>
          <p:nvPr/>
        </p:nvSpPr>
        <p:spPr>
          <a:xfrm>
            <a:off x="344022" y="3811212"/>
            <a:ext cx="506331" cy="79945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33338" rIns="33338" anchor="ctr" anchorCtr="0">
            <a:spAutoFit/>
          </a:bodyPr>
          <a:lstStyle>
            <a:defPPr>
              <a:defRPr lang="en-US"/>
            </a:defPPr>
            <a:lvl1pPr marL="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094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1893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284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0378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473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0568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62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757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01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6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91F2C"/>
                    </a:gs>
                    <a:gs pos="100000">
                      <a:srgbClr val="091F2C"/>
                    </a:gs>
                  </a:gsLst>
                  <a:lin ang="5400000" scaled="1"/>
                </a:gra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Segoe UI Semibold"/>
              </a:rPr>
              <a:t>Microsoft Defender and Purview Suites</a:t>
            </a:r>
          </a:p>
          <a:p>
            <a:pPr marL="0" marR="0" lvl="0" indent="0" algn="ctr" defTabSz="6801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6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91F2C"/>
                    </a:gs>
                    <a:gs pos="100000">
                      <a:srgbClr val="091F2C"/>
                    </a:gs>
                  </a:gsLst>
                  <a:lin ang="5400000" scaled="1"/>
                </a:gradFill>
                <a:effectLst/>
                <a:uLnTx/>
                <a:uFillTx/>
                <a:latin typeface="Segoe Sans Display"/>
                <a:ea typeface="Calibri" panose="020F0502020204030204" pitchFamily="34" charset="0"/>
                <a:cs typeface="Segoe UI Semibold"/>
              </a:rPr>
              <a:t>($15.00)</a:t>
            </a:r>
            <a:endParaRPr kumimoji="0" lang="en-US" sz="766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091F2C"/>
                  </a:gs>
                  <a:gs pos="100000">
                    <a:srgbClr val="091F2C"/>
                  </a:gs>
                </a:gsLst>
                <a:lin ang="5400000" scaled="1"/>
              </a:gradFill>
              <a:effectLst/>
              <a:uLnTx/>
              <a:uFillTx/>
              <a:latin typeface="Segoe Sans Display"/>
              <a:ea typeface="+mn-ea"/>
              <a:cs typeface="Segoe UI Semibold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2B7296DD-C2C6-C96D-CAAA-50B400897B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1510" y="479645"/>
            <a:ext cx="4291641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094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1893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284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0378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473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05680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627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7574" algn="l" defTabSz="350947" rtl="0" eaLnBrk="1" latinLnBrk="0" hangingPunct="1">
              <a:defRPr sz="13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get from Business Premium, Defender Suite, and Purview Suite?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2047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01EE-ABA6-13EB-F672-F3A185B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68742">
            <a:extLst>
              <a:ext uri="{FF2B5EF4-FFF2-40B4-BE49-F238E27FC236}">
                <a16:creationId xmlns:a16="http://schemas.microsoft.com/office/drawing/2014/main" id="{9963F151-879F-4558-E6B6-4255986112B0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F283AE0-4FB1-7607-6FCB-9A85B3D6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rcRect l="14306" t="29128" r="12293" b="-1677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  <p:sp>
        <p:nvSpPr>
          <p:cNvPr id="9" name="Upgrade investment snapshot">
            <a:extLst>
              <a:ext uri="{FF2B5EF4-FFF2-40B4-BE49-F238E27FC236}">
                <a16:creationId xmlns:a16="http://schemas.microsoft.com/office/drawing/2014/main" id="{FBD0EA6D-9670-1F46-2E2E-01AE80EFC1A8}"/>
              </a:ext>
            </a:extLst>
          </p:cNvPr>
          <p:cNvSpPr/>
          <p:nvPr/>
        </p:nvSpPr>
        <p:spPr>
          <a:xfrm>
            <a:off x="409575" y="369093"/>
            <a:ext cx="4534376" cy="95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Upgrade investment snapshot from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Standard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Premium, Defender Suite, and Purview Suite </a:t>
            </a:r>
          </a:p>
        </p:txBody>
      </p:sp>
      <p:sp>
        <p:nvSpPr>
          <p:cNvPr id="3" name="Identity and access management Single sign-on for apps and devices and multifactor authentication for work accounts Data compliance Ability to log and search for audited activities with Microsoft Purview Audit Threat protection Automatic spam and malware">
            <a:extLst>
              <a:ext uri="{FF2B5EF4-FFF2-40B4-BE49-F238E27FC236}">
                <a16:creationId xmlns:a16="http://schemas.microsoft.com/office/drawing/2014/main" id="{79B3C482-B6EF-F65E-08E2-9E465EDEC652}"/>
              </a:ext>
            </a:extLst>
          </p:cNvPr>
          <p:cNvSpPr/>
          <p:nvPr/>
        </p:nvSpPr>
        <p:spPr>
          <a:xfrm>
            <a:off x="409575" y="6803533"/>
            <a:ext cx="48482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 Semibold"/>
                <a:cs typeface="Segoe UI Semibold"/>
              </a:rPr>
              <a:t>[NOTE - PLEASE DELETE BEFORE SENDING TO THE CUSTOMER]</a:t>
            </a:r>
            <a:endParaRPr lang="en-US" sz="900" dirty="0"/>
          </a:p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cs typeface="Segoe UI"/>
              </a:rPr>
              <a:t>The calculation above is based on active promos, partner MAICPP status, Microsoft Commercial Incentives, and Microsoft list price, </a:t>
            </a: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and assumes additional information on margins. This is for reference only and subject to change. Please review the calculation, and adjust before sending it to the customer. </a:t>
            </a:r>
            <a:r>
              <a:rPr lang="en-US" sz="70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Microsoft would not be responsible for the content or accuracy of any information/claim made in this document, or for any decisions made based on such information. 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8000CD-7AA0-2CF6-FD50-BD7DD5CFD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266905"/>
              </p:ext>
            </p:extLst>
          </p:nvPr>
        </p:nvGraphicFramePr>
        <p:xfrm>
          <a:off x="388938" y="1525589"/>
          <a:ext cx="4848226" cy="500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5330239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1315371538"/>
                    </a:ext>
                  </a:extLst>
                </a:gridCol>
              </a:tblGrid>
              <a:tr h="573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Current SKU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start_sku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2698"/>
                  </a:ext>
                </a:extLst>
              </a:tr>
              <a:tr h="632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Seats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{seats}​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44630"/>
                  </a:ext>
                </a:extLst>
              </a:tr>
              <a:tr h="64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Current investment​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expiring_arr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51144"/>
                  </a:ext>
                </a:extLst>
              </a:tr>
              <a:tr h="567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Upgrade solution​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target_sku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}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6301"/>
                  </a:ext>
                </a:extLst>
              </a:tr>
              <a:tr h="534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Proposed seats for upgrade​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add_proposed_seat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46251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 cost of the solution 
per user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actual_price_per_user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75551"/>
                  </a:ext>
                </a:extLst>
              </a:tr>
              <a:tr h="548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 cost per user​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incremental_cost_per_user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64146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Total incremental annual investment for {seats} seats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overall_incremental_cost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2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310621" y="1237368"/>
            <a:ext cx="5105977" cy="378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 Regular" pitchFamily="34" charset="0"/>
              <a:ea typeface="Segoe UI Regula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+mn-cs"/>
              </a:rPr>
              <a:t>You can leverage Copilot Chat to customize this section! Add your website URL, upload this flyer on Copilot Chat, and prompt it to write a draft for this section.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216139" y="398146"/>
            <a:ext cx="3635423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Enhance your security posture with [PARTNER NAME]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3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1038</Words>
  <Application>Microsoft Office PowerPoint</Application>
  <PresentationFormat>Custom</PresentationFormat>
  <Paragraphs>116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21" baseType="lpstr">
      <vt:lpstr>Aptos</vt:lpstr>
      <vt:lpstr>Arial</vt:lpstr>
      <vt:lpstr>Calibri</vt:lpstr>
      <vt:lpstr>Segoe Sans Display</vt:lpstr>
      <vt:lpstr>Segoe Sans Display Semibold</vt:lpstr>
      <vt:lpstr>Segoe Sans Display Semilight</vt:lpstr>
      <vt:lpstr>Segoe Sans Text</vt:lpstr>
      <vt:lpstr>Segoe UI</vt:lpstr>
      <vt:lpstr>Segoe UI Bold</vt:lpstr>
      <vt:lpstr>Segoe UI Regular</vt:lpstr>
      <vt:lpstr>Segoe UI Semibold</vt:lpstr>
      <vt:lpstr>Wingdings</vt:lpstr>
      <vt:lpstr>Office Theme</vt:lpstr>
      <vt:lpstr>2_CSP Template Diamond 06/23</vt:lpstr>
      <vt:lpstr>3_CSP Template Diamond 06/23</vt:lpstr>
      <vt:lpstr>1_Office Theme</vt:lpstr>
      <vt:lpstr>Microsoft Defender Suite for Microsoft 365 Business Premium</vt:lpstr>
      <vt:lpstr>Microsoft Purview Suite for Microsoft 365 Business Premium</vt:lpstr>
      <vt:lpstr>What you get from Business Premium, Defender Suite, and Purview Suite?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Jain</cp:lastModifiedBy>
  <cp:revision>13</cp:revision>
  <dcterms:created xsi:type="dcterms:W3CDTF">2026-02-21T17:45:29Z</dcterms:created>
  <dcterms:modified xsi:type="dcterms:W3CDTF">2026-03-02T09:01:42Z</dcterms:modified>
</cp:coreProperties>
</file>