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 id="2147483654" r:id="rId4"/>
  </p:sldMasterIdLst>
  <p:notesMasterIdLst>
    <p:notesMasterId r:id="rId10"/>
  </p:notesMasterIdLst>
  <p:sldIdLst>
    <p:sldId id="2147470016" r:id="rId5"/>
    <p:sldId id="2147470008" r:id="rId6"/>
    <p:sldId id="2147470021" r:id="rId7"/>
    <p:sldId id="2147470014" r:id="rId8"/>
    <p:sldId id="2147470015" r:id="rId9"/>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79116A-F5FB-44D4-B297-46D6BD812662}" v="2" dt="2026-03-02T08:59:43.688"/>
    <p1510:client id="{FB7350E7-7FCD-21AE-9E74-A63ED140BFD2}" v="10" dt="2026-03-02T08:35:55.5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2" d="100"/>
          <a:sy n="92" d="100"/>
        </p:scale>
        <p:origin x="2284" y="60"/>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ya Singh" userId="S::shreya.singh@hsv.digital::b354311e-5542-4a3b-80c7-af4347e0a1ac" providerId="AD" clId="Web-{FB7350E7-7FCD-21AE-9E74-A63ED140BFD2}"/>
    <pc:docChg chg="modSld">
      <pc:chgData name="Shreya Singh" userId="S::shreya.singh@hsv.digital::b354311e-5542-4a3b-80c7-af4347e0a1ac" providerId="AD" clId="Web-{FB7350E7-7FCD-21AE-9E74-A63ED140BFD2}" dt="2026-03-02T08:35:55.566" v="9"/>
      <pc:docMkLst>
        <pc:docMk/>
      </pc:docMkLst>
      <pc:sldChg chg="modSp">
        <pc:chgData name="Shreya Singh" userId="S::shreya.singh@hsv.digital::b354311e-5542-4a3b-80c7-af4347e0a1ac" providerId="AD" clId="Web-{FB7350E7-7FCD-21AE-9E74-A63ED140BFD2}" dt="2026-03-02T08:35:55.566" v="9"/>
        <pc:sldMkLst>
          <pc:docMk/>
          <pc:sldMk cId="1630386862" sldId="2147470008"/>
        </pc:sldMkLst>
        <pc:spChg chg="mod">
          <ac:chgData name="Shreya Singh" userId="S::shreya.singh@hsv.digital::b354311e-5542-4a3b-80c7-af4347e0a1ac" providerId="AD" clId="Web-{FB7350E7-7FCD-21AE-9E74-A63ED140BFD2}" dt="2026-03-02T08:35:40.644" v="5" actId="1076"/>
          <ac:spMkLst>
            <pc:docMk/>
            <pc:sldMk cId="1630386862" sldId="2147470008"/>
            <ac:spMk id="5" creationId="{40A7A011-A5B1-B465-6A3F-B4941EFA893C}"/>
          </ac:spMkLst>
        </pc:spChg>
        <pc:spChg chg="ord">
          <ac:chgData name="Shreya Singh" userId="S::shreya.singh@hsv.digital::b354311e-5542-4a3b-80c7-af4347e0a1ac" providerId="AD" clId="Web-{FB7350E7-7FCD-21AE-9E74-A63ED140BFD2}" dt="2026-03-02T08:35:55.363" v="8"/>
          <ac:spMkLst>
            <pc:docMk/>
            <pc:sldMk cId="1630386862" sldId="2147470008"/>
            <ac:spMk id="32" creationId="{C8230886-385E-3625-B41A-6EB929B3CECD}"/>
          </ac:spMkLst>
        </pc:spChg>
        <pc:spChg chg="mod">
          <ac:chgData name="Shreya Singh" userId="S::shreya.singh@hsv.digital::b354311e-5542-4a3b-80c7-af4347e0a1ac" providerId="AD" clId="Web-{FB7350E7-7FCD-21AE-9E74-A63ED140BFD2}" dt="2026-03-02T08:35:40.566" v="3" actId="1076"/>
          <ac:spMkLst>
            <pc:docMk/>
            <pc:sldMk cId="1630386862" sldId="2147470008"/>
            <ac:spMk id="89" creationId="{2D7F975A-EFFC-ED2A-C751-F90289DD4D12}"/>
          </ac:spMkLst>
        </pc:spChg>
        <pc:grpChg chg="mod">
          <ac:chgData name="Shreya Singh" userId="S::shreya.singh@hsv.digital::b354311e-5542-4a3b-80c7-af4347e0a1ac" providerId="AD" clId="Web-{FB7350E7-7FCD-21AE-9E74-A63ED140BFD2}" dt="2026-03-02T08:35:40.598" v="4" actId="1076"/>
          <ac:grpSpMkLst>
            <pc:docMk/>
            <pc:sldMk cId="1630386862" sldId="2147470008"/>
            <ac:grpSpMk id="24" creationId="{B5803776-5E8B-2132-6273-96CF7F5813DA}"/>
          </ac:grpSpMkLst>
        </pc:grpChg>
        <pc:picChg chg="ord">
          <ac:chgData name="Shreya Singh" userId="S::shreya.singh@hsv.digital::b354311e-5542-4a3b-80c7-af4347e0a1ac" providerId="AD" clId="Web-{FB7350E7-7FCD-21AE-9E74-A63ED140BFD2}" dt="2026-03-02T08:35:55.566" v="9"/>
          <ac:picMkLst>
            <pc:docMk/>
            <pc:sldMk cId="1630386862" sldId="2147470008"/>
            <ac:picMk id="26" creationId="{36292F35-2848-FBFE-9DA2-A06F3BB28FEB}"/>
          </ac:picMkLst>
        </pc:picChg>
        <pc:picChg chg="mod">
          <ac:chgData name="Shreya Singh" userId="S::shreya.singh@hsv.digital::b354311e-5542-4a3b-80c7-af4347e0a1ac" providerId="AD" clId="Web-{FB7350E7-7FCD-21AE-9E74-A63ED140BFD2}" dt="2026-03-02T08:35:43.410" v="7" actId="1076"/>
          <ac:picMkLst>
            <pc:docMk/>
            <pc:sldMk cId="1630386862" sldId="2147470008"/>
            <ac:picMk id="63" creationId="{1F8D7817-2A34-A090-10BB-8A54EB0076A2}"/>
          </ac:picMkLst>
        </pc:picChg>
        <pc:picChg chg="mod">
          <ac:chgData name="Shreya Singh" userId="S::shreya.singh@hsv.digital::b354311e-5542-4a3b-80c7-af4347e0a1ac" providerId="AD" clId="Web-{FB7350E7-7FCD-21AE-9E74-A63ED140BFD2}" dt="2026-03-02T08:35:24.582" v="0" actId="14100"/>
          <ac:picMkLst>
            <pc:docMk/>
            <pc:sldMk cId="1630386862" sldId="2147470008"/>
            <ac:picMk id="67" creationId="{935D4737-AF15-D2BD-A0CA-A169A8D5D2C5}"/>
          </ac:picMkLst>
        </pc:picChg>
      </pc:sldChg>
    </pc:docChg>
  </pc:docChgLst>
  <pc:docChgLst>
    <pc:chgData name="Praveen Dehury" userId="77009b3f-ee31-425d-b17c-2f6ea73f5149" providerId="ADAL" clId="{B729CC40-C5D3-4DFA-B500-D02C8BD993D7}"/>
    <pc:docChg chg="addSld delSld modSld">
      <pc:chgData name="Praveen Dehury" userId="77009b3f-ee31-425d-b17c-2f6ea73f5149" providerId="ADAL" clId="{B729CC40-C5D3-4DFA-B500-D02C8BD993D7}" dt="2026-02-28T11:50:17.760" v="7"/>
      <pc:docMkLst>
        <pc:docMk/>
      </pc:docMkLst>
      <pc:sldChg chg="modSp add mod">
        <pc:chgData name="Praveen Dehury" userId="77009b3f-ee31-425d-b17c-2f6ea73f5149" providerId="ADAL" clId="{B729CC40-C5D3-4DFA-B500-D02C8BD993D7}" dt="2026-02-28T11:50:17.760" v="7"/>
        <pc:sldMkLst>
          <pc:docMk/>
          <pc:sldMk cId="2830339352" sldId="2147470014"/>
        </pc:sldMkLst>
        <pc:spChg chg="mod">
          <ac:chgData name="Praveen Dehury" userId="77009b3f-ee31-425d-b17c-2f6ea73f5149" providerId="ADAL" clId="{B729CC40-C5D3-4DFA-B500-D02C8BD993D7}" dt="2026-02-28T11:50:17.760" v="7"/>
          <ac:spMkLst>
            <pc:docMk/>
            <pc:sldMk cId="2830339352" sldId="2147470014"/>
            <ac:spMk id="3" creationId="{79B3C482-B6EF-F65E-08E2-9E465EDEC652}"/>
          </ac:spMkLst>
        </pc:spChg>
        <pc:spChg chg="mod">
          <ac:chgData name="Praveen Dehury" userId="77009b3f-ee31-425d-b17c-2f6ea73f5149" providerId="ADAL" clId="{B729CC40-C5D3-4DFA-B500-D02C8BD993D7}" dt="2026-02-28T10:25:36.266" v="5" actId="207"/>
          <ac:spMkLst>
            <pc:docMk/>
            <pc:sldMk cId="2830339352" sldId="2147470014"/>
            <ac:spMk id="9" creationId="{FBD0EA6D-9670-1F46-2E2E-01AE80EFC1A8}"/>
          </ac:spMkLst>
        </pc:spChg>
      </pc:sldChg>
      <pc:sldChg chg="add">
        <pc:chgData name="Praveen Dehury" userId="77009b3f-ee31-425d-b17c-2f6ea73f5149" providerId="ADAL" clId="{B729CC40-C5D3-4DFA-B500-D02C8BD993D7}" dt="2026-02-28T10:25:11.902" v="0"/>
        <pc:sldMkLst>
          <pc:docMk/>
          <pc:sldMk cId="243175164" sldId="2147470015"/>
        </pc:sldMkLst>
      </pc:sldChg>
    </pc:docChg>
  </pc:docChgLst>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3-02T08:59:46.854" v="53" actId="1035"/>
      <pc:docMkLst>
        <pc:docMk/>
      </pc:docMkLst>
      <pc:sldChg chg="del">
        <pc:chgData name="Vandan Jain" userId="4244b45b-25d1-413d-855b-6597e767c081" providerId="ADAL" clId="{67AB2A15-26B8-47FB-BEC6-EFDC03C3B3B6}" dt="2026-03-02T08:27:09.725" v="1" actId="47"/>
        <pc:sldMkLst>
          <pc:docMk/>
          <pc:sldMk cId="0" sldId="256"/>
        </pc:sldMkLst>
      </pc:sldChg>
      <pc:sldChg chg="del">
        <pc:chgData name="Vandan Jain" userId="4244b45b-25d1-413d-855b-6597e767c081" providerId="ADAL" clId="{67AB2A15-26B8-47FB-BEC6-EFDC03C3B3B6}" dt="2026-03-02T08:27:13.591" v="2" actId="47"/>
        <pc:sldMkLst>
          <pc:docMk/>
          <pc:sldMk cId="0" sldId="260"/>
        </pc:sldMkLst>
      </pc:sldChg>
      <pc:sldChg chg="modSp add mod">
        <pc:chgData name="Vandan Jain" userId="4244b45b-25d1-413d-855b-6597e767c081" providerId="ADAL" clId="{67AB2A15-26B8-47FB-BEC6-EFDC03C3B3B6}" dt="2026-03-02T08:59:38.529" v="21" actId="14100"/>
        <pc:sldMkLst>
          <pc:docMk/>
          <pc:sldMk cId="1630386862" sldId="2147470008"/>
        </pc:sldMkLst>
        <pc:spChg chg="mod">
          <ac:chgData name="Vandan Jain" userId="4244b45b-25d1-413d-855b-6597e767c081" providerId="ADAL" clId="{67AB2A15-26B8-47FB-BEC6-EFDC03C3B3B6}" dt="2026-03-02T08:59:38.529" v="21" actId="14100"/>
          <ac:spMkLst>
            <pc:docMk/>
            <pc:sldMk cId="1630386862" sldId="2147470008"/>
            <ac:spMk id="32" creationId="{C8230886-385E-3625-B41A-6EB929B3CECD}"/>
          </ac:spMkLst>
        </pc:spChg>
      </pc:sldChg>
      <pc:sldChg chg="addSp delSp modSp mod">
        <pc:chgData name="Vandan Jain" userId="4244b45b-25d1-413d-855b-6597e767c081" providerId="ADAL" clId="{67AB2A15-26B8-47FB-BEC6-EFDC03C3B3B6}" dt="2026-03-02T08:59:46.854" v="53" actId="1035"/>
        <pc:sldMkLst>
          <pc:docMk/>
          <pc:sldMk cId="2830339352" sldId="2147470014"/>
        </pc:sldMkLst>
        <pc:spChg chg="del">
          <ac:chgData name="Vandan Jain" userId="4244b45b-25d1-413d-855b-6597e767c081" providerId="ADAL" clId="{67AB2A15-26B8-47FB-BEC6-EFDC03C3B3B6}" dt="2026-03-02T08:59:43.379" v="22" actId="478"/>
          <ac:spMkLst>
            <pc:docMk/>
            <pc:sldMk cId="2830339352" sldId="2147470014"/>
            <ac:spMk id="33" creationId="{11B08FFE-4B4A-EB5A-4866-8C40B76594CC}"/>
          </ac:spMkLst>
        </pc:spChg>
        <pc:graphicFrameChg chg="add mod">
          <ac:chgData name="Vandan Jain" userId="4244b45b-25d1-413d-855b-6597e767c081" providerId="ADAL" clId="{67AB2A15-26B8-47FB-BEC6-EFDC03C3B3B6}" dt="2026-03-02T08:59:46.854" v="53" actId="1035"/>
          <ac:graphicFrameMkLst>
            <pc:docMk/>
            <pc:sldMk cId="2830339352" sldId="2147470014"/>
            <ac:graphicFrameMk id="2" creationId="{784CE04A-1FB3-396C-64C8-76EA83D8C209}"/>
          </ac:graphicFrameMkLst>
        </pc:graphicFrameChg>
        <pc:graphicFrameChg chg="del">
          <ac:chgData name="Vandan Jain" userId="4244b45b-25d1-413d-855b-6597e767c081" providerId="ADAL" clId="{67AB2A15-26B8-47FB-BEC6-EFDC03C3B3B6}" dt="2026-03-02T08:59:43.379" v="22" actId="478"/>
          <ac:graphicFrameMkLst>
            <pc:docMk/>
            <pc:sldMk cId="2830339352" sldId="2147470014"/>
            <ac:graphicFrameMk id="29" creationId="{4E7BB84D-9E35-CF2D-933A-F2164B5B640D}"/>
          </ac:graphicFrameMkLst>
        </pc:graphicFrameChg>
        <pc:picChg chg="del">
          <ac:chgData name="Vandan Jain" userId="4244b45b-25d1-413d-855b-6597e767c081" providerId="ADAL" clId="{67AB2A15-26B8-47FB-BEC6-EFDC03C3B3B6}" dt="2026-03-02T08:59:43.379" v="22" actId="478"/>
          <ac:picMkLst>
            <pc:docMk/>
            <pc:sldMk cId="2830339352" sldId="2147470014"/>
            <ac:picMk id="4" creationId="{65D2BE78-60C7-309F-967D-DB03F5F86A01}"/>
          </ac:picMkLst>
        </pc:picChg>
        <pc:cxnChg chg="del">
          <ac:chgData name="Vandan Jain" userId="4244b45b-25d1-413d-855b-6597e767c081" providerId="ADAL" clId="{67AB2A15-26B8-47FB-BEC6-EFDC03C3B3B6}" dt="2026-03-02T08:59:43.379" v="22" actId="478"/>
          <ac:cxnSpMkLst>
            <pc:docMk/>
            <pc:sldMk cId="2830339352" sldId="2147470014"/>
            <ac:cxnSpMk id="6" creationId="{1952BBF0-F332-6F68-FCA0-2C1BC213E0F2}"/>
          </ac:cxnSpMkLst>
        </pc:cxnChg>
        <pc:cxnChg chg="del">
          <ac:chgData name="Vandan Jain" userId="4244b45b-25d1-413d-855b-6597e767c081" providerId="ADAL" clId="{67AB2A15-26B8-47FB-BEC6-EFDC03C3B3B6}" dt="2026-03-02T08:59:43.379" v="22" actId="478"/>
          <ac:cxnSpMkLst>
            <pc:docMk/>
            <pc:sldMk cId="2830339352" sldId="2147470014"/>
            <ac:cxnSpMk id="36" creationId="{F7DEC3EF-4F58-6C4A-6003-C653D43A657F}"/>
          </ac:cxnSpMkLst>
        </pc:cxnChg>
        <pc:cxnChg chg="del">
          <ac:chgData name="Vandan Jain" userId="4244b45b-25d1-413d-855b-6597e767c081" providerId="ADAL" clId="{67AB2A15-26B8-47FB-BEC6-EFDC03C3B3B6}" dt="2026-03-02T08:59:43.379" v="22" actId="478"/>
          <ac:cxnSpMkLst>
            <pc:docMk/>
            <pc:sldMk cId="2830339352" sldId="2147470014"/>
            <ac:cxnSpMk id="37" creationId="{4FE8A8B7-B1C7-388B-2224-F7272B5F3979}"/>
          </ac:cxnSpMkLst>
        </pc:cxnChg>
        <pc:cxnChg chg="del">
          <ac:chgData name="Vandan Jain" userId="4244b45b-25d1-413d-855b-6597e767c081" providerId="ADAL" clId="{67AB2A15-26B8-47FB-BEC6-EFDC03C3B3B6}" dt="2026-03-02T08:59:43.379" v="22" actId="478"/>
          <ac:cxnSpMkLst>
            <pc:docMk/>
            <pc:sldMk cId="2830339352" sldId="2147470014"/>
            <ac:cxnSpMk id="38" creationId="{E75709A2-CB82-9CE6-8820-C613FA844A97}"/>
          </ac:cxnSpMkLst>
        </pc:cxnChg>
        <pc:cxnChg chg="del">
          <ac:chgData name="Vandan Jain" userId="4244b45b-25d1-413d-855b-6597e767c081" providerId="ADAL" clId="{67AB2A15-26B8-47FB-BEC6-EFDC03C3B3B6}" dt="2026-03-02T08:59:43.379" v="22" actId="478"/>
          <ac:cxnSpMkLst>
            <pc:docMk/>
            <pc:sldMk cId="2830339352" sldId="2147470014"/>
            <ac:cxnSpMk id="39" creationId="{186A2F42-4516-71B2-0981-A0D3083991C8}"/>
          </ac:cxnSpMkLst>
        </pc:cxnChg>
        <pc:cxnChg chg="del">
          <ac:chgData name="Vandan Jain" userId="4244b45b-25d1-413d-855b-6597e767c081" providerId="ADAL" clId="{67AB2A15-26B8-47FB-BEC6-EFDC03C3B3B6}" dt="2026-03-02T08:59:43.379" v="22" actId="478"/>
          <ac:cxnSpMkLst>
            <pc:docMk/>
            <pc:sldMk cId="2830339352" sldId="2147470014"/>
            <ac:cxnSpMk id="40" creationId="{838813B3-0AF8-28F8-0DB3-A2D67FE29936}"/>
          </ac:cxnSpMkLst>
        </pc:cxnChg>
        <pc:cxnChg chg="del">
          <ac:chgData name="Vandan Jain" userId="4244b45b-25d1-413d-855b-6597e767c081" providerId="ADAL" clId="{67AB2A15-26B8-47FB-BEC6-EFDC03C3B3B6}" dt="2026-03-02T08:59:43.379" v="22" actId="478"/>
          <ac:cxnSpMkLst>
            <pc:docMk/>
            <pc:sldMk cId="2830339352" sldId="2147470014"/>
            <ac:cxnSpMk id="41" creationId="{5D0ABD50-0663-D5B6-17A1-7728958B21BD}"/>
          </ac:cxnSpMkLst>
        </pc:cxnChg>
      </pc:sldChg>
      <pc:sldChg chg="modSp add mod">
        <pc:chgData name="Vandan Jain" userId="4244b45b-25d1-413d-855b-6597e767c081" providerId="ADAL" clId="{67AB2A15-26B8-47FB-BEC6-EFDC03C3B3B6}" dt="2026-03-02T08:59:33.133" v="18" actId="20577"/>
        <pc:sldMkLst>
          <pc:docMk/>
          <pc:sldMk cId="4067805866" sldId="2147470016"/>
        </pc:sldMkLst>
        <pc:spChg chg="mod">
          <ac:chgData name="Vandan Jain" userId="4244b45b-25d1-413d-855b-6597e767c081" providerId="ADAL" clId="{67AB2A15-26B8-47FB-BEC6-EFDC03C3B3B6}" dt="2026-03-02T08:59:33.133" v="18" actId="20577"/>
          <ac:spMkLst>
            <pc:docMk/>
            <pc:sldMk cId="4067805866" sldId="2147470016"/>
            <ac:spMk id="32" creationId="{F30B6FEB-AEE6-4C74-E944-EEC317349239}"/>
          </ac:spMkLst>
        </pc:spChg>
      </pc:sldChg>
      <pc:sldChg chg="add">
        <pc:chgData name="Vandan Jain" userId="4244b45b-25d1-413d-855b-6597e767c081" providerId="ADAL" clId="{67AB2A15-26B8-47FB-BEC6-EFDC03C3B3B6}" dt="2026-03-02T08:27:07.354" v="0"/>
        <pc:sldMkLst>
          <pc:docMk/>
          <pc:sldMk cId="3120473942" sldId="214747002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5318-1E4E-D370-07A1-B1B85C02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7E049-FB12-9D74-496D-19F013537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29952-98D1-B466-F992-96E240860A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4CEF061E-0607-1711-EEB1-A31E6AEBBB1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63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6E8D2-FFAE-E855-3EDF-7A10B0F8EA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7E8A82-F3CF-8B35-A6AA-F8E89C7E565F}"/>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21B8B415-73A4-A9F6-E5EE-799E6F636C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D058C56-E71D-4F43-486B-039897A8767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3099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928299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037482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8251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889952"/>
            <a:ext cx="4817269" cy="1214756"/>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42951"/>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17321782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2.sv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11132843"/>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3866187114"/>
      </p:ext>
    </p:extLst>
  </p:cSld>
  <p:clrMap bg1="lt1" tx1="dk1" bg2="lt2" tx2="dk2" accent1="accent1" accent2="accent2" accent3="accent3" accent4="accent4" accent5="accent5" accent6="accent6" hlink="hlink" folHlink="folHlink"/>
  <p:sldLayoutIdLst>
    <p:sldLayoutId id="2147483653"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99536"/>
      </p:ext>
    </p:extLst>
  </p:cSld>
  <p:clrMap bg1="lt1" tx1="dk1" bg2="lt2" tx2="dk2" accent1="accent1" accent2="accent2" accent3="accent3" accent4="accent4" accent5="accent5" accent6="accent6" hlink="hlink" folHlink="folHlink"/>
  <p:sldLayoutIdLst>
    <p:sldLayoutId id="2147483655" r:id="rId1"/>
    <p:sldLayoutId id="2147483656"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3.png"/><Relationship Id="rId7" Type="http://schemas.openxmlformats.org/officeDocument/2006/relationships/hyperlink" Target="https://www.microsoft.com/en-us/security/blog/2022/02/17/4-best-practices-to-implement-a-comprehensive-zero-trust-security-approach/" TargetMode="External"/><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notesSlide" Target="../notesSlides/notesSlide1.xml"/><Relationship Id="rId16"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image" Target="../media/image10.svg"/><Relationship Id="rId5" Type="http://schemas.openxmlformats.org/officeDocument/2006/relationships/image" Target="../media/image5.pn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image" Target="../media/image20.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6.svg"/><Relationship Id="rId5" Type="http://schemas.openxmlformats.org/officeDocument/2006/relationships/image" Target="../media/image18.png"/><Relationship Id="rId10" Type="http://schemas.openxmlformats.org/officeDocument/2006/relationships/image" Target="../media/image5.png"/><Relationship Id="rId4" Type="http://schemas.openxmlformats.org/officeDocument/2006/relationships/image" Target="../media/image17.png"/><Relationship Id="rId9" Type="http://schemas.openxmlformats.org/officeDocument/2006/relationships/image" Target="../media/image22.svg"/></Relationships>
</file>

<file path=ppt/slides/_rels/slide3.xml.rels><?xml version="1.0" encoding="UTF-8" standalone="yes"?>
<Relationships xmlns="http://schemas.openxmlformats.org/package/2006/relationships"><Relationship Id="rId8" Type="http://schemas.openxmlformats.org/officeDocument/2006/relationships/hyperlink" Target="https://learn.microsoft.com/en-us/azure/active-directory/fundamentals/whatis" TargetMode="External"/><Relationship Id="rId3" Type="http://schemas.openxmlformats.org/officeDocument/2006/relationships/image" Target="../media/image23.png"/><Relationship Id="rId7" Type="http://schemas.openxmlformats.org/officeDocument/2006/relationships/hyperlink" Target="https://www.microsoft.com/en-us/security/business/cloud-app-security" TargetMode="Externa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hyperlink" Target="https://docs.microsoft.com/en-us/microsoft-365/security/office-365-security/?view=o365-worldwide" TargetMode="External"/><Relationship Id="rId11" Type="http://schemas.openxmlformats.org/officeDocument/2006/relationships/hyperlink" Target="https://learn.microsoft.com/en-us/azure/defender-for-iot/organizations/manage-subscriptions-enterprise" TargetMode="External"/><Relationship Id="rId5" Type="http://schemas.openxmlformats.org/officeDocument/2006/relationships/image" Target="../media/image25.png"/><Relationship Id="rId10" Type="http://schemas.openxmlformats.org/officeDocument/2006/relationships/hyperlink" Target="https://docs.microsoft.com/en-us/microsoft-365/security/defender-endpoint/?view=o365-worldwide" TargetMode="External"/><Relationship Id="rId4" Type="http://schemas.openxmlformats.org/officeDocument/2006/relationships/image" Target="../media/image24.png"/><Relationship Id="rId9" Type="http://schemas.openxmlformats.org/officeDocument/2006/relationships/hyperlink" Target="https://docs.microsoft.com/en-us/defender-for-identity/?view=o365-worldwide"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BE4BB-97CC-CA0A-FFBC-F89DE89D19F4}"/>
            </a:ext>
          </a:extLst>
        </p:cNvPr>
        <p:cNvGrpSpPr/>
        <p:nvPr/>
      </p:nvGrpSpPr>
      <p:grpSpPr>
        <a:xfrm>
          <a:off x="0" y="0"/>
          <a:ext cx="0" cy="0"/>
          <a:chOff x="0" y="0"/>
          <a:chExt cx="0" cy="0"/>
        </a:xfrm>
      </p:grpSpPr>
      <p:pic>
        <p:nvPicPr>
          <p:cNvPr id="51" name="Rectangle 3468742" descr="preencoded.png">
            <a:extLst>
              <a:ext uri="{FF2B5EF4-FFF2-40B4-BE49-F238E27FC236}">
                <a16:creationId xmlns:a16="http://schemas.microsoft.com/office/drawing/2014/main" id="{BFF46BAB-9533-7D37-D484-C2349D03577B}"/>
              </a:ext>
            </a:extLst>
          </p:cNvPr>
          <p:cNvPicPr>
            <a:picLocks noChangeAspect="1"/>
          </p:cNvPicPr>
          <p:nvPr/>
        </p:nvPicPr>
        <p:blipFill>
          <a:blip r:embed="rId3"/>
          <a:srcRect t="1" b="17144"/>
          <a:stretch>
            <a:fillRect/>
          </a:stretch>
        </p:blipFill>
        <p:spPr>
          <a:xfrm>
            <a:off x="0" y="342900"/>
            <a:ext cx="5667374" cy="7677149"/>
          </a:xfrm>
          <a:prstGeom prst="rect">
            <a:avLst/>
          </a:prstGeom>
        </p:spPr>
      </p:pic>
      <p:pic>
        <p:nvPicPr>
          <p:cNvPr id="72" name="Picture 71">
            <a:extLst>
              <a:ext uri="{FF2B5EF4-FFF2-40B4-BE49-F238E27FC236}">
                <a16:creationId xmlns:a16="http://schemas.microsoft.com/office/drawing/2014/main" id="{C559E1BB-F98E-571B-2C8F-760632D7CD71}"/>
              </a:ext>
            </a:extLst>
          </p:cNvPr>
          <p:cNvPicPr>
            <a:picLocks noChangeAspect="1"/>
          </p:cNvPicPr>
          <p:nvPr/>
        </p:nvPicPr>
        <p:blipFill>
          <a:blip r:embed="rId4"/>
          <a:stretch>
            <a:fillRect/>
          </a:stretch>
        </p:blipFill>
        <p:spPr>
          <a:xfrm flipH="1">
            <a:off x="-4298" y="86"/>
            <a:ext cx="5671672" cy="1417918"/>
          </a:xfrm>
          <a:prstGeom prst="rect">
            <a:avLst/>
          </a:prstGeom>
        </p:spPr>
      </p:pic>
      <p:sp>
        <p:nvSpPr>
          <p:cNvPr id="66" name="Rectangle: Rounded Corners 65">
            <a:extLst>
              <a:ext uri="{FF2B5EF4-FFF2-40B4-BE49-F238E27FC236}">
                <a16:creationId xmlns:a16="http://schemas.microsoft.com/office/drawing/2014/main" id="{20E541FA-397B-06A1-8116-BCFA09464965}"/>
              </a:ext>
            </a:extLst>
          </p:cNvPr>
          <p:cNvSpPr/>
          <p:nvPr/>
        </p:nvSpPr>
        <p:spPr bwMode="auto">
          <a:xfrm>
            <a:off x="270487" y="1668947"/>
            <a:ext cx="1469495" cy="2469254"/>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5163C4AA-CD72-86F0-9D5C-40BEE0D737B9}"/>
              </a:ext>
            </a:extLst>
          </p:cNvPr>
          <p:cNvSpPr/>
          <p:nvPr/>
        </p:nvSpPr>
        <p:spPr bwMode="auto">
          <a:xfrm>
            <a:off x="-1" y="0"/>
            <a:ext cx="5667375" cy="1396789"/>
          </a:xfrm>
          <a:prstGeom prst="rect">
            <a:avLst/>
          </a:prstGeom>
          <a:solidFill>
            <a:srgbClr val="F2E5DE">
              <a:alpha val="62000"/>
            </a:srgbClr>
          </a:solidFill>
          <a:ln>
            <a:solidFill>
              <a:schemeClr val="bg1">
                <a:lumMod val="95000"/>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2" name="Title 31">
            <a:extLst>
              <a:ext uri="{FF2B5EF4-FFF2-40B4-BE49-F238E27FC236}">
                <a16:creationId xmlns:a16="http://schemas.microsoft.com/office/drawing/2014/main" id="{F30B6FEB-AEE6-4C74-E944-EEC317349239}"/>
              </a:ext>
            </a:extLst>
          </p:cNvPr>
          <p:cNvSpPr txBox="1">
            <a:spLocks noGrp="1"/>
          </p:cNvSpPr>
          <p:nvPr>
            <p:ph type="title" idx="4294967295"/>
          </p:nvPr>
        </p:nvSpPr>
        <p:spPr>
          <a:xfrm>
            <a:off x="270487" y="552371"/>
            <a:ext cx="397216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chemeClr val="tx1">
                    <a:lumMod val="95000"/>
                    <a:lumOff val="5000"/>
                  </a:schemeClr>
                </a:solidFill>
                <a:latin typeface="Segoe Sans Display Semibold" pitchFamily="2" charset="0"/>
                <a:cs typeface="Segoe Sans Display Semibold" pitchFamily="2" charset="0"/>
              </a:rPr>
              <a:t>Microsoft Defender Suite for Microsoft 365 Business Premium</a:t>
            </a:r>
          </a:p>
        </p:txBody>
      </p:sp>
      <p:sp>
        <p:nvSpPr>
          <p:cNvPr id="17" name="TextBox 16">
            <a:extLst>
              <a:ext uri="{FF2B5EF4-FFF2-40B4-BE49-F238E27FC236}">
                <a16:creationId xmlns:a16="http://schemas.microsoft.com/office/drawing/2014/main" id="{C205F477-06BB-0464-B7D7-F14F37D38EC1}"/>
              </a:ext>
            </a:extLst>
          </p:cNvPr>
          <p:cNvSpPr txBox="1">
            <a:spLocks/>
          </p:cNvSpPr>
          <p:nvPr/>
        </p:nvSpPr>
        <p:spPr>
          <a:xfrm>
            <a:off x="1896592" y="1714916"/>
            <a:ext cx="3670004" cy="179601"/>
          </a:xfrm>
          <a:prstGeom prst="rect">
            <a:avLst/>
          </a:prstGeom>
          <a:noFill/>
        </p:spPr>
        <p:txBody>
          <a:bodyPr wrap="square" lIns="0" tIns="0" rIns="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600" b="0" i="0" u="none" strike="noStrike" cap="none" spc="0" normalizeH="0" baseline="0">
                <a:ln>
                  <a:noFill/>
                </a:ln>
                <a:solidFill>
                  <a:schemeClr val="accent1"/>
                </a:solidFill>
                <a:effectLst/>
                <a:uLnTx/>
                <a:uFillTx/>
                <a:latin typeface="Segoe Sans Display Semibold" pitchFamily="2" charset="0"/>
                <a:cs typeface="Segoe Sans Display Semibold" pitchFamily="2" charset="0"/>
              </a:defRPr>
            </a:lvl1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srgbClr val="C03BC4"/>
                </a:solidFill>
                <a:effectLst/>
                <a:uLnTx/>
                <a:uFillTx/>
                <a:latin typeface="Segoe Sans Display Semibold" pitchFamily="2" charset="0"/>
                <a:ea typeface="+mn-ea"/>
                <a:cs typeface="Segoe Sans Display Semibold" pitchFamily="2" charset="0"/>
              </a:rPr>
              <a:t>Enhanced protection with Microsoft Defender Suite</a:t>
            </a:r>
          </a:p>
        </p:txBody>
      </p:sp>
      <p:pic>
        <p:nvPicPr>
          <p:cNvPr id="26" name="Graphic 25" descr="Microsoft Security">
            <a:extLst>
              <a:ext uri="{FF2B5EF4-FFF2-40B4-BE49-F238E27FC236}">
                <a16:creationId xmlns:a16="http://schemas.microsoft.com/office/drawing/2014/main" id="{C05D0F52-F000-4B6A-9F4C-E053389E1EA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bwMode="black">
          <a:xfrm>
            <a:off x="293699" y="228034"/>
            <a:ext cx="1319835" cy="167302"/>
          </a:xfrm>
          <a:prstGeom prst="rect">
            <a:avLst/>
          </a:prstGeom>
        </p:spPr>
      </p:pic>
      <p:sp>
        <p:nvSpPr>
          <p:cNvPr id="64" name="TextBox 63">
            <a:extLst>
              <a:ext uri="{FF2B5EF4-FFF2-40B4-BE49-F238E27FC236}">
                <a16:creationId xmlns:a16="http://schemas.microsoft.com/office/drawing/2014/main" id="{8EF4C970-0AEB-3507-DC4C-9293BE9B49C6}"/>
              </a:ext>
            </a:extLst>
          </p:cNvPr>
          <p:cNvSpPr txBox="1">
            <a:spLocks/>
          </p:cNvSpPr>
          <p:nvPr/>
        </p:nvSpPr>
        <p:spPr>
          <a:xfrm>
            <a:off x="1899194" y="1985083"/>
            <a:ext cx="3470238" cy="2141612"/>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Microsoft Defender Suite for Business Premium provides your organization with the advanced security capabilities, delivering comprehensive protection and response across identities, endpoints, apps, and email threats.</a:t>
            </a: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Zero Trust across your entire digital estate―</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Assume breach, verify each request, and fully authenticate and authorize every request before granting access.</a:t>
            </a: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Unified exposure management―</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Continuously assess security posture, enable </a:t>
            </a:r>
            <a:r>
              <a:rPr kumimoji="0" lang="en-US" sz="1000" b="0" i="0" u="none" strike="noStrike" kern="1200" cap="none" spc="0" normalizeH="0" baseline="0" noProof="0">
                <a:ln>
                  <a:noFill/>
                </a:ln>
                <a:solidFill>
                  <a:srgbClr val="000000"/>
                </a:solidFill>
                <a:effectLst/>
                <a:uLnTx/>
                <a:uFillTx/>
                <a:latin typeface="Segoe UI"/>
                <a:ea typeface="+mn-ea"/>
                <a:cs typeface="+mn-cs"/>
              </a:rPr>
              <a:t>proactive risk management and protection of assets.</a:t>
            </a: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Unified security operations platform</a:t>
            </a:r>
            <a:r>
              <a:rPr kumimoji="0" lang="en-US" sz="1000" b="0" i="0" u="none" strike="noStrike" kern="1200" cap="none" spc="0" normalizeH="0" baseline="0" noProof="0">
                <a:ln>
                  <a:noFill/>
                </a:ln>
                <a:solidFill>
                  <a:srgbClr val="000000"/>
                </a:solidFill>
                <a:effectLst/>
                <a:uLnTx/>
                <a:uFillTx/>
                <a:latin typeface="Segoe UI"/>
                <a:ea typeface="+mn-ea"/>
                <a:cs typeface="+mn-cs"/>
              </a:rPr>
              <a:t>―Leverage a single, integrated solution for end-to-end security operations, enhancing </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efficiency and protection across your entire digital estate.</a:t>
            </a:r>
          </a:p>
        </p:txBody>
      </p:sp>
      <p:sp>
        <p:nvSpPr>
          <p:cNvPr id="100" name="TextBox 99">
            <a:extLst>
              <a:ext uri="{FF2B5EF4-FFF2-40B4-BE49-F238E27FC236}">
                <a16:creationId xmlns:a16="http://schemas.microsoft.com/office/drawing/2014/main" id="{93C1B656-5955-227B-9548-2076AEB994D3}"/>
              </a:ext>
            </a:extLst>
          </p:cNvPr>
          <p:cNvSpPr txBox="1"/>
          <p:nvPr/>
        </p:nvSpPr>
        <p:spPr>
          <a:xfrm>
            <a:off x="280997" y="7704113"/>
            <a:ext cx="5113973" cy="100925"/>
          </a:xfrm>
          <a:prstGeom prst="rect">
            <a:avLst/>
          </a:prstGeom>
          <a:noFill/>
        </p:spPr>
        <p:txBody>
          <a:bodyPr wrap="square" lIns="0" tIns="0" rIns="0" bIns="0" rtlCol="0">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656" b="0" i="0" u="none" strike="noStrike" kern="1200" cap="none" spc="0" normalizeH="0" baseline="30000" noProof="0">
                <a:ln>
                  <a:noFill/>
                </a:ln>
                <a:solidFill>
                  <a:srgbClr val="000000"/>
                </a:solidFill>
                <a:effectLst/>
                <a:uLnTx/>
                <a:uFillTx/>
                <a:latin typeface="Segoe Sans Display" pitchFamily="2" charset="0"/>
                <a:ea typeface="+mn-ea"/>
                <a:cs typeface="Segoe Sans Display" pitchFamily="2" charset="0"/>
              </a:rPr>
              <a:t>1 </a:t>
            </a:r>
            <a:r>
              <a:rPr kumimoji="0" lang="en-US" sz="656" b="0" i="0" u="none" strike="noStrike" kern="1200" cap="none" spc="0" normalizeH="0" baseline="0" noProof="0">
                <a:ln>
                  <a:noFill/>
                </a:ln>
                <a:solidFill>
                  <a:srgbClr val="000000"/>
                </a:solidFill>
                <a:effectLst/>
                <a:uLnTx/>
                <a:uFillTx/>
                <a:latin typeface="Segoe Sans Text" pitchFamily="2" charset="0"/>
                <a:ea typeface="+mn-ea"/>
                <a:cs typeface="+mn-cs"/>
                <a:hlinkClick r:id="rId7"/>
              </a:rPr>
              <a:t>Source: Microsoft</a:t>
            </a:r>
            <a:r>
              <a:rPr kumimoji="0" lang="en-US" sz="656" b="0" i="0" u="none" strike="noStrike" kern="1200" cap="none" spc="0" normalizeH="0" baseline="0" noProof="0">
                <a:ln>
                  <a:noFill/>
                </a:ln>
                <a:solidFill>
                  <a:srgbClr val="000000"/>
                </a:solidFill>
                <a:effectLst/>
                <a:uLnTx/>
                <a:uFillTx/>
                <a:latin typeface="Segoe Sans Text" pitchFamily="2" charset="0"/>
                <a:ea typeface="+mn-ea"/>
                <a:cs typeface="+mn-cs"/>
              </a:rPr>
              <a:t> 	</a:t>
            </a:r>
            <a:r>
              <a:rPr kumimoji="0" lang="en-US" sz="656" b="0" i="0" u="none" strike="noStrike" kern="1200" cap="none" spc="0" normalizeH="0" baseline="30000" noProof="0">
                <a:ln>
                  <a:noFill/>
                </a:ln>
                <a:solidFill>
                  <a:srgbClr val="000000"/>
                </a:solidFill>
                <a:effectLst/>
                <a:uLnTx/>
                <a:uFillTx/>
                <a:latin typeface="Segoe Sans Display" pitchFamily="2" charset="0"/>
                <a:ea typeface="+mn-ea"/>
                <a:cs typeface="Segoe Sans Display" pitchFamily="2" charset="0"/>
              </a:rPr>
              <a:t>2 </a:t>
            </a:r>
            <a:r>
              <a:rPr kumimoji="0" lang="en-US" sz="656" b="0" i="0" u="none" strike="noStrike" kern="1200" cap="none" spc="0" normalizeH="0" baseline="0" noProof="0">
                <a:ln>
                  <a:noFill/>
                </a:ln>
                <a:solidFill>
                  <a:srgbClr val="000000"/>
                </a:solidFill>
                <a:effectLst/>
                <a:uLnTx/>
                <a:uFillTx/>
                <a:latin typeface="Segoe Sans Text" pitchFamily="2" charset="0"/>
                <a:ea typeface="+mn-ea"/>
                <a:cs typeface="+mn-cs"/>
              </a:rPr>
              <a:t>Source: </a:t>
            </a:r>
            <a:r>
              <a:rPr kumimoji="0" lang="en-US" sz="510" b="0" i="0" u="none" strike="noStrike" kern="1200" cap="none" spc="0" normalizeH="0" baseline="0" noProof="0">
                <a:ln>
                  <a:noFill/>
                </a:ln>
                <a:solidFill>
                  <a:srgbClr val="000000"/>
                </a:solidFill>
                <a:effectLst/>
                <a:uLnTx/>
                <a:uFillTx/>
                <a:latin typeface="Segoe Sans Text" pitchFamily="2" charset="0"/>
                <a:ea typeface="+mn-ea"/>
                <a:cs typeface="+mn-cs"/>
              </a:rPr>
              <a:t>IBM Cost of a Data Breach Report, IBM, p. 6​</a:t>
            </a:r>
            <a:endParaRPr kumimoji="0" lang="en-US" sz="656" b="0" i="0" u="none" strike="noStrike" kern="1200" cap="none" spc="0" normalizeH="0" baseline="0" noProof="0">
              <a:ln>
                <a:noFill/>
              </a:ln>
              <a:solidFill>
                <a:srgbClr val="000000"/>
              </a:solidFill>
              <a:effectLst/>
              <a:uLnTx/>
              <a:uFillTx/>
              <a:latin typeface="Segoe UI" panose="020B0502040204020203" pitchFamily="34" charset="0"/>
              <a:ea typeface="+mn-ea"/>
              <a:cs typeface="Segoe Sans Display" pitchFamily="2" charset="0"/>
            </a:endParaRPr>
          </a:p>
        </p:txBody>
      </p:sp>
      <p:sp>
        <p:nvSpPr>
          <p:cNvPr id="2" name="Title 1">
            <a:extLst>
              <a:ext uri="{FF2B5EF4-FFF2-40B4-BE49-F238E27FC236}">
                <a16:creationId xmlns:a16="http://schemas.microsoft.com/office/drawing/2014/main" id="{CC410421-35D7-13B2-19F6-E270E00A31DF}"/>
              </a:ext>
            </a:extLst>
          </p:cNvPr>
          <p:cNvSpPr txBox="1">
            <a:spLocks/>
          </p:cNvSpPr>
          <p:nvPr/>
        </p:nvSpPr>
        <p:spPr>
          <a:xfrm>
            <a:off x="388447" y="4278348"/>
            <a:ext cx="4895999" cy="266700"/>
          </a:xfrm>
          <a:prstGeom prst="rect">
            <a:avLst/>
          </a:prstGeom>
          <a:no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base"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a:ln>
                  <a:noFill/>
                </a:ln>
                <a:solidFill>
                  <a:srgbClr val="C03BC4"/>
                </a:solidFill>
                <a:effectLst/>
                <a:uLnTx/>
                <a:uFillTx/>
                <a:latin typeface="Segoe Sans Display Semibold" pitchFamily="2" charset="0"/>
                <a:ea typeface="+mn-ea"/>
                <a:cs typeface="Segoe Sans Display Semibold" pitchFamily="2" charset="0"/>
              </a:rPr>
              <a:t>Protect your entire estate</a:t>
            </a:r>
          </a:p>
        </p:txBody>
      </p:sp>
      <p:sp>
        <p:nvSpPr>
          <p:cNvPr id="4" name="Rounded Rectangle 32">
            <a:extLst>
              <a:ext uri="{FF2B5EF4-FFF2-40B4-BE49-F238E27FC236}">
                <a16:creationId xmlns:a16="http://schemas.microsoft.com/office/drawing/2014/main" id="{32D52542-94BE-EFA3-6259-A9AF7AA68D6B}"/>
              </a:ext>
              <a:ext uri="{C183D7F6-B498-43B3-948B-1728B52AA6E4}">
                <adec:decorative xmlns:adec="http://schemas.microsoft.com/office/drawing/2017/decorative" val="1"/>
              </a:ext>
            </a:extLst>
          </p:cNvPr>
          <p:cNvSpPr>
            <a:spLocks/>
          </p:cNvSpPr>
          <p:nvPr/>
        </p:nvSpPr>
        <p:spPr>
          <a:xfrm>
            <a:off x="270487"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5" name="Rounded Rectangle 32">
            <a:extLst>
              <a:ext uri="{FF2B5EF4-FFF2-40B4-BE49-F238E27FC236}">
                <a16:creationId xmlns:a16="http://schemas.microsoft.com/office/drawing/2014/main" id="{CE6CFC70-06C7-C291-DA51-1D3359F2C52E}"/>
              </a:ext>
              <a:ext uri="{C183D7F6-B498-43B3-948B-1728B52AA6E4}">
                <adec:decorative xmlns:adec="http://schemas.microsoft.com/office/drawing/2017/decorative" val="1"/>
              </a:ext>
            </a:extLst>
          </p:cNvPr>
          <p:cNvSpPr>
            <a:spLocks/>
          </p:cNvSpPr>
          <p:nvPr/>
        </p:nvSpPr>
        <p:spPr>
          <a:xfrm>
            <a:off x="1306051"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6" name="Rounded Rectangle 32">
            <a:extLst>
              <a:ext uri="{FF2B5EF4-FFF2-40B4-BE49-F238E27FC236}">
                <a16:creationId xmlns:a16="http://schemas.microsoft.com/office/drawing/2014/main" id="{6643373C-AB83-B631-F611-FB8BFCAF135E}"/>
              </a:ext>
              <a:ext uri="{C183D7F6-B498-43B3-948B-1728B52AA6E4}">
                <adec:decorative xmlns:adec="http://schemas.microsoft.com/office/drawing/2017/decorative" val="1"/>
              </a:ext>
            </a:extLst>
          </p:cNvPr>
          <p:cNvSpPr>
            <a:spLocks/>
          </p:cNvSpPr>
          <p:nvPr/>
        </p:nvSpPr>
        <p:spPr>
          <a:xfrm>
            <a:off x="2341327"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9" name="Rounded Rectangle 32">
            <a:extLst>
              <a:ext uri="{FF2B5EF4-FFF2-40B4-BE49-F238E27FC236}">
                <a16:creationId xmlns:a16="http://schemas.microsoft.com/office/drawing/2014/main" id="{A1B8BB60-2805-B2B9-A781-B5FC7BD20E36}"/>
              </a:ext>
              <a:ext uri="{C183D7F6-B498-43B3-948B-1728B52AA6E4}">
                <adec:decorative xmlns:adec="http://schemas.microsoft.com/office/drawing/2017/decorative" val="1"/>
              </a:ext>
            </a:extLst>
          </p:cNvPr>
          <p:cNvSpPr>
            <a:spLocks/>
          </p:cNvSpPr>
          <p:nvPr/>
        </p:nvSpPr>
        <p:spPr>
          <a:xfrm>
            <a:off x="3377181"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10" name="Rounded Rectangle 32">
            <a:extLst>
              <a:ext uri="{FF2B5EF4-FFF2-40B4-BE49-F238E27FC236}">
                <a16:creationId xmlns:a16="http://schemas.microsoft.com/office/drawing/2014/main" id="{7501D1C1-B340-0CCA-6ED7-0F68AE847688}"/>
              </a:ext>
              <a:ext uri="{C183D7F6-B498-43B3-948B-1728B52AA6E4}">
                <adec:decorative xmlns:adec="http://schemas.microsoft.com/office/drawing/2017/decorative" val="1"/>
              </a:ext>
            </a:extLst>
          </p:cNvPr>
          <p:cNvSpPr>
            <a:spLocks/>
          </p:cNvSpPr>
          <p:nvPr/>
        </p:nvSpPr>
        <p:spPr>
          <a:xfrm>
            <a:off x="4412745"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15" name="TextBox 14">
            <a:extLst>
              <a:ext uri="{FF2B5EF4-FFF2-40B4-BE49-F238E27FC236}">
                <a16:creationId xmlns:a16="http://schemas.microsoft.com/office/drawing/2014/main" id="{FDC09689-9230-8774-332C-E0502BB2667B}"/>
              </a:ext>
            </a:extLst>
          </p:cNvPr>
          <p:cNvSpPr txBox="1"/>
          <p:nvPr/>
        </p:nvSpPr>
        <p:spPr>
          <a:xfrm>
            <a:off x="271966" y="5078668"/>
            <a:ext cx="979851"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Identity and access controls</a:t>
            </a:r>
          </a:p>
        </p:txBody>
      </p:sp>
      <p:sp>
        <p:nvSpPr>
          <p:cNvPr id="18" name="TextBox 17">
            <a:extLst>
              <a:ext uri="{FF2B5EF4-FFF2-40B4-BE49-F238E27FC236}">
                <a16:creationId xmlns:a16="http://schemas.microsoft.com/office/drawing/2014/main" id="{776AAF97-9212-E6FA-5DCB-13B6B6C5B179}"/>
              </a:ext>
            </a:extLst>
          </p:cNvPr>
          <p:cNvSpPr txBox="1"/>
          <p:nvPr/>
        </p:nvSpPr>
        <p:spPr>
          <a:xfrm>
            <a:off x="271563" y="5459024"/>
            <a:ext cx="979851" cy="1851789"/>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Risk-based conditional   access and sign     -in assessment</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Visibility into    risky sign-ins and user behavior anomalies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ID Governance  and Privileged Identity Management</a:t>
            </a:r>
          </a:p>
        </p:txBody>
      </p:sp>
      <p:sp>
        <p:nvSpPr>
          <p:cNvPr id="21" name="TextBox 20">
            <a:extLst>
              <a:ext uri="{FF2B5EF4-FFF2-40B4-BE49-F238E27FC236}">
                <a16:creationId xmlns:a16="http://schemas.microsoft.com/office/drawing/2014/main" id="{058930A1-FD77-508B-448D-7B8276947F22}"/>
              </a:ext>
            </a:extLst>
          </p:cNvPr>
          <p:cNvSpPr txBox="1"/>
          <p:nvPr/>
        </p:nvSpPr>
        <p:spPr>
          <a:xfrm>
            <a:off x="1307531" y="5078668"/>
            <a:ext cx="880485"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Identity protection</a:t>
            </a:r>
          </a:p>
        </p:txBody>
      </p:sp>
      <p:sp>
        <p:nvSpPr>
          <p:cNvPr id="23" name="TextBox 22">
            <a:extLst>
              <a:ext uri="{FF2B5EF4-FFF2-40B4-BE49-F238E27FC236}">
                <a16:creationId xmlns:a16="http://schemas.microsoft.com/office/drawing/2014/main" id="{BABB45DB-3E40-0CF7-6744-E0B2062194C7}"/>
              </a:ext>
            </a:extLst>
          </p:cNvPr>
          <p:cNvSpPr txBox="1"/>
          <p:nvPr/>
        </p:nvSpPr>
        <p:spPr>
          <a:xfrm>
            <a:off x="1308460" y="5459025"/>
            <a:ext cx="998232" cy="1574790"/>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Threat and suspicious user activity detection</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Built-in response and automated playbooks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Context-rich identity insights during investigations</a:t>
            </a:r>
          </a:p>
        </p:txBody>
      </p:sp>
      <p:sp>
        <p:nvSpPr>
          <p:cNvPr id="25" name="TextBox 24">
            <a:extLst>
              <a:ext uri="{FF2B5EF4-FFF2-40B4-BE49-F238E27FC236}">
                <a16:creationId xmlns:a16="http://schemas.microsoft.com/office/drawing/2014/main" id="{8ACFB9E0-57EC-A667-BD67-1FCD18922E87}"/>
              </a:ext>
            </a:extLst>
          </p:cNvPr>
          <p:cNvSpPr txBox="1"/>
          <p:nvPr/>
        </p:nvSpPr>
        <p:spPr>
          <a:xfrm>
            <a:off x="2342806" y="5078668"/>
            <a:ext cx="880485"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Device security</a:t>
            </a:r>
          </a:p>
        </p:txBody>
      </p:sp>
      <p:sp>
        <p:nvSpPr>
          <p:cNvPr id="28" name="TextBox 27">
            <a:extLst>
              <a:ext uri="{FF2B5EF4-FFF2-40B4-BE49-F238E27FC236}">
                <a16:creationId xmlns:a16="http://schemas.microsoft.com/office/drawing/2014/main" id="{60FD9765-BB48-31C0-F235-A24DE8372F92}"/>
              </a:ext>
            </a:extLst>
          </p:cNvPr>
          <p:cNvSpPr txBox="1"/>
          <p:nvPr/>
        </p:nvSpPr>
        <p:spPr>
          <a:xfrm>
            <a:off x="2362254" y="5459024"/>
            <a:ext cx="979851" cy="1851789"/>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Industry-leading antimalware and conditional access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Endpoint security and EDR with advanced threat hunting</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Attack surface reduction capabilities powered by Secure Score</a:t>
            </a:r>
          </a:p>
        </p:txBody>
      </p:sp>
      <p:sp>
        <p:nvSpPr>
          <p:cNvPr id="29" name="TextBox 28">
            <a:extLst>
              <a:ext uri="{FF2B5EF4-FFF2-40B4-BE49-F238E27FC236}">
                <a16:creationId xmlns:a16="http://schemas.microsoft.com/office/drawing/2014/main" id="{D8E6A2D5-943C-CCFD-15E1-74D78E2C1224}"/>
              </a:ext>
            </a:extLst>
          </p:cNvPr>
          <p:cNvSpPr txBox="1"/>
          <p:nvPr/>
        </p:nvSpPr>
        <p:spPr>
          <a:xfrm>
            <a:off x="3378660" y="5078668"/>
            <a:ext cx="926511"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Collaboration security</a:t>
            </a:r>
          </a:p>
        </p:txBody>
      </p:sp>
      <p:sp>
        <p:nvSpPr>
          <p:cNvPr id="30" name="TextBox 29">
            <a:extLst>
              <a:ext uri="{FF2B5EF4-FFF2-40B4-BE49-F238E27FC236}">
                <a16:creationId xmlns:a16="http://schemas.microsoft.com/office/drawing/2014/main" id="{B7AA6581-4A62-F733-84E1-D95525161BF1}"/>
              </a:ext>
            </a:extLst>
          </p:cNvPr>
          <p:cNvSpPr txBox="1"/>
          <p:nvPr/>
        </p:nvSpPr>
        <p:spPr>
          <a:xfrm>
            <a:off x="3398110" y="5459024"/>
            <a:ext cx="926511" cy="1549142"/>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Advanced email and collaboration security with automated investigation   and response </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End user phishing simulation trainings</a:t>
            </a:r>
          </a:p>
        </p:txBody>
      </p:sp>
      <p:sp>
        <p:nvSpPr>
          <p:cNvPr id="31" name="TextBox 30">
            <a:extLst>
              <a:ext uri="{FF2B5EF4-FFF2-40B4-BE49-F238E27FC236}">
                <a16:creationId xmlns:a16="http://schemas.microsoft.com/office/drawing/2014/main" id="{7619480A-D377-F04B-D795-8C3BA6F6AE38}"/>
              </a:ext>
            </a:extLst>
          </p:cNvPr>
          <p:cNvSpPr txBox="1"/>
          <p:nvPr/>
        </p:nvSpPr>
        <p:spPr>
          <a:xfrm>
            <a:off x="4414224" y="5078668"/>
            <a:ext cx="749207"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SaaS security</a:t>
            </a:r>
          </a:p>
        </p:txBody>
      </p:sp>
      <p:sp>
        <p:nvSpPr>
          <p:cNvPr id="33" name="TextBox 32">
            <a:extLst>
              <a:ext uri="{FF2B5EF4-FFF2-40B4-BE49-F238E27FC236}">
                <a16:creationId xmlns:a16="http://schemas.microsoft.com/office/drawing/2014/main" id="{BB9CDA12-6566-B28E-C400-3DB3F950322F}"/>
              </a:ext>
            </a:extLst>
          </p:cNvPr>
          <p:cNvSpPr txBox="1"/>
          <p:nvPr/>
        </p:nvSpPr>
        <p:spPr>
          <a:xfrm>
            <a:off x="4430310" y="5459025"/>
            <a:ext cx="945042" cy="1574790"/>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Visibility into “Shadow IT”</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Uncovers configuration gaps and offers recommendations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err="1">
                <a:ln>
                  <a:noFill/>
                </a:ln>
                <a:solidFill>
                  <a:srgbClr val="000000">
                    <a:lumMod val="85000"/>
                    <a:lumOff val="15000"/>
                  </a:srgbClr>
                </a:solidFill>
                <a:effectLst/>
                <a:uLnTx/>
                <a:uFillTx/>
                <a:latin typeface="Segoe Sans Display" pitchFamily="2" charset="0"/>
                <a:ea typeface="+mn-ea"/>
                <a:cs typeface="Segoe Sans Display" pitchFamily="2" charset="0"/>
              </a:rPr>
              <a:t>LoB</a:t>
            </a: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 app monitoring, governance and protection</a:t>
            </a:r>
          </a:p>
        </p:txBody>
      </p:sp>
      <p:grpSp>
        <p:nvGrpSpPr>
          <p:cNvPr id="34" name="Group 33">
            <a:extLst>
              <a:ext uri="{FF2B5EF4-FFF2-40B4-BE49-F238E27FC236}">
                <a16:creationId xmlns:a16="http://schemas.microsoft.com/office/drawing/2014/main" id="{43FAA6D2-FA43-D5BA-DE51-35FA7FFC3D8E}"/>
              </a:ext>
            </a:extLst>
          </p:cNvPr>
          <p:cNvGrpSpPr/>
          <p:nvPr/>
        </p:nvGrpSpPr>
        <p:grpSpPr>
          <a:xfrm>
            <a:off x="340877" y="4769074"/>
            <a:ext cx="260128" cy="260127"/>
            <a:chOff x="1279013" y="2060414"/>
            <a:chExt cx="441393" cy="441390"/>
          </a:xfrm>
        </p:grpSpPr>
        <p:sp>
          <p:nvSpPr>
            <p:cNvPr id="37" name="Oval 36">
              <a:extLst>
                <a:ext uri="{FF2B5EF4-FFF2-40B4-BE49-F238E27FC236}">
                  <a16:creationId xmlns:a16="http://schemas.microsoft.com/office/drawing/2014/main" id="{2D7D97C9-E218-702D-C573-EC595E24D206}"/>
                </a:ext>
              </a:extLst>
            </p:cNvPr>
            <p:cNvSpPr/>
            <p:nvPr/>
          </p:nvSpPr>
          <p:spPr bwMode="auto">
            <a:xfrm rot="5400000">
              <a:off x="1279015"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Graphic 81" descr="Icon of an app window with a closed padlock">
              <a:extLst>
                <a:ext uri="{FF2B5EF4-FFF2-40B4-BE49-F238E27FC236}">
                  <a16:creationId xmlns:a16="http://schemas.microsoft.com/office/drawing/2014/main" id="{04B475BC-BA57-5216-CE2C-96C8D24A3BE0}"/>
                </a:ext>
              </a:extLst>
            </p:cNvPr>
            <p:cNvSpPr/>
            <p:nvPr/>
          </p:nvSpPr>
          <p:spPr>
            <a:xfrm>
              <a:off x="1405253" y="2181887"/>
              <a:ext cx="188914" cy="198443"/>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39" name="Group 38">
            <a:extLst>
              <a:ext uri="{FF2B5EF4-FFF2-40B4-BE49-F238E27FC236}">
                <a16:creationId xmlns:a16="http://schemas.microsoft.com/office/drawing/2014/main" id="{C87767FA-E0F4-1A8A-86B1-2E35771B5DD2}"/>
              </a:ext>
            </a:extLst>
          </p:cNvPr>
          <p:cNvGrpSpPr/>
          <p:nvPr/>
        </p:nvGrpSpPr>
        <p:grpSpPr>
          <a:xfrm>
            <a:off x="1392861" y="4769074"/>
            <a:ext cx="260128" cy="260127"/>
            <a:chOff x="1980053" y="1931419"/>
            <a:chExt cx="356747" cy="356745"/>
          </a:xfrm>
        </p:grpSpPr>
        <p:sp>
          <p:nvSpPr>
            <p:cNvPr id="40" name="Oval 39">
              <a:extLst>
                <a:ext uri="{FF2B5EF4-FFF2-40B4-BE49-F238E27FC236}">
                  <a16:creationId xmlns:a16="http://schemas.microsoft.com/office/drawing/2014/main" id="{5323ABBF-3EEA-332A-7864-DA7AD0C0A67B}"/>
                </a:ext>
              </a:extLst>
            </p:cNvPr>
            <p:cNvSpPr/>
            <p:nvPr/>
          </p:nvSpPr>
          <p:spPr bwMode="auto">
            <a:xfrm rot="5400000">
              <a:off x="19800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1" name="Graphic 40">
              <a:extLst>
                <a:ext uri="{FF2B5EF4-FFF2-40B4-BE49-F238E27FC236}">
                  <a16:creationId xmlns:a16="http://schemas.microsoft.com/office/drawing/2014/main" id="{C01A3938-EB10-BCEE-6CDE-225ADE6CDB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61000" y="2012363"/>
              <a:ext cx="194854" cy="194854"/>
            </a:xfrm>
            <a:prstGeom prst="rect">
              <a:avLst/>
            </a:prstGeom>
          </p:spPr>
        </p:pic>
      </p:grpSp>
      <p:grpSp>
        <p:nvGrpSpPr>
          <p:cNvPr id="42" name="Group 41">
            <a:extLst>
              <a:ext uri="{FF2B5EF4-FFF2-40B4-BE49-F238E27FC236}">
                <a16:creationId xmlns:a16="http://schemas.microsoft.com/office/drawing/2014/main" id="{BEDDA49E-C309-5EFC-3371-7B26398053F5}"/>
              </a:ext>
            </a:extLst>
          </p:cNvPr>
          <p:cNvGrpSpPr/>
          <p:nvPr/>
        </p:nvGrpSpPr>
        <p:grpSpPr>
          <a:xfrm>
            <a:off x="2422619" y="4769074"/>
            <a:ext cx="260128" cy="260127"/>
            <a:chOff x="3392293" y="1931419"/>
            <a:chExt cx="356747" cy="356745"/>
          </a:xfrm>
        </p:grpSpPr>
        <p:sp>
          <p:nvSpPr>
            <p:cNvPr id="43" name="Oval 42">
              <a:extLst>
                <a:ext uri="{FF2B5EF4-FFF2-40B4-BE49-F238E27FC236}">
                  <a16:creationId xmlns:a16="http://schemas.microsoft.com/office/drawing/2014/main" id="{962CF85D-87B5-FFDE-8B4A-FDD167B25F94}"/>
                </a:ext>
              </a:extLst>
            </p:cNvPr>
            <p:cNvSpPr/>
            <p:nvPr/>
          </p:nvSpPr>
          <p:spPr bwMode="auto">
            <a:xfrm rot="5400000">
              <a:off x="33922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4" name="Graphic 43">
              <a:extLst>
                <a:ext uri="{FF2B5EF4-FFF2-40B4-BE49-F238E27FC236}">
                  <a16:creationId xmlns:a16="http://schemas.microsoft.com/office/drawing/2014/main" id="{5B18B696-F885-0B38-CF0E-59470F6278A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463432" y="2002557"/>
              <a:ext cx="214468" cy="214468"/>
            </a:xfrm>
            <a:prstGeom prst="rect">
              <a:avLst/>
            </a:prstGeom>
          </p:spPr>
        </p:pic>
      </p:grpSp>
      <p:grpSp>
        <p:nvGrpSpPr>
          <p:cNvPr id="45" name="Group 44">
            <a:extLst>
              <a:ext uri="{FF2B5EF4-FFF2-40B4-BE49-F238E27FC236}">
                <a16:creationId xmlns:a16="http://schemas.microsoft.com/office/drawing/2014/main" id="{DB383756-F3A8-8B6B-47DD-7B83711A3BD3}"/>
              </a:ext>
            </a:extLst>
          </p:cNvPr>
          <p:cNvGrpSpPr/>
          <p:nvPr/>
        </p:nvGrpSpPr>
        <p:grpSpPr>
          <a:xfrm>
            <a:off x="3467194" y="4769074"/>
            <a:ext cx="260128" cy="260127"/>
            <a:chOff x="4824853" y="1931419"/>
            <a:chExt cx="356747" cy="356745"/>
          </a:xfrm>
        </p:grpSpPr>
        <p:sp>
          <p:nvSpPr>
            <p:cNvPr id="46" name="Oval 45">
              <a:extLst>
                <a:ext uri="{FF2B5EF4-FFF2-40B4-BE49-F238E27FC236}">
                  <a16:creationId xmlns:a16="http://schemas.microsoft.com/office/drawing/2014/main" id="{19378CB4-A418-1354-A2FE-DE38BC98C0AE}"/>
                </a:ext>
              </a:extLst>
            </p:cNvPr>
            <p:cNvSpPr/>
            <p:nvPr/>
          </p:nvSpPr>
          <p:spPr bwMode="auto">
            <a:xfrm rot="5400000">
              <a:off x="48248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7" name="Graphic 46">
              <a:extLst>
                <a:ext uri="{FF2B5EF4-FFF2-40B4-BE49-F238E27FC236}">
                  <a16:creationId xmlns:a16="http://schemas.microsoft.com/office/drawing/2014/main" id="{6FE3AD69-2B4A-FD8E-16DD-EB48C196735B}"/>
                </a:ext>
              </a:extLst>
            </p:cNvPr>
            <p:cNvPicPr>
              <a:picLocks noChangeAspect="1"/>
            </p:cNvPicPr>
            <p:nvPr/>
          </p:nvPicPr>
          <p:blipFill rotWithShape="1">
            <a:blip r:embed="rId12">
              <a:extLst>
                <a:ext uri="{96DAC541-7B7A-43D3-8B79-37D633B846F1}">
                  <asvg:svgBlip xmlns:asvg="http://schemas.microsoft.com/office/drawing/2016/SVG/main" r:embed="rId13"/>
                </a:ext>
              </a:extLst>
            </a:blip>
            <a:srcRect l="2401" r="2401"/>
            <a:stretch>
              <a:fillRect/>
            </a:stretch>
          </p:blipFill>
          <p:spPr>
            <a:xfrm>
              <a:off x="4919657" y="2022007"/>
              <a:ext cx="167138" cy="175570"/>
            </a:xfrm>
            <a:prstGeom prst="rect">
              <a:avLst/>
            </a:prstGeom>
          </p:spPr>
        </p:pic>
      </p:grpSp>
      <p:grpSp>
        <p:nvGrpSpPr>
          <p:cNvPr id="48" name="Group 47">
            <a:extLst>
              <a:ext uri="{FF2B5EF4-FFF2-40B4-BE49-F238E27FC236}">
                <a16:creationId xmlns:a16="http://schemas.microsoft.com/office/drawing/2014/main" id="{9EE7FCA8-F2C6-D8B9-172C-6604FBC9C661}"/>
              </a:ext>
            </a:extLst>
          </p:cNvPr>
          <p:cNvGrpSpPr/>
          <p:nvPr/>
        </p:nvGrpSpPr>
        <p:grpSpPr>
          <a:xfrm>
            <a:off x="4496952" y="4769074"/>
            <a:ext cx="260128" cy="260127"/>
            <a:chOff x="6237093" y="1931419"/>
            <a:chExt cx="356747" cy="356745"/>
          </a:xfrm>
        </p:grpSpPr>
        <p:sp>
          <p:nvSpPr>
            <p:cNvPr id="49" name="Oval 48">
              <a:extLst>
                <a:ext uri="{FF2B5EF4-FFF2-40B4-BE49-F238E27FC236}">
                  <a16:creationId xmlns:a16="http://schemas.microsoft.com/office/drawing/2014/main" id="{C304641A-6F6D-1A68-621E-9FBB381E107C}"/>
                </a:ext>
              </a:extLst>
            </p:cNvPr>
            <p:cNvSpPr/>
            <p:nvPr/>
          </p:nvSpPr>
          <p:spPr bwMode="auto">
            <a:xfrm rot="5400000">
              <a:off x="62370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52" name="Graphic 51">
              <a:extLst>
                <a:ext uri="{FF2B5EF4-FFF2-40B4-BE49-F238E27FC236}">
                  <a16:creationId xmlns:a16="http://schemas.microsoft.com/office/drawing/2014/main" id="{C2E14B32-7A5A-A920-BEAA-CDA82C31D4E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317775" y="2029597"/>
              <a:ext cx="195382" cy="160388"/>
            </a:xfrm>
            <a:prstGeom prst="rect">
              <a:avLst/>
            </a:prstGeom>
          </p:spPr>
        </p:pic>
      </p:grpSp>
      <p:grpSp>
        <p:nvGrpSpPr>
          <p:cNvPr id="53" name="Group 52">
            <a:extLst>
              <a:ext uri="{FF2B5EF4-FFF2-40B4-BE49-F238E27FC236}">
                <a16:creationId xmlns:a16="http://schemas.microsoft.com/office/drawing/2014/main" id="{08936B67-2860-1765-5A2D-0ED8C7EC7FC0}"/>
              </a:ext>
            </a:extLst>
          </p:cNvPr>
          <p:cNvGrpSpPr/>
          <p:nvPr/>
        </p:nvGrpSpPr>
        <p:grpSpPr>
          <a:xfrm>
            <a:off x="418138" y="1792553"/>
            <a:ext cx="1174190" cy="2189184"/>
            <a:chOff x="474385" y="2278797"/>
            <a:chExt cx="1610317" cy="3002309"/>
          </a:xfrm>
        </p:grpSpPr>
        <p:sp>
          <p:nvSpPr>
            <p:cNvPr id="65" name="TextBox 64">
              <a:extLst>
                <a:ext uri="{FF2B5EF4-FFF2-40B4-BE49-F238E27FC236}">
                  <a16:creationId xmlns:a16="http://schemas.microsoft.com/office/drawing/2014/main" id="{9AD2FB6B-6EDB-68E4-2601-4F9CF0B3A50C}"/>
                </a:ext>
              </a:extLst>
            </p:cNvPr>
            <p:cNvSpPr txBox="1"/>
            <p:nvPr/>
          </p:nvSpPr>
          <p:spPr>
            <a:xfrm>
              <a:off x="474385" y="3487120"/>
              <a:ext cx="1610317" cy="1793986"/>
            </a:xfrm>
            <a:prstGeom prst="rect">
              <a:avLst/>
            </a:prstGeom>
            <a:noFill/>
          </p:spPr>
          <p:txBody>
            <a:bodyPr wrap="square" lIns="0" tIns="0" rIns="0" bIns="0" anchor="t">
              <a:spAutoFit/>
            </a:bodyPr>
            <a:lstStyle>
              <a:defPPr>
                <a:defRPr lang="en-US"/>
              </a:defPPr>
              <a:lvl1pPr marR="0" lvl="0" indent="0" algn="ctr" fontAlgn="auto">
                <a:lnSpc>
                  <a:spcPct val="100000"/>
                </a:lnSpc>
                <a:spcBef>
                  <a:spcPts val="0"/>
                </a:spcBef>
                <a:spcAft>
                  <a:spcPts val="600"/>
                </a:spcAft>
                <a:buClrTx/>
                <a:buSzTx/>
                <a:buFontTx/>
                <a:buNone/>
                <a:tabLst/>
                <a:defRPr kumimoji="0" sz="2000" b="0" i="0" u="none" strike="noStrike" cap="none" spc="0" normalizeH="0" baseline="0">
                  <a:ln>
                    <a:noFill/>
                  </a:ln>
                  <a:gradFill>
                    <a:gsLst>
                      <a:gs pos="45000">
                        <a:srgbClr val="2A446F"/>
                      </a:gs>
                      <a:gs pos="100000">
                        <a:srgbClr val="2A446F"/>
                      </a:gs>
                    </a:gsLst>
                    <a:lin ang="2700000" scaled="1"/>
                  </a:gradFill>
                  <a:effectLst/>
                  <a:uLnTx/>
                  <a:uFillTx/>
                  <a:cs typeface="Segoe UI" panose="020B0502040204020203" pitchFamily="34" charset="0"/>
                </a:defRPr>
              </a:lvl1pPr>
            </a:lstStyle>
            <a:p>
              <a:pPr marL="0" marR="0" lvl="0" indent="0" algn="ctr" defTabSz="666756" rtl="0" eaLnBrk="1" fontAlgn="auto" latinLnBrk="0" hangingPunct="1">
                <a:lnSpc>
                  <a:spcPct val="100000"/>
                </a:lnSpc>
                <a:spcBef>
                  <a:spcPts val="0"/>
                </a:spcBef>
                <a:spcAft>
                  <a:spcPts val="438"/>
                </a:spcAft>
                <a:buClrTx/>
                <a:buSzTx/>
                <a:buFontTx/>
                <a:buNone/>
                <a:tabLst/>
                <a:defRPr/>
              </a:pPr>
              <a:r>
                <a:rPr kumimoji="0" lang="en-US" sz="1167"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Industry leader</a:t>
              </a:r>
            </a:p>
            <a:p>
              <a:pPr marL="0" marR="0" lvl="0" indent="0" algn="ctr" defTabSz="666756" rtl="0" eaLnBrk="1" fontAlgn="auto" latinLnBrk="0" hangingPunct="1">
                <a:lnSpc>
                  <a:spcPct val="100000"/>
                </a:lnSpc>
                <a:spcBef>
                  <a:spcPts val="0"/>
                </a:spcBef>
                <a:spcAft>
                  <a:spcPts val="438"/>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Microsoft is the        only security vendor recognized as a leader across 19 categories by Gartner, Forrester, and IDC.</a:t>
              </a:r>
              <a:r>
                <a:rPr kumimoji="0" lang="en-US" sz="1000" b="0" i="0" u="none" strike="noStrike" kern="1200" cap="none" spc="0" normalizeH="0" baseline="30000" noProof="0">
                  <a:ln>
                    <a:noFill/>
                  </a:ln>
                  <a:solidFill>
                    <a:srgbClr val="FFFFFF"/>
                  </a:solidFill>
                  <a:effectLst/>
                  <a:uLnTx/>
                  <a:uFillTx/>
                  <a:latin typeface="Segoe Sans Display" pitchFamily="2" charset="0"/>
                  <a:ea typeface="+mn-ea"/>
                  <a:cs typeface="Segoe Sans Display" pitchFamily="2" charset="0"/>
                </a:rPr>
                <a:t> 1 </a:t>
              </a:r>
              <a:endParaRPr kumimoji="0" lang="en-US" sz="1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12" name="Oval 11">
              <a:extLst>
                <a:ext uri="{FF2B5EF4-FFF2-40B4-BE49-F238E27FC236}">
                  <a16:creationId xmlns:a16="http://schemas.microsoft.com/office/drawing/2014/main" id="{8776A6C6-BEC3-5E32-0DDE-FCA887AC92E3}"/>
                </a:ext>
              </a:extLst>
            </p:cNvPr>
            <p:cNvSpPr/>
            <p:nvPr/>
          </p:nvSpPr>
          <p:spPr bwMode="auto">
            <a:xfrm>
              <a:off x="710621" y="2278797"/>
              <a:ext cx="1137847" cy="1137847"/>
            </a:xfrm>
            <a:prstGeom prst="ellipse">
              <a:avLst/>
            </a:prstGeom>
            <a:solidFill>
              <a:srgbClr val="FFFFFF"/>
            </a:solidFill>
            <a:ln w="79375" cap="rnd" cmpd="sng" algn="ctr">
              <a:noFill/>
              <a:prstDash val="sysDot"/>
              <a:round/>
              <a:tailEnd type="none" w="sm" len="sm"/>
            </a:ln>
            <a:effectLst>
              <a:outerShdw blurRad="63500" sx="106000" sy="106000" algn="ctr" rotWithShape="0">
                <a:srgbClr val="912475">
                  <a:alpha val="17000"/>
                </a:srgbClr>
              </a:outerShdw>
            </a:effectLst>
          </p:spPr>
          <p:txBody>
            <a:bodyPr rtlCol="0" anchor="ct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19" name="Oval 18">
              <a:extLst>
                <a:ext uri="{FF2B5EF4-FFF2-40B4-BE49-F238E27FC236}">
                  <a16:creationId xmlns:a16="http://schemas.microsoft.com/office/drawing/2014/main" id="{44D2AC6F-4F84-F587-BEF3-F143A00E6D9B}"/>
                </a:ext>
              </a:extLst>
            </p:cNvPr>
            <p:cNvSpPr/>
            <p:nvPr/>
          </p:nvSpPr>
          <p:spPr bwMode="auto">
            <a:xfrm rot="5400000">
              <a:off x="752919" y="2320639"/>
              <a:ext cx="1053250" cy="105325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pic>
        <p:nvPicPr>
          <p:cNvPr id="81" name="Graphic 80">
            <a:extLst>
              <a:ext uri="{FF2B5EF4-FFF2-40B4-BE49-F238E27FC236}">
                <a16:creationId xmlns:a16="http://schemas.microsoft.com/office/drawing/2014/main" id="{819C957E-4281-888B-D955-41CE846A033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75142" y="1972224"/>
            <a:ext cx="465563" cy="465563"/>
          </a:xfrm>
          <a:prstGeom prst="rect">
            <a:avLst/>
          </a:prstGeom>
        </p:spPr>
      </p:pic>
    </p:spTree>
    <p:extLst>
      <p:ext uri="{BB962C8B-B14F-4D97-AF65-F5344CB8AC3E}">
        <p14:creationId xmlns:p14="http://schemas.microsoft.com/office/powerpoint/2010/main" val="4067805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6314"/>
            <a:ext cx="5667374" cy="8013735"/>
          </a:xfrm>
          <a:prstGeom prst="rect">
            <a:avLst/>
          </a:prstGeom>
        </p:spPr>
      </p:pic>
      <p:sp>
        <p:nvSpPr>
          <p:cNvPr id="91" name="Rectangle: Rounded Corners 90">
            <a:extLst>
              <a:ext uri="{FF2B5EF4-FFF2-40B4-BE49-F238E27FC236}">
                <a16:creationId xmlns:a16="http://schemas.microsoft.com/office/drawing/2014/main" id="{1F261787-A532-6E06-5DBB-DC560E196235}"/>
              </a:ext>
            </a:extLst>
          </p:cNvPr>
          <p:cNvSpPr/>
          <p:nvPr/>
        </p:nvSpPr>
        <p:spPr bwMode="auto">
          <a:xfrm>
            <a:off x="271313" y="1647450"/>
            <a:ext cx="1640799" cy="2917180"/>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9" name="Rectangle: Rounded Corners 88">
            <a:extLst>
              <a:ext uri="{FF2B5EF4-FFF2-40B4-BE49-F238E27FC236}">
                <a16:creationId xmlns:a16="http://schemas.microsoft.com/office/drawing/2014/main" id="{2D7F975A-EFFC-ED2A-C751-F90289DD4D12}"/>
              </a:ext>
            </a:extLst>
          </p:cNvPr>
          <p:cNvSpPr/>
          <p:nvPr/>
        </p:nvSpPr>
        <p:spPr bwMode="auto">
          <a:xfrm>
            <a:off x="432197" y="3325224"/>
            <a:ext cx="1330369" cy="556564"/>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24" name="Group 23">
            <a:extLst>
              <a:ext uri="{FF2B5EF4-FFF2-40B4-BE49-F238E27FC236}">
                <a16:creationId xmlns:a16="http://schemas.microsoft.com/office/drawing/2014/main" id="{B5803776-5E8B-2132-6273-96CF7F5813DA}"/>
              </a:ext>
            </a:extLst>
          </p:cNvPr>
          <p:cNvGrpSpPr/>
          <p:nvPr/>
        </p:nvGrpSpPr>
        <p:grpSpPr>
          <a:xfrm>
            <a:off x="513820" y="3408270"/>
            <a:ext cx="1177379" cy="390472"/>
            <a:chOff x="45932" y="4239805"/>
            <a:chExt cx="1614691" cy="535504"/>
          </a:xfrm>
        </p:grpSpPr>
        <p:pic>
          <p:nvPicPr>
            <p:cNvPr id="13" name="Picture 12">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4"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r:embed="rId6">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5" name="Group 14">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20" name="Oval 19">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52500" tIns="26250" rIns="52500" bIns="26250" numCol="1" spcCol="0" rtlCol="0" fromWordArt="0" anchor="ctr" anchorCtr="0" forceAA="0" compatLnSpc="1">
                <a:prstTxWarp prst="textNoShape">
                  <a:avLst/>
                </a:prstTxWarp>
                <a:noAutofit/>
              </a:body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23"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5" name="TextBox 4">
            <a:extLst>
              <a:ext uri="{FF2B5EF4-FFF2-40B4-BE49-F238E27FC236}">
                <a16:creationId xmlns:a16="http://schemas.microsoft.com/office/drawing/2014/main" id="{40A7A011-A5B1-B465-6A3F-B4941EFA893C}"/>
              </a:ext>
            </a:extLst>
          </p:cNvPr>
          <p:cNvSpPr txBox="1"/>
          <p:nvPr/>
        </p:nvSpPr>
        <p:spPr>
          <a:xfrm>
            <a:off x="374982" y="2129468"/>
            <a:ext cx="1436982" cy="994183"/>
          </a:xfrm>
          <a:prstGeom prst="rect">
            <a:avLst/>
          </a:prstGeom>
          <a:noFill/>
        </p:spPr>
        <p:txBody>
          <a:bodyPr wrap="square" lIns="0" tIns="0" rIns="0" bIns="0">
            <a:spAutoFit/>
          </a:body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dirty="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8" y="565908"/>
            <a:ext cx="422989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pic>
        <p:nvPicPr>
          <p:cNvPr id="26" name="Graphic 25" descr="Microsoft Security">
            <a:extLst>
              <a:ext uri="{FF2B5EF4-FFF2-40B4-BE49-F238E27FC236}">
                <a16:creationId xmlns:a16="http://schemas.microsoft.com/office/drawing/2014/main" id="{36292F35-2848-FBFE-9DA2-A06F3BB28FE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bwMode="black">
          <a:xfrm>
            <a:off x="304210" y="243499"/>
            <a:ext cx="1319835" cy="167302"/>
          </a:xfrm>
          <a:prstGeom prst="rect">
            <a:avLst/>
          </a:prstGeom>
        </p:spPr>
      </p:pic>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7022-0953-263B-2F63-E879BE6BEB90}"/>
            </a:ext>
          </a:extLst>
        </p:cNvPr>
        <p:cNvGrpSpPr/>
        <p:nvPr/>
      </p:nvGrpSpPr>
      <p:grpSpPr>
        <a:xfrm>
          <a:off x="0" y="0"/>
          <a:ext cx="0" cy="0"/>
          <a:chOff x="0" y="0"/>
          <a:chExt cx="0" cy="0"/>
        </a:xfrm>
      </p:grpSpPr>
      <p:pic>
        <p:nvPicPr>
          <p:cNvPr id="3" name="Picture 2" descr="preencoded.png">
            <a:extLst>
              <a:ext uri="{FF2B5EF4-FFF2-40B4-BE49-F238E27FC236}">
                <a16:creationId xmlns:a16="http://schemas.microsoft.com/office/drawing/2014/main" id="{5183A55F-3F3F-0226-9194-CE7B504E0403}"/>
              </a:ext>
            </a:extLst>
          </p:cNvPr>
          <p:cNvPicPr>
            <a:picLocks noChangeAspect="1"/>
          </p:cNvPicPr>
          <p:nvPr/>
        </p:nvPicPr>
        <p:blipFill>
          <a:blip r:embed="rId3"/>
          <a:stretch>
            <a:fillRect/>
          </a:stretch>
        </p:blipFill>
        <p:spPr>
          <a:xfrm>
            <a:off x="-3920" y="2394"/>
            <a:ext cx="5673838" cy="8017656"/>
          </a:xfrm>
          <a:prstGeom prst="rect">
            <a:avLst/>
          </a:prstGeom>
        </p:spPr>
      </p:pic>
      <p:pic>
        <p:nvPicPr>
          <p:cNvPr id="2" name="Picture 1" descr="A planet in space with a black background&#10;&#10;AI-generated content may be incorrect.">
            <a:extLst>
              <a:ext uri="{FF2B5EF4-FFF2-40B4-BE49-F238E27FC236}">
                <a16:creationId xmlns:a16="http://schemas.microsoft.com/office/drawing/2014/main" id="{F4973285-5912-C42B-2BD5-4C081235F53E}"/>
              </a:ext>
            </a:extLst>
          </p:cNvPr>
          <p:cNvPicPr>
            <a:picLocks noChangeAspect="1"/>
          </p:cNvPicPr>
          <p:nvPr/>
        </p:nvPicPr>
        <p:blipFill>
          <a:blip r:embed="rId4"/>
          <a:stretch>
            <a:fillRect/>
          </a:stretch>
        </p:blipFill>
        <p:spPr>
          <a:xfrm>
            <a:off x="921713" y="2324"/>
            <a:ext cx="4750189" cy="1458516"/>
          </a:xfrm>
          <a:prstGeom prst="rect">
            <a:avLst/>
          </a:prstGeom>
        </p:spPr>
      </p:pic>
      <p:pic>
        <p:nvPicPr>
          <p:cNvPr id="4" name="Picture 3" descr="A planet in space with a black background&#10;&#10;AI-generated content may be incorrect.">
            <a:extLst>
              <a:ext uri="{FF2B5EF4-FFF2-40B4-BE49-F238E27FC236}">
                <a16:creationId xmlns:a16="http://schemas.microsoft.com/office/drawing/2014/main" id="{FECBBD0C-33BB-FCF5-277D-AFBC656D63A1}"/>
              </a:ext>
            </a:extLst>
          </p:cNvPr>
          <p:cNvPicPr>
            <a:picLocks noChangeAspect="1"/>
          </p:cNvPicPr>
          <p:nvPr/>
        </p:nvPicPr>
        <p:blipFill>
          <a:blip r:embed="rId4"/>
          <a:srcRect l="47903"/>
          <a:stretch>
            <a:fillRect/>
          </a:stretch>
        </p:blipFill>
        <p:spPr>
          <a:xfrm rot="10800000">
            <a:off x="-5905" y="4678252"/>
            <a:ext cx="5673280" cy="3343650"/>
          </a:xfrm>
          <a:prstGeom prst="rect">
            <a:avLst/>
          </a:prstGeom>
        </p:spPr>
      </p:pic>
      <p:pic>
        <p:nvPicPr>
          <p:cNvPr id="35" name="Rectangle 34658328" descr="preencoded.png">
            <a:extLst>
              <a:ext uri="{FF2B5EF4-FFF2-40B4-BE49-F238E27FC236}">
                <a16:creationId xmlns:a16="http://schemas.microsoft.com/office/drawing/2014/main" id="{949B0A9B-FAD2-EFDE-2B8A-CDEED4923C15}"/>
              </a:ext>
            </a:extLst>
          </p:cNvPr>
          <p:cNvPicPr>
            <a:picLocks noChangeAspect="1"/>
          </p:cNvPicPr>
          <p:nvPr/>
        </p:nvPicPr>
        <p:blipFill>
          <a:blip r:embed="rId5"/>
          <a:srcRect/>
          <a:stretch/>
        </p:blipFill>
        <p:spPr>
          <a:xfrm>
            <a:off x="128184" y="1155348"/>
            <a:ext cx="5468474" cy="6653110"/>
          </a:xfrm>
          <a:prstGeom prst="rect">
            <a:avLst/>
          </a:prstGeom>
        </p:spPr>
      </p:pic>
      <p:graphicFrame>
        <p:nvGraphicFramePr>
          <p:cNvPr id="36" name="Table 35">
            <a:extLst>
              <a:ext uri="{FF2B5EF4-FFF2-40B4-BE49-F238E27FC236}">
                <a16:creationId xmlns:a16="http://schemas.microsoft.com/office/drawing/2014/main" id="{6D0E01E6-050E-A4E4-55C5-262EB2256E2A}"/>
              </a:ext>
            </a:extLst>
          </p:cNvPr>
          <p:cNvGraphicFramePr>
            <a:graphicFrameLocks noGrp="1"/>
          </p:cNvGraphicFramePr>
          <p:nvPr/>
        </p:nvGraphicFramePr>
        <p:xfrm>
          <a:off x="806125" y="1515833"/>
          <a:ext cx="4414576" cy="5639369"/>
        </p:xfrm>
        <a:graphic>
          <a:graphicData uri="http://schemas.openxmlformats.org/drawingml/2006/table">
            <a:tbl>
              <a:tblPr firstRow="1" bandRow="1">
                <a:effectLst>
                  <a:innerShdw blurRad="381000">
                    <a:prstClr val="black">
                      <a:alpha val="10000"/>
                    </a:prstClr>
                  </a:innerShdw>
                </a:effectLst>
              </a:tblPr>
              <a:tblGrid>
                <a:gridCol w="1416662">
                  <a:extLst>
                    <a:ext uri="{9D8B030D-6E8A-4147-A177-3AD203B41FA5}">
                      <a16:colId xmlns:a16="http://schemas.microsoft.com/office/drawing/2014/main" val="259652654"/>
                    </a:ext>
                  </a:extLst>
                </a:gridCol>
                <a:gridCol w="542929">
                  <a:extLst>
                    <a:ext uri="{9D8B030D-6E8A-4147-A177-3AD203B41FA5}">
                      <a16:colId xmlns:a16="http://schemas.microsoft.com/office/drawing/2014/main" val="2297842495"/>
                    </a:ext>
                  </a:extLst>
                </a:gridCol>
                <a:gridCol w="2454985">
                  <a:extLst>
                    <a:ext uri="{9D8B030D-6E8A-4147-A177-3AD203B41FA5}">
                      <a16:colId xmlns:a16="http://schemas.microsoft.com/office/drawing/2014/main" val="20001"/>
                    </a:ext>
                  </a:extLst>
                </a:gridCol>
              </a:tblGrid>
              <a:tr h="539013">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nSpc>
                          <a:spcPct val="100000"/>
                        </a:lnSpc>
                        <a:spcBef>
                          <a:spcPts val="0"/>
                        </a:spcBef>
                        <a:spcAft>
                          <a:spcPts val="0"/>
                        </a:spcAft>
                      </a:pPr>
                      <a:r>
                        <a:rPr lang="en-US" sz="800" b="1" u="sng">
                          <a:solidFill>
                            <a:srgbClr val="8A226F"/>
                          </a:solidFill>
                          <a:effectLst/>
                          <a:latin typeface="Segoe UI" panose="020B0502040204020203" pitchFamily="34" charset="0"/>
                          <a:ea typeface="Calibri" panose="020F0502020204030204" pitchFamily="34" charset="0"/>
                          <a:cs typeface="Segoe UI" panose="020B0502040204020203" pitchFamily="34" charset="0"/>
                          <a:hlinkClick r:id="rId6">
                            <a:extLst>
                              <a:ext uri="{A12FA001-AC4F-418D-AE19-62706E023703}">
                                <ahyp:hlinkClr xmlns:ahyp="http://schemas.microsoft.com/office/drawing/2018/hyperlinkcolor" val="tx"/>
                              </a:ext>
                            </a:extLst>
                          </a:hlinkClick>
                        </a:rPr>
                        <a:t>Microsoft Defender for Office 365 Plan 2</a:t>
                      </a:r>
                      <a:endParaRPr lang="en-US" sz="800" b="1" u="sng">
                        <a:solidFill>
                          <a:srgbClr val="8A226F"/>
                        </a:solidFill>
                        <a:effectLst/>
                        <a:latin typeface="Segoe UI" panose="020B0502040204020203" pitchFamily="34" charset="0"/>
                        <a:ea typeface="Calibri" panose="020F0502020204030204" pitchFamily="34" charset="0"/>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gn="ctr">
                        <a:lnSpc>
                          <a:spcPct val="100000"/>
                        </a:lnSpc>
                        <a:spcBef>
                          <a:spcPts val="0"/>
                        </a:spcBef>
                        <a:spcAft>
                          <a:spcPts val="0"/>
                        </a:spcAft>
                      </a:pPr>
                      <a:r>
                        <a:rPr lang="en-US" sz="800" b="1">
                          <a:solidFill>
                            <a:srgbClr val="000000"/>
                          </a:solidFill>
                          <a:effectLst/>
                          <a:latin typeface="Segoe UI" panose="020B0502040204020203" pitchFamily="34" charset="0"/>
                          <a:ea typeface="Calibri" panose="020F0502020204030204" pitchFamily="34" charset="0"/>
                          <a:cs typeface="Segoe UI" panose="020B0502040204020203" pitchFamily="34" charset="0"/>
                        </a:rPr>
                        <a:t>$5.00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rtl="0" eaLnBrk="1" fontAlgn="auto" latinLnBrk="0" hangingPunct="1">
                        <a:lnSpc>
                          <a:spcPct val="100000"/>
                        </a:lnSpc>
                        <a:spcBef>
                          <a:spcPts val="0"/>
                        </a:spcBef>
                        <a:spcAft>
                          <a:spcPts val="0"/>
                        </a:spcAft>
                        <a:buClrTx/>
                        <a:buSzTx/>
                        <a:buFontTx/>
                        <a:buNone/>
                      </a:pPr>
                      <a:r>
                        <a:rPr lang="en-US" sz="800" b="1">
                          <a:solidFill>
                            <a:srgbClr val="000000"/>
                          </a:solidFill>
                          <a:latin typeface="Segoe UI Bold" pitchFamily="34" charset="0"/>
                          <a:ea typeface="Segoe UI Bold" pitchFamily="34" charset="-122"/>
                          <a:cs typeface="Segoe UI Bold" pitchFamily="34" charset="-120"/>
                        </a:rPr>
                        <a:t>Automated investigation and response</a:t>
                      </a:r>
                      <a:r>
                        <a:rPr lang="en-US" sz="800">
                          <a:solidFill>
                            <a:srgbClr val="000000"/>
                          </a:solidFill>
                          <a:latin typeface="Segoe UI Regular" pitchFamily="34" charset="0"/>
                          <a:ea typeface="Segoe UI Regular" pitchFamily="34" charset="-122"/>
                          <a:cs typeface="Segoe UI Regular" pitchFamily="34" charset="-120"/>
                        </a:rPr>
                        <a:t>, and end user phishing simulation trainings</a:t>
                      </a:r>
                      <a:endParaRPr lang="en-US" sz="800" b="0" i="0">
                        <a:solidFill>
                          <a:srgbClr val="000000"/>
                        </a:solidFill>
                        <a:latin typeface="Segoe UI" panose="020B0502040204020203"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539013">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1" i="0" u="sng" strike="noStrike" kern="1200" cap="none" spc="0" normalizeH="0" baseline="0" noProof="0">
                          <a:ln>
                            <a:noFill/>
                          </a:ln>
                          <a:solidFill>
                            <a:srgbClr val="8A226F"/>
                          </a:solidFill>
                          <a:effectLst/>
                          <a:uLnTx/>
                          <a:uFillTx/>
                          <a:latin typeface="Segoe UI" panose="020B0502040204020203" pitchFamily="34" charset="0"/>
                          <a:ea typeface="Calibri" panose="020F0502020204030204" pitchFamily="34" charset="0"/>
                          <a:cs typeface="Segoe UI" panose="020B0502040204020203" pitchFamily="34" charset="0"/>
                          <a:hlinkClick r:id="rId7">
                            <a:extLst>
                              <a:ext uri="{A12FA001-AC4F-418D-AE19-62706E023703}">
                                <ahyp:hlinkClr xmlns:ahyp="http://schemas.microsoft.com/office/drawing/2018/hyperlinkcolor" val="tx"/>
                              </a:ext>
                            </a:extLst>
                          </a:hlinkClick>
                        </a:rPr>
                        <a:t>Microsoft Defender for Cloud Apps</a:t>
                      </a:r>
                      <a:endParaRPr kumimoji="0" lang="en-US" sz="800" b="1" i="0" u="sng" strike="noStrike" kern="1200" cap="none" spc="0" normalizeH="0" baseline="30000" noProof="0">
                        <a:ln>
                          <a:noFill/>
                        </a:ln>
                        <a:solidFill>
                          <a:srgbClr val="8A226F"/>
                        </a:solidFill>
                        <a:effectLst/>
                        <a:uLnTx/>
                        <a:uFillTx/>
                        <a:latin typeface="Segoe UI" panose="020B0502040204020203" pitchFamily="34" charset="0"/>
                        <a:ea typeface="Calibri" panose="020F0502020204030204" pitchFamily="34" charset="0"/>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Segoe UI" panose="020B0502040204020203" pitchFamily="34" charset="0"/>
                          <a:ea typeface="Calibri" panose="020F0502020204030204" pitchFamily="34" charset="0"/>
                          <a:cs typeface="Segoe UI" panose="020B0502040204020203" pitchFamily="34" charset="0"/>
                        </a:rPr>
                        <a:t>$3.50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rtl="0" eaLnBrk="1" fontAlgn="auto" latinLnBrk="0" hangingPunct="1">
                        <a:lnSpc>
                          <a:spcPct val="100000"/>
                        </a:lnSpc>
                        <a:spcBef>
                          <a:spcPts val="0"/>
                        </a:spcBef>
                        <a:spcAft>
                          <a:spcPts val="0"/>
                        </a:spcAft>
                        <a:buFontTx/>
                        <a:buNone/>
                      </a:pPr>
                      <a:r>
                        <a:rPr lang="en-US" sz="800" b="1">
                          <a:solidFill>
                            <a:srgbClr val="000000"/>
                          </a:solidFill>
                          <a:latin typeface="Segoe UI Bold" pitchFamily="34" charset="0"/>
                          <a:ea typeface="Segoe UI Bold" pitchFamily="34" charset="-122"/>
                          <a:cs typeface="Segoe UI Bold" pitchFamily="34" charset="-120"/>
                        </a:rPr>
                        <a:t>Automatically discover and block apps</a:t>
                      </a:r>
                      <a:r>
                        <a:rPr lang="en-US" sz="800">
                          <a:solidFill>
                            <a:srgbClr val="000000"/>
                          </a:solidFill>
                          <a:latin typeface="Segoe UI Regular" pitchFamily="34" charset="0"/>
                          <a:ea typeface="Segoe UI Regular" pitchFamily="34" charset="-122"/>
                          <a:cs typeface="Segoe UI Regular" pitchFamily="34" charset="-120"/>
                        </a:rPr>
                        <a:t> based on risk level, unusual user activity, or data-sharing behavior</a:t>
                      </a:r>
                      <a:endParaRPr lang="en-US" sz="800" b="0" i="0" baseline="0">
                        <a:solidFill>
                          <a:srgbClr val="000000"/>
                        </a:solidFill>
                        <a:effectLst/>
                        <a:latin typeface="Segoe UI" panose="020B0502040204020203" pitchFamily="34" charset="0"/>
                        <a:ea typeface="Calibri" panose="020F0502020204030204"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9606157"/>
                  </a:ext>
                </a:extLst>
              </a:tr>
              <a:tr h="736076">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nSpc>
                          <a:spcPct val="100000"/>
                        </a:lnSpc>
                        <a:spcBef>
                          <a:spcPts val="0"/>
                        </a:spcBef>
                        <a:spcAft>
                          <a:spcPts val="0"/>
                        </a:spcAft>
                      </a:pPr>
                      <a:r>
                        <a:rPr lang="en-US" sz="800" b="1" u="none" kern="1200">
                          <a:solidFill>
                            <a:srgbClr val="8A226F"/>
                          </a:solidFill>
                          <a:effectLst/>
                          <a:latin typeface="Segoe UI" panose="020B0502040204020203" pitchFamily="34" charset="0"/>
                          <a:ea typeface="Calibri" panose="020F0502020204030204" pitchFamily="34" charset="0"/>
                          <a:cs typeface="Segoe UI" panose="020B0502040204020203" pitchFamily="34" charset="0"/>
                          <a:hlinkClick r:id="rId8">
                            <a:extLst>
                              <a:ext uri="{A12FA001-AC4F-418D-AE19-62706E023703}">
                                <ahyp:hlinkClr xmlns:ahyp="http://schemas.microsoft.com/office/drawing/2018/hyperlinkcolor" val="tx"/>
                              </a:ext>
                            </a:extLst>
                          </a:hlinkClick>
                        </a:rPr>
                        <a:t>Microsoft Entra ID P2</a:t>
                      </a:r>
                      <a:endParaRPr lang="en-US" sz="800" b="1" u="none" kern="1200">
                        <a:solidFill>
                          <a:srgbClr val="8A226F"/>
                        </a:solidFill>
                        <a:effectLst/>
                        <a:latin typeface="Segoe UI" panose="020B0502040204020203" pitchFamily="34" charset="0"/>
                        <a:ea typeface="Calibri" panose="020F0502020204030204" pitchFamily="34" charset="0"/>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gn="ctr">
                        <a:lnSpc>
                          <a:spcPct val="100000"/>
                        </a:lnSpc>
                        <a:spcBef>
                          <a:spcPts val="0"/>
                        </a:spcBef>
                        <a:spcAft>
                          <a:spcPts val="0"/>
                        </a:spcAft>
                      </a:pPr>
                      <a:r>
                        <a:rPr lang="en-US" sz="800" b="1" kern="1200">
                          <a:solidFill>
                            <a:srgbClr val="000000"/>
                          </a:solidFill>
                          <a:effectLst/>
                          <a:latin typeface="Segoe UI" panose="020B0502040204020203" pitchFamily="34" charset="0"/>
                          <a:ea typeface="Calibri" panose="020F0502020204030204" pitchFamily="34" charset="0"/>
                          <a:cs typeface="Segoe UI" panose="020B0502040204020203" pitchFamily="34" charset="0"/>
                        </a:rPr>
                        <a:t>$9.00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a:lnSpc>
                          <a:spcPct val="100000"/>
                        </a:lnSpc>
                        <a:spcBef>
                          <a:spcPts val="0"/>
                        </a:spcBef>
                        <a:spcAft>
                          <a:spcPts val="0"/>
                        </a:spcAft>
                      </a:pPr>
                      <a:r>
                        <a:rPr lang="en-US" sz="800" b="1">
                          <a:solidFill>
                            <a:srgbClr val="000000"/>
                          </a:solidFill>
                          <a:latin typeface="Segoe UI Bold" pitchFamily="34" charset="0"/>
                          <a:ea typeface="Segoe UI Bold" pitchFamily="34" charset="-122"/>
                          <a:cs typeface="Segoe UI Bold" pitchFamily="34" charset="-120"/>
                        </a:rPr>
                        <a:t>Risk-based conditional access</a:t>
                      </a:r>
                      <a:r>
                        <a:rPr lang="en-US" sz="800">
                          <a:solidFill>
                            <a:srgbClr val="000000"/>
                          </a:solidFill>
                          <a:latin typeface="Segoe UI Regular" pitchFamily="34" charset="0"/>
                          <a:ea typeface="Segoe UI Regular" pitchFamily="34" charset="-122"/>
                          <a:cs typeface="Segoe UI Regular" pitchFamily="34" charset="-120"/>
                        </a:rPr>
                        <a:t>, visibility into risky sign-ins and user behavior anomalies. </a:t>
                      </a:r>
                      <a:r>
                        <a:rPr lang="en-US" sz="800" b="1">
                          <a:solidFill>
                            <a:srgbClr val="000000"/>
                          </a:solidFill>
                          <a:latin typeface="Segoe UI Bold" pitchFamily="34" charset="0"/>
                          <a:ea typeface="Segoe UI Bold" pitchFamily="34" charset="-122"/>
                          <a:cs typeface="Segoe UI Bold" pitchFamily="34" charset="-120"/>
                        </a:rPr>
                        <a:t>ID Governance </a:t>
                      </a:r>
                      <a:r>
                        <a:rPr lang="en-US" sz="800">
                          <a:solidFill>
                            <a:srgbClr val="000000"/>
                          </a:solidFill>
                          <a:latin typeface="Segoe UI Regular" pitchFamily="34" charset="0"/>
                          <a:ea typeface="Segoe UI Regular" pitchFamily="34" charset="-122"/>
                          <a:cs typeface="Segoe UI Regular" pitchFamily="34" charset="-120"/>
                        </a:rPr>
                        <a:t>and </a:t>
                      </a:r>
                      <a:r>
                        <a:rPr lang="en-US" sz="800" b="1">
                          <a:solidFill>
                            <a:srgbClr val="000000"/>
                          </a:solidFill>
                          <a:latin typeface="Segoe UI Bold" pitchFamily="34" charset="0"/>
                          <a:ea typeface="Segoe UI Bold" pitchFamily="34" charset="-122"/>
                          <a:cs typeface="Segoe UI Bold" pitchFamily="34" charset="-120"/>
                        </a:rPr>
                        <a:t>Privileged Identity Management</a:t>
                      </a:r>
                      <a:endParaRPr lang="en-US" sz="800" b="0" i="0" kern="1200">
                        <a:solidFill>
                          <a:srgbClr val="000000"/>
                        </a:solidFill>
                        <a:effectLst/>
                        <a:latin typeface="Segoe UI" panose="020B0502040204020203" pitchFamily="34" charset="0"/>
                        <a:ea typeface="Calibri" panose="020F0502020204030204"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9365125"/>
                  </a:ext>
                </a:extLst>
              </a:tr>
              <a:tr h="539013">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nSpc>
                          <a:spcPct val="100000"/>
                        </a:lnSpc>
                        <a:spcBef>
                          <a:spcPts val="0"/>
                        </a:spcBef>
                        <a:spcAft>
                          <a:spcPts val="0"/>
                        </a:spcAft>
                      </a:pPr>
                      <a:r>
                        <a:rPr lang="en-US" sz="800" b="1" u="sng" kern="1200">
                          <a:solidFill>
                            <a:srgbClr val="8A226F"/>
                          </a:solidFill>
                          <a:effectLst/>
                          <a:latin typeface="Segoe UI" panose="020B0502040204020203" pitchFamily="34" charset="0"/>
                          <a:ea typeface="Calibri" panose="020F0502020204030204" pitchFamily="34" charset="0"/>
                          <a:cs typeface="Segoe UI" panose="020B0502040204020203" pitchFamily="34" charset="0"/>
                          <a:hlinkClick r:id="rId9">
                            <a:extLst>
                              <a:ext uri="{A12FA001-AC4F-418D-AE19-62706E023703}">
                                <ahyp:hlinkClr xmlns:ahyp="http://schemas.microsoft.com/office/drawing/2018/hyperlinkcolor" val="tx"/>
                              </a:ext>
                            </a:extLst>
                          </a:hlinkClick>
                        </a:rPr>
                        <a:t>Microsoft Defender for Identity</a:t>
                      </a:r>
                      <a:endParaRPr lang="en-US" sz="800" b="1" u="sng" kern="1200">
                        <a:solidFill>
                          <a:srgbClr val="8A226F"/>
                        </a:solidFill>
                        <a:effectLst/>
                        <a:latin typeface="Segoe UI" panose="020B0502040204020203" pitchFamily="34" charset="0"/>
                        <a:ea typeface="Calibri" panose="020F0502020204030204" pitchFamily="34" charset="0"/>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gn="ctr">
                        <a:lnSpc>
                          <a:spcPct val="100000"/>
                        </a:lnSpc>
                        <a:spcBef>
                          <a:spcPts val="0"/>
                        </a:spcBef>
                        <a:spcAft>
                          <a:spcPts val="0"/>
                        </a:spcAft>
                      </a:pPr>
                      <a:r>
                        <a:rPr lang="en-US" sz="800" b="1" kern="1200">
                          <a:solidFill>
                            <a:srgbClr val="000000"/>
                          </a:solidFill>
                          <a:effectLst/>
                          <a:latin typeface="Segoe UI" panose="020B0502040204020203" pitchFamily="34" charset="0"/>
                          <a:ea typeface="Calibri" panose="020F0502020204030204" pitchFamily="34" charset="0"/>
                          <a:cs typeface="Segoe UI" panose="020B0502040204020203" pitchFamily="34" charset="0"/>
                        </a:rPr>
                        <a:t>$5.50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a:lnSpc>
                          <a:spcPct val="100000"/>
                        </a:lnSpc>
                        <a:spcBef>
                          <a:spcPts val="0"/>
                        </a:spcBef>
                        <a:spcAft>
                          <a:spcPts val="0"/>
                        </a:spcAft>
                      </a:pPr>
                      <a:r>
                        <a:rPr lang="en-US" sz="800">
                          <a:solidFill>
                            <a:srgbClr val="000000"/>
                          </a:solidFill>
                          <a:latin typeface="Segoe UI Regular" pitchFamily="34" charset="0"/>
                          <a:ea typeface="Segoe UI Regular" pitchFamily="34" charset="-122"/>
                          <a:cs typeface="Segoe UI Regular" pitchFamily="34" charset="-120"/>
                        </a:rPr>
                        <a:t>Identify, detect, and investigate </a:t>
                      </a:r>
                      <a:r>
                        <a:rPr lang="en-US" sz="800" b="1">
                          <a:solidFill>
                            <a:srgbClr val="000000"/>
                          </a:solidFill>
                          <a:latin typeface="Segoe UI Bold" pitchFamily="34" charset="0"/>
                          <a:ea typeface="Segoe UI Bold" pitchFamily="34" charset="-122"/>
                          <a:cs typeface="Segoe UI Bold" pitchFamily="34" charset="-120"/>
                        </a:rPr>
                        <a:t>advanced threats, compromised identities, and malicious insider actions</a:t>
                      </a:r>
                      <a:endParaRPr lang="en-US" sz="800" b="0" i="0">
                        <a:solidFill>
                          <a:srgbClr val="000000"/>
                        </a:solidFill>
                        <a:effectLst/>
                        <a:latin typeface="Segoe UI" panose="020B0502040204020203"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1762922"/>
                  </a:ext>
                </a:extLst>
              </a:tr>
              <a:tr h="539013">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a:lnSpc>
                          <a:spcPct val="100000"/>
                        </a:lnSpc>
                        <a:spcBef>
                          <a:spcPts val="0"/>
                        </a:spcBef>
                        <a:spcAft>
                          <a:spcPts val="0"/>
                        </a:spcAft>
                      </a:pPr>
                      <a:r>
                        <a:rPr lang="en-US" sz="800" b="1" u="sng" kern="1200">
                          <a:solidFill>
                            <a:srgbClr val="8A226F"/>
                          </a:solidFill>
                          <a:effectLst/>
                          <a:latin typeface="Segoe UI" panose="020B0502040204020203" pitchFamily="34" charset="0"/>
                          <a:cs typeface="Segoe UI" panose="020B0502040204020203" pitchFamily="34" charset="0"/>
                          <a:hlinkClick r:id="rId10">
                            <a:extLst>
                              <a:ext uri="{A12FA001-AC4F-418D-AE19-62706E023703}">
                                <ahyp:hlinkClr xmlns:ahyp="http://schemas.microsoft.com/office/drawing/2018/hyperlinkcolor" val="tx"/>
                              </a:ext>
                            </a:extLst>
                          </a:hlinkClick>
                        </a:rPr>
                        <a:t>Microsoft Defender for Endpoint</a:t>
                      </a:r>
                      <a:r>
                        <a:rPr lang="en-US" sz="800" b="1" u="sng" kern="1200">
                          <a:solidFill>
                            <a:srgbClr val="8A226F"/>
                          </a:solidFill>
                          <a:effectLst/>
                          <a:latin typeface="Segoe UI" panose="020B0502040204020203" pitchFamily="34" charset="0"/>
                          <a:cs typeface="Segoe UI" panose="020B0502040204020203" pitchFamily="34" charset="0"/>
                        </a:rPr>
                        <a:t> Plan 2</a:t>
                      </a: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algn="ctr">
                        <a:lnSpc>
                          <a:spcPct val="100000"/>
                        </a:lnSpc>
                        <a:spcBef>
                          <a:spcPts val="0"/>
                        </a:spcBef>
                        <a:spcAft>
                          <a:spcPts val="0"/>
                        </a:spcAft>
                      </a:pPr>
                      <a:r>
                        <a:rPr lang="en-US" sz="800" b="1" kern="1200">
                          <a:solidFill>
                            <a:srgbClr val="000000"/>
                          </a:solidFill>
                          <a:effectLst/>
                          <a:latin typeface="Segoe UI" panose="020B0502040204020203" pitchFamily="34" charset="0"/>
                          <a:cs typeface="Segoe UI" panose="020B0502040204020203" pitchFamily="34" charset="0"/>
                        </a:rPr>
                        <a:t>$5.20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rtl="0" eaLnBrk="1" fontAlgn="auto" latinLnBrk="0" hangingPunct="1">
                        <a:lnSpc>
                          <a:spcPct val="100000"/>
                        </a:lnSpc>
                        <a:spcBef>
                          <a:spcPts val="0"/>
                        </a:spcBef>
                        <a:spcAft>
                          <a:spcPts val="0"/>
                        </a:spcAft>
                        <a:buFontTx/>
                        <a:buNone/>
                      </a:pPr>
                      <a:r>
                        <a:rPr lang="en-US" sz="800" b="1">
                          <a:solidFill>
                            <a:srgbClr val="000000"/>
                          </a:solidFill>
                          <a:latin typeface="Segoe UI Bold" pitchFamily="34" charset="0"/>
                          <a:ea typeface="Segoe UI Bold" pitchFamily="34" charset="-122"/>
                          <a:cs typeface="Segoe UI Bold" pitchFamily="34" charset="-120"/>
                        </a:rPr>
                        <a:t>EDR with advanced threat hunting</a:t>
                      </a:r>
                      <a:r>
                        <a:rPr lang="en-US" sz="800">
                          <a:solidFill>
                            <a:srgbClr val="000000"/>
                          </a:solidFill>
                          <a:latin typeface="Segoe UI Regular" pitchFamily="34" charset="0"/>
                          <a:ea typeface="Segoe UI Regular" pitchFamily="34" charset="-122"/>
                          <a:cs typeface="Segoe UI Regular" pitchFamily="34" charset="-120"/>
                        </a:rPr>
                        <a:t>, as well as access to threat experts for additional investigations</a:t>
                      </a:r>
                      <a:endParaRPr lang="en-US" sz="800" b="0" i="0" kern="1200">
                        <a:solidFill>
                          <a:srgbClr val="000000"/>
                        </a:solidFill>
                        <a:effectLst/>
                        <a:latin typeface="Segoe UI" panose="020B0502040204020203"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4678730"/>
                  </a:ext>
                </a:extLst>
              </a:tr>
              <a:tr h="539013">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1" u="sng" kern="1200">
                          <a:solidFill>
                            <a:srgbClr val="8A226F"/>
                          </a:solidFill>
                          <a:effectLst/>
                          <a:latin typeface="Segoe UI" panose="020B0502040204020203" pitchFamily="34" charset="0"/>
                          <a:ea typeface="+mn-ea"/>
                          <a:cs typeface="Segoe UI" panose="020B0502040204020203" pitchFamily="34" charset="0"/>
                          <a:hlinkClick r:id="rId11">
                            <a:extLst>
                              <a:ext uri="{A12FA001-AC4F-418D-AE19-62706E023703}">
                                <ahyp:hlinkClr xmlns:ahyp="http://schemas.microsoft.com/office/drawing/2018/hyperlinkcolor" val="tx"/>
                              </a:ext>
                            </a:extLst>
                          </a:hlinkClick>
                        </a:rPr>
                        <a:t>Microsoft Defender for IoT – EIoT</a:t>
                      </a:r>
                      <a:r>
                        <a:rPr lang="en-US" sz="800" b="1" u="sng" kern="1200" baseline="30000">
                          <a:solidFill>
                            <a:srgbClr val="8A226F"/>
                          </a:solidFill>
                          <a:effectLst/>
                          <a:latin typeface="Segoe UI" panose="020B0502040204020203" pitchFamily="34" charset="0"/>
                          <a:ea typeface="+mn-ea"/>
                          <a:cs typeface="Segoe UI" panose="020B0502040204020203" pitchFamily="34" charset="0"/>
                          <a:hlinkClick r:id="rId11">
                            <a:extLst>
                              <a:ext uri="{A12FA001-AC4F-418D-AE19-62706E023703}">
                                <ahyp:hlinkClr xmlns:ahyp="http://schemas.microsoft.com/office/drawing/2018/hyperlinkcolor" val="tx"/>
                              </a:ext>
                            </a:extLst>
                          </a:hlinkClick>
                        </a:rPr>
                        <a:t>2</a:t>
                      </a:r>
                      <a:endParaRPr lang="en-US" sz="800" b="1" u="sng" kern="1200" baseline="30000">
                        <a:solidFill>
                          <a:srgbClr val="8A226F"/>
                        </a:solidFill>
                        <a:effectLst/>
                        <a:latin typeface="Segoe UI" panose="020B0502040204020203" pitchFamily="34" charset="0"/>
                        <a:ea typeface="+mn-ea"/>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800" b="1" kern="1200">
                          <a:solidFill>
                            <a:srgbClr val="000000"/>
                          </a:solidFill>
                          <a:effectLst/>
                          <a:latin typeface="Segoe UI" panose="020B0502040204020203" pitchFamily="34" charset="0"/>
                          <a:cs typeface="Segoe UI" panose="020B0502040204020203" pitchFamily="34" charset="0"/>
                        </a:rPr>
                        <a:t>$0.85*</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0" i="0" kern="1200">
                          <a:solidFill>
                            <a:srgbClr val="000000"/>
                          </a:solidFill>
                          <a:effectLst/>
                          <a:latin typeface="Segoe UI" panose="020B0502040204020203" pitchFamily="34" charset="0"/>
                          <a:cs typeface="Segoe UI" panose="020B0502040204020203" pitchFamily="34" charset="0"/>
                        </a:rPr>
                        <a:t>Enables discovery of network devices, vulnerability management, and threat detection and response.</a:t>
                      </a: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5928535"/>
                  </a:ext>
                </a:extLst>
              </a:tr>
              <a:tr h="736076">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1" u="sng" kern="1200" baseline="0">
                          <a:solidFill>
                            <a:srgbClr val="8A226F"/>
                          </a:solidFill>
                          <a:effectLst/>
                          <a:latin typeface="Segoe UI" panose="020B0502040204020203" pitchFamily="34" charset="0"/>
                          <a:ea typeface="+mn-ea"/>
                          <a:cs typeface="Segoe UI" panose="020B0502040204020203" pitchFamily="34" charset="0"/>
                        </a:rPr>
                        <a:t>M365 E5 ​eDiscovery &amp; Audit ​</a:t>
                      </a: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800" b="1" kern="1200">
                          <a:solidFill>
                            <a:srgbClr val="000000"/>
                          </a:solidFill>
                          <a:effectLst/>
                          <a:latin typeface="Segoe UI" panose="020B0502040204020203" pitchFamily="34" charset="0"/>
                          <a:cs typeface="Segoe UI" panose="020B0502040204020203" pitchFamily="34" charset="0"/>
                        </a:rPr>
                        <a:t>$6.00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a:solidFill>
                            <a:srgbClr val="000000"/>
                          </a:solidFill>
                          <a:latin typeface="Segoe UI" panose="020B0502040204020203" pitchFamily="34" charset="0"/>
                          <a:ea typeface="Segoe UI Regular" pitchFamily="34" charset="-122"/>
                          <a:cs typeface="Segoe UI" panose="020B0502040204020203" pitchFamily="34" charset="0"/>
                        </a:rPr>
                        <a:t>Integrated tools and deep visibility for legal and compliance teams to </a:t>
                      </a:r>
                      <a:r>
                        <a:rPr lang="en-US" sz="800" b="1">
                          <a:solidFill>
                            <a:srgbClr val="000000"/>
                          </a:solidFill>
                          <a:latin typeface="Segoe UI" panose="020B0502040204020203" pitchFamily="34" charset="0"/>
                          <a:ea typeface="Segoe UI Regular" pitchFamily="34" charset="-122"/>
                          <a:cs typeface="Segoe UI" panose="020B0502040204020203" pitchFamily="34" charset="0"/>
                        </a:rPr>
                        <a:t>streamline investigations, enforce legal holds, and maintain regulatory readiness</a:t>
                      </a:r>
                      <a:endParaRPr lang="en-US" sz="800" b="0" i="0" kern="1200">
                        <a:gradFill>
                          <a:gsLst>
                            <a:gs pos="2917">
                              <a:schemeClr val="tx1"/>
                            </a:gs>
                            <a:gs pos="100000">
                              <a:schemeClr val="tx1"/>
                            </a:gs>
                          </a:gsLst>
                          <a:lin ang="5400000" scaled="0"/>
                        </a:gradFill>
                        <a:effectLst/>
                        <a:latin typeface="Segoe UI" panose="020B0502040204020203" pitchFamily="34" charset="0"/>
                        <a:ea typeface="+mn-ea"/>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6897632"/>
                  </a:ext>
                </a:extLst>
              </a:tr>
              <a:tr h="736076">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1" u="sng" kern="1200" baseline="0">
                          <a:solidFill>
                            <a:srgbClr val="8A226F"/>
                          </a:solidFill>
                          <a:effectLst/>
                          <a:latin typeface="Segoe UI" panose="020B0502040204020203" pitchFamily="34" charset="0"/>
                          <a:ea typeface="+mn-ea"/>
                          <a:cs typeface="Segoe UI" panose="020B0502040204020203" pitchFamily="34" charset="0"/>
                        </a:rPr>
                        <a:t>Information Protection &amp; Governance</a:t>
                      </a: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800" b="1" kern="1200">
                          <a:solidFill>
                            <a:srgbClr val="000000"/>
                          </a:solidFill>
                          <a:effectLst/>
                          <a:latin typeface="Segoe UI" panose="020B0502040204020203" pitchFamily="34" charset="0"/>
                          <a:cs typeface="Segoe UI" panose="020B0502040204020203" pitchFamily="34" charset="0"/>
                        </a:rPr>
                        <a:t>$7.00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defTabSz="914367" rtl="0" eaLnBrk="1" fontAlgn="auto" latinLnBrk="0" hangingPunct="1">
                        <a:lnSpc>
                          <a:spcPct val="100000"/>
                        </a:lnSpc>
                        <a:spcBef>
                          <a:spcPts val="0"/>
                        </a:spcBef>
                        <a:spcAft>
                          <a:spcPts val="100"/>
                        </a:spcAft>
                        <a:buClrTx/>
                        <a:buSzTx/>
                        <a:buFontTx/>
                        <a:buNone/>
                        <a:tabLst/>
                        <a:defRPr/>
                      </a:pPr>
                      <a:r>
                        <a:rPr lang="en-US" sz="800" b="1">
                          <a:solidFill>
                            <a:srgbClr val="000000"/>
                          </a:solidFill>
                          <a:latin typeface="Segoe UI" panose="020B0502040204020203" pitchFamily="34" charset="0"/>
                          <a:ea typeface="Segoe UI Regular" pitchFamily="34" charset="-122"/>
                          <a:cs typeface="Segoe UI" panose="020B0502040204020203" pitchFamily="34" charset="0"/>
                        </a:rPr>
                        <a:t>Classify, protect, and manage sensitive data across its lifecycle</a:t>
                      </a:r>
                      <a:r>
                        <a:rPr lang="en-US" sz="800">
                          <a:solidFill>
                            <a:srgbClr val="000000"/>
                          </a:solidFill>
                          <a:latin typeface="Segoe UI" panose="020B0502040204020203" pitchFamily="34" charset="0"/>
                          <a:ea typeface="Segoe UI Regular" pitchFamily="34" charset="-122"/>
                          <a:cs typeface="Segoe UI" panose="020B0502040204020203" pitchFamily="34" charset="0"/>
                        </a:rPr>
                        <a:t>, ensuring secure collaboration and compliance at scale</a:t>
                      </a:r>
                      <a:endParaRPr lang="en-US" sz="800" b="0" i="0" kern="1200">
                        <a:gradFill>
                          <a:gsLst>
                            <a:gs pos="2917">
                              <a:schemeClr val="tx1"/>
                            </a:gs>
                            <a:gs pos="100000">
                              <a:schemeClr val="tx1"/>
                            </a:gs>
                          </a:gsLst>
                          <a:lin ang="5400000" scaled="0"/>
                        </a:gradFill>
                        <a:effectLst/>
                        <a:latin typeface="Segoe UI" panose="020B0502040204020203" pitchFamily="34" charset="0"/>
                        <a:ea typeface="+mn-ea"/>
                        <a:cs typeface="Segoe UI" panose="020B0502040204020203" pitchFamily="34" charset="0"/>
                      </a:endParaRPr>
                    </a:p>
                  </a:txBody>
                  <a:tcPr marL="32682" marR="32682"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77455"/>
                  </a:ext>
                </a:extLst>
              </a:tr>
              <a:tr h="736076">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1" u="sng" kern="1200" baseline="0">
                          <a:solidFill>
                            <a:srgbClr val="8A226F"/>
                          </a:solidFill>
                          <a:effectLst/>
                          <a:latin typeface="Segoe UI" panose="020B0502040204020203" pitchFamily="34" charset="0"/>
                          <a:ea typeface="+mn-ea"/>
                          <a:cs typeface="Segoe UI" panose="020B0502040204020203" pitchFamily="34" charset="0"/>
                        </a:rPr>
                        <a:t>Insider Risk Management</a:t>
                      </a: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800" b="1" kern="1200">
                          <a:solidFill>
                            <a:srgbClr val="000000"/>
                          </a:solidFill>
                          <a:effectLst/>
                          <a:latin typeface="Segoe UI" panose="020B0502040204020203" pitchFamily="34" charset="0"/>
                          <a:cs typeface="Segoe UI" panose="020B0502040204020203" pitchFamily="34" charset="0"/>
                        </a:rPr>
                        <a:t>$6.00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14367" rtl="0" eaLnBrk="1" fontAlgn="auto" latinLnBrk="0" hangingPunct="1">
                        <a:lnSpc>
                          <a:spcPct val="100000"/>
                        </a:lnSpc>
                        <a:spcBef>
                          <a:spcPts val="0"/>
                        </a:spcBef>
                        <a:spcAft>
                          <a:spcPts val="100"/>
                        </a:spcAft>
                        <a:buClrTx/>
                        <a:buSzTx/>
                        <a:buFontTx/>
                        <a:buNone/>
                        <a:tabLst/>
                        <a:defRPr/>
                      </a:pPr>
                      <a:r>
                        <a:rPr lang="en-US" sz="800">
                          <a:solidFill>
                            <a:srgbClr val="000000"/>
                          </a:solidFill>
                          <a:latin typeface="Segoe UI" panose="020B0502040204020203" pitchFamily="34" charset="0"/>
                          <a:ea typeface="Segoe UI Regular" pitchFamily="34" charset="-122"/>
                          <a:cs typeface="Segoe UI" panose="020B0502040204020203" pitchFamily="34" charset="0"/>
                        </a:rPr>
                        <a:t>Detect and mitigate internal threats with </a:t>
                      </a:r>
                      <a:r>
                        <a:rPr lang="en-US" sz="800" b="1">
                          <a:solidFill>
                            <a:srgbClr val="000000"/>
                          </a:solidFill>
                          <a:latin typeface="Segoe UI" panose="020B0502040204020203" pitchFamily="34" charset="0"/>
                          <a:ea typeface="Segoe UI Regular" pitchFamily="34" charset="-122"/>
                          <a:cs typeface="Segoe UI" panose="020B0502040204020203" pitchFamily="34" charset="0"/>
                        </a:rPr>
                        <a:t>privacy-respecting behavioral analytics and granular communication controls</a:t>
                      </a:r>
                      <a:endParaRPr lang="en-US" sz="800" b="0" i="0">
                        <a:gradFill>
                          <a:gsLst>
                            <a:gs pos="2917">
                              <a:schemeClr val="tx1"/>
                            </a:gs>
                            <a:gs pos="100000">
                              <a:schemeClr val="tx1"/>
                            </a:gs>
                          </a:gsLst>
                          <a:lin ang="5400000" scaled="0"/>
                        </a:gradFill>
                        <a:latin typeface="Segoe UI" panose="020B0502040204020203" pitchFamily="34" charset="0"/>
                        <a:cs typeface="Segoe UI" panose="020B0502040204020203" pitchFamily="34" charset="0"/>
                      </a:endParaRPr>
                    </a:p>
                  </a:txBody>
                  <a:tcPr marL="32682" marR="32682"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8517232"/>
                  </a:ext>
                </a:extLst>
              </a:tr>
            </a:tbl>
          </a:graphicData>
        </a:graphic>
      </p:graphicFrame>
      <p:sp>
        <p:nvSpPr>
          <p:cNvPr id="38" name="TextBox 37">
            <a:extLst>
              <a:ext uri="{FF2B5EF4-FFF2-40B4-BE49-F238E27FC236}">
                <a16:creationId xmlns:a16="http://schemas.microsoft.com/office/drawing/2014/main" id="{BE677EFB-5162-0315-F0F0-43987902C36F}"/>
              </a:ext>
            </a:extLst>
          </p:cNvPr>
          <p:cNvSpPr txBox="1"/>
          <p:nvPr/>
        </p:nvSpPr>
        <p:spPr>
          <a:xfrm>
            <a:off x="526488" y="7100577"/>
            <a:ext cx="2889250" cy="201978"/>
          </a:xfrm>
          <a:prstGeom prst="rect">
            <a:avLst/>
          </a:prstGeom>
          <a:noFill/>
        </p:spPr>
        <p:txBody>
          <a:bodyPr wrap="square" lIns="0" tIns="0" rIns="0" bIns="0" rtlCol="0">
            <a:spAutoFit/>
          </a:bodyPr>
          <a:lstStyle>
            <a:defPPr>
              <a:defRPr lang="en-US"/>
            </a:defPPr>
            <a:lvl1pPr marL="0" algn="l" defTabSz="350947" rtl="0" eaLnBrk="1" latinLnBrk="0" hangingPunct="1">
              <a:defRPr sz="1382" kern="1200">
                <a:solidFill>
                  <a:schemeClr val="tx1"/>
                </a:solidFill>
                <a:latin typeface="+mn-lt"/>
                <a:ea typeface="+mn-ea"/>
                <a:cs typeface="+mn-cs"/>
              </a:defRPr>
            </a:lvl1pPr>
            <a:lvl2pPr marL="350947" algn="l" defTabSz="350947" rtl="0" eaLnBrk="1" latinLnBrk="0" hangingPunct="1">
              <a:defRPr sz="1382" kern="1200">
                <a:solidFill>
                  <a:schemeClr val="tx1"/>
                </a:solidFill>
                <a:latin typeface="+mn-lt"/>
                <a:ea typeface="+mn-ea"/>
                <a:cs typeface="+mn-cs"/>
              </a:defRPr>
            </a:lvl2pPr>
            <a:lvl3pPr marL="701893" algn="l" defTabSz="350947" rtl="0" eaLnBrk="1" latinLnBrk="0" hangingPunct="1">
              <a:defRPr sz="1382" kern="1200">
                <a:solidFill>
                  <a:schemeClr val="tx1"/>
                </a:solidFill>
                <a:latin typeface="+mn-lt"/>
                <a:ea typeface="+mn-ea"/>
                <a:cs typeface="+mn-cs"/>
              </a:defRPr>
            </a:lvl3pPr>
            <a:lvl4pPr marL="1052840" algn="l" defTabSz="350947" rtl="0" eaLnBrk="1" latinLnBrk="0" hangingPunct="1">
              <a:defRPr sz="1382" kern="1200">
                <a:solidFill>
                  <a:schemeClr val="tx1"/>
                </a:solidFill>
                <a:latin typeface="+mn-lt"/>
                <a:ea typeface="+mn-ea"/>
                <a:cs typeface="+mn-cs"/>
              </a:defRPr>
            </a:lvl4pPr>
            <a:lvl5pPr marL="1403787" algn="l" defTabSz="350947" rtl="0" eaLnBrk="1" latinLnBrk="0" hangingPunct="1">
              <a:defRPr sz="1382" kern="1200">
                <a:solidFill>
                  <a:schemeClr val="tx1"/>
                </a:solidFill>
                <a:latin typeface="+mn-lt"/>
                <a:ea typeface="+mn-ea"/>
                <a:cs typeface="+mn-cs"/>
              </a:defRPr>
            </a:lvl5pPr>
            <a:lvl6pPr marL="1754734" algn="l" defTabSz="350947" rtl="0" eaLnBrk="1" latinLnBrk="0" hangingPunct="1">
              <a:defRPr sz="1382" kern="1200">
                <a:solidFill>
                  <a:schemeClr val="tx1"/>
                </a:solidFill>
                <a:latin typeface="+mn-lt"/>
                <a:ea typeface="+mn-ea"/>
                <a:cs typeface="+mn-cs"/>
              </a:defRPr>
            </a:lvl6pPr>
            <a:lvl7pPr marL="2105680" algn="l" defTabSz="350947" rtl="0" eaLnBrk="1" latinLnBrk="0" hangingPunct="1">
              <a:defRPr sz="1382" kern="1200">
                <a:solidFill>
                  <a:schemeClr val="tx1"/>
                </a:solidFill>
                <a:latin typeface="+mn-lt"/>
                <a:ea typeface="+mn-ea"/>
                <a:cs typeface="+mn-cs"/>
              </a:defRPr>
            </a:lvl7pPr>
            <a:lvl8pPr marL="2456627" algn="l" defTabSz="350947" rtl="0" eaLnBrk="1" latinLnBrk="0" hangingPunct="1">
              <a:defRPr sz="1382" kern="1200">
                <a:solidFill>
                  <a:schemeClr val="tx1"/>
                </a:solidFill>
                <a:latin typeface="+mn-lt"/>
                <a:ea typeface="+mn-ea"/>
                <a:cs typeface="+mn-cs"/>
              </a:defRPr>
            </a:lvl8pPr>
            <a:lvl9pPr marL="2807574" algn="l" defTabSz="350947" rtl="0" eaLnBrk="1" latinLnBrk="0" hangingPunct="1">
              <a:defRPr sz="1382"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gradFill>
                  <a:gsLst>
                    <a:gs pos="2917">
                      <a:srgbClr val="000000"/>
                    </a:gs>
                    <a:gs pos="30000">
                      <a:srgbClr val="000000"/>
                    </a:gs>
                  </a:gsLst>
                  <a:lin ang="5400000" scaled="0"/>
                </a:gradFill>
                <a:effectLst/>
                <a:uLnTx/>
                <a:uFillTx/>
                <a:latin typeface="Segoe Sans Display"/>
                <a:ea typeface="+mn-ea"/>
                <a:cs typeface="+mn-cs"/>
              </a:rPr>
              <a:t>Prices – ERP /per user/per month</a:t>
            </a:r>
            <a:endParaRPr kumimoji="0" lang="en-US" sz="438" b="0" i="0" u="none" strike="noStrike" kern="1200" cap="none" spc="0" normalizeH="0" baseline="0" noProof="0">
              <a:ln>
                <a:noFill/>
              </a:ln>
              <a:gradFill>
                <a:gsLst>
                  <a:gs pos="2917">
                    <a:srgbClr val="000000"/>
                  </a:gs>
                  <a:gs pos="30000">
                    <a:srgbClr val="000000"/>
                  </a:gs>
                </a:gsLst>
                <a:lin ang="5400000" scaled="0"/>
              </a:gradFill>
              <a:effectLst/>
              <a:uLnTx/>
              <a:uFillTx/>
              <a:latin typeface="Segoe Sans Display"/>
              <a:ea typeface="+mn-ea"/>
              <a:cs typeface="Segoe UI"/>
            </a:endParaRPr>
          </a:p>
          <a:p>
            <a:pPr marL="0" marR="0" lvl="0" indent="0" algn="l" defTabSz="66678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30000" noProof="0">
                <a:ln>
                  <a:noFill/>
                </a:ln>
                <a:solidFill>
                  <a:srgbClr val="000000"/>
                </a:solidFill>
                <a:effectLst/>
                <a:uLnTx/>
                <a:uFillTx/>
                <a:latin typeface="Segoe Sans Display"/>
                <a:ea typeface="+mn-ea"/>
                <a:cs typeface="+mn-cs"/>
              </a:rPr>
              <a:t>1</a:t>
            </a:r>
            <a:r>
              <a:rPr kumimoji="0" lang="en-US" sz="438" b="0" i="0" u="none" strike="noStrike" kern="1200" cap="none" spc="0" normalizeH="0" baseline="0" noProof="0">
                <a:ln>
                  <a:noFill/>
                </a:ln>
                <a:solidFill>
                  <a:srgbClr val="000000"/>
                </a:solidFill>
                <a:effectLst/>
                <a:uLnTx/>
                <a:uFillTx/>
                <a:latin typeface="Segoe Sans Display"/>
                <a:ea typeface="+mn-ea"/>
                <a:cs typeface="+mn-cs"/>
              </a:rPr>
              <a:t>Only provided via Microsoft 365 E5 or Microsoft Defender Suite</a:t>
            </a:r>
          </a:p>
          <a:p>
            <a:pPr marL="0" marR="0" lvl="0" indent="0" algn="l" defTabSz="66678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30000" noProof="0">
                <a:ln>
                  <a:noFill/>
                </a:ln>
                <a:solidFill>
                  <a:srgbClr val="000000"/>
                </a:solidFill>
                <a:effectLst/>
                <a:uLnTx/>
                <a:uFillTx/>
                <a:latin typeface="Segoe Sans Display"/>
                <a:ea typeface="+mn-ea"/>
                <a:cs typeface="+mn-cs"/>
              </a:rPr>
              <a:t>2</a:t>
            </a:r>
            <a:r>
              <a:rPr kumimoji="0" lang="en-US" sz="438" b="0" i="0" u="none" strike="noStrike" kern="1200" cap="none" spc="0" normalizeH="0" baseline="0" noProof="0">
                <a:ln>
                  <a:noFill/>
                </a:ln>
                <a:solidFill>
                  <a:srgbClr val="000000"/>
                </a:solidFill>
                <a:effectLst/>
                <a:uLnTx/>
                <a:uFillTx/>
                <a:latin typeface="Segoe Sans Display"/>
                <a:ea typeface="+mn-ea"/>
                <a:cs typeface="+mn-cs"/>
              </a:rPr>
              <a:t>Per device per month</a:t>
            </a:r>
          </a:p>
        </p:txBody>
      </p:sp>
      <p:grpSp>
        <p:nvGrpSpPr>
          <p:cNvPr id="39" name="Group 38">
            <a:extLst>
              <a:ext uri="{FF2B5EF4-FFF2-40B4-BE49-F238E27FC236}">
                <a16:creationId xmlns:a16="http://schemas.microsoft.com/office/drawing/2014/main" id="{0721547A-3D42-3808-BFC8-B73A66A78D42}"/>
              </a:ext>
              <a:ext uri="{C183D7F6-B498-43B3-948B-1728B52AA6E4}">
                <adec:decorative xmlns:adec="http://schemas.microsoft.com/office/drawing/2017/decorative" val="1"/>
              </a:ext>
            </a:extLst>
          </p:cNvPr>
          <p:cNvGrpSpPr/>
          <p:nvPr/>
        </p:nvGrpSpPr>
        <p:grpSpPr>
          <a:xfrm>
            <a:off x="526489" y="1565730"/>
            <a:ext cx="130283" cy="5321113"/>
            <a:chOff x="1646420" y="1472880"/>
            <a:chExt cx="182880" cy="4200883"/>
          </a:xfrm>
        </p:grpSpPr>
        <p:cxnSp>
          <p:nvCxnSpPr>
            <p:cNvPr id="40" name="Straight Connector 39">
              <a:extLst>
                <a:ext uri="{FF2B5EF4-FFF2-40B4-BE49-F238E27FC236}">
                  <a16:creationId xmlns:a16="http://schemas.microsoft.com/office/drawing/2014/main" id="{93CFD49A-28C9-E09F-572A-C4BE720E2A4A}"/>
                </a:ext>
              </a:extLst>
            </p:cNvPr>
            <p:cNvCxnSpPr>
              <a:cxnSpLocks/>
            </p:cNvCxnSpPr>
            <p:nvPr/>
          </p:nvCxnSpPr>
          <p:spPr>
            <a:xfrm>
              <a:off x="1737860" y="1472880"/>
              <a:ext cx="0" cy="4200883"/>
            </a:xfrm>
            <a:prstGeom prst="line">
              <a:avLst/>
            </a:prstGeom>
            <a:noFill/>
            <a:ln w="19050" cap="flat" cmpd="sng" algn="ctr">
              <a:solidFill>
                <a:srgbClr val="44546A"/>
              </a:solidFill>
              <a:prstDash val="solid"/>
              <a:miter lim="800000"/>
              <a:headEnd type="none" w="lg" len="med"/>
              <a:tailEnd type="none" w="lg" len="med"/>
            </a:ln>
            <a:effectLst/>
          </p:spPr>
        </p:cxnSp>
        <p:cxnSp>
          <p:nvCxnSpPr>
            <p:cNvPr id="41" name="Straight Connector 40">
              <a:extLst>
                <a:ext uri="{FF2B5EF4-FFF2-40B4-BE49-F238E27FC236}">
                  <a16:creationId xmlns:a16="http://schemas.microsoft.com/office/drawing/2014/main" id="{B6A109C7-290A-7015-3DCF-256D3BD64717}"/>
                </a:ext>
              </a:extLst>
            </p:cNvPr>
            <p:cNvCxnSpPr>
              <a:cxnSpLocks/>
            </p:cNvCxnSpPr>
            <p:nvPr/>
          </p:nvCxnSpPr>
          <p:spPr>
            <a:xfrm>
              <a:off x="1646420" y="5673763"/>
              <a:ext cx="182880" cy="0"/>
            </a:xfrm>
            <a:prstGeom prst="line">
              <a:avLst/>
            </a:prstGeom>
            <a:noFill/>
            <a:ln w="19050" cap="rnd" cmpd="sng" algn="ctr">
              <a:solidFill>
                <a:srgbClr val="44546A"/>
              </a:solidFill>
              <a:prstDash val="solid"/>
              <a:miter lim="800000"/>
              <a:headEnd type="none" w="lg" len="med"/>
              <a:tailEnd type="none" w="lg" len="med"/>
            </a:ln>
            <a:effectLst/>
          </p:spPr>
        </p:cxnSp>
        <p:cxnSp>
          <p:nvCxnSpPr>
            <p:cNvPr id="42" name="Straight Connector 41">
              <a:extLst>
                <a:ext uri="{FF2B5EF4-FFF2-40B4-BE49-F238E27FC236}">
                  <a16:creationId xmlns:a16="http://schemas.microsoft.com/office/drawing/2014/main" id="{4B051150-C648-E133-1BB6-B594BE977748}"/>
                </a:ext>
              </a:extLst>
            </p:cNvPr>
            <p:cNvCxnSpPr>
              <a:cxnSpLocks/>
            </p:cNvCxnSpPr>
            <p:nvPr/>
          </p:nvCxnSpPr>
          <p:spPr>
            <a:xfrm>
              <a:off x="1646420" y="1472880"/>
              <a:ext cx="182880" cy="0"/>
            </a:xfrm>
            <a:prstGeom prst="line">
              <a:avLst/>
            </a:prstGeom>
            <a:noFill/>
            <a:ln w="19050" cap="rnd" cmpd="sng" algn="ctr">
              <a:solidFill>
                <a:srgbClr val="44546A"/>
              </a:solidFill>
              <a:prstDash val="solid"/>
              <a:miter lim="800000"/>
              <a:headEnd type="none" w="lg" len="med"/>
              <a:tailEnd type="none" w="lg" len="med"/>
            </a:ln>
            <a:effectLst/>
          </p:spPr>
        </p:cxnSp>
      </p:grpSp>
      <p:sp>
        <p:nvSpPr>
          <p:cNvPr id="43" name="TextBox 42">
            <a:extLst>
              <a:ext uri="{FF2B5EF4-FFF2-40B4-BE49-F238E27FC236}">
                <a16:creationId xmlns:a16="http://schemas.microsoft.com/office/drawing/2014/main" id="{FF872E0B-793C-5A5C-39D1-B14D743A2FFB}"/>
              </a:ext>
            </a:extLst>
          </p:cNvPr>
          <p:cNvSpPr txBox="1"/>
          <p:nvPr/>
        </p:nvSpPr>
        <p:spPr>
          <a:xfrm>
            <a:off x="344022" y="3811212"/>
            <a:ext cx="506331" cy="799450"/>
          </a:xfrm>
          <a:prstGeom prst="rect">
            <a:avLst/>
          </a:prstGeom>
          <a:solidFill>
            <a:sysClr val="window" lastClr="FFFFFF"/>
          </a:solidFill>
        </p:spPr>
        <p:txBody>
          <a:bodyPr wrap="square" lIns="33338" rIns="33338" anchor="ctr" anchorCtr="0">
            <a:spAutoFit/>
          </a:bodyPr>
          <a:lstStyle>
            <a:defPPr>
              <a:defRPr lang="en-US"/>
            </a:defPPr>
            <a:lvl1pPr marL="0" algn="l" defTabSz="350947" rtl="0" eaLnBrk="1" latinLnBrk="0" hangingPunct="1">
              <a:defRPr sz="1382" kern="1200">
                <a:solidFill>
                  <a:schemeClr val="tx1"/>
                </a:solidFill>
                <a:latin typeface="+mn-lt"/>
                <a:ea typeface="+mn-ea"/>
                <a:cs typeface="+mn-cs"/>
              </a:defRPr>
            </a:lvl1pPr>
            <a:lvl2pPr marL="350947" algn="l" defTabSz="350947" rtl="0" eaLnBrk="1" latinLnBrk="0" hangingPunct="1">
              <a:defRPr sz="1382" kern="1200">
                <a:solidFill>
                  <a:schemeClr val="tx1"/>
                </a:solidFill>
                <a:latin typeface="+mn-lt"/>
                <a:ea typeface="+mn-ea"/>
                <a:cs typeface="+mn-cs"/>
              </a:defRPr>
            </a:lvl2pPr>
            <a:lvl3pPr marL="701893" algn="l" defTabSz="350947" rtl="0" eaLnBrk="1" latinLnBrk="0" hangingPunct="1">
              <a:defRPr sz="1382" kern="1200">
                <a:solidFill>
                  <a:schemeClr val="tx1"/>
                </a:solidFill>
                <a:latin typeface="+mn-lt"/>
                <a:ea typeface="+mn-ea"/>
                <a:cs typeface="+mn-cs"/>
              </a:defRPr>
            </a:lvl3pPr>
            <a:lvl4pPr marL="1052840" algn="l" defTabSz="350947" rtl="0" eaLnBrk="1" latinLnBrk="0" hangingPunct="1">
              <a:defRPr sz="1382" kern="1200">
                <a:solidFill>
                  <a:schemeClr val="tx1"/>
                </a:solidFill>
                <a:latin typeface="+mn-lt"/>
                <a:ea typeface="+mn-ea"/>
                <a:cs typeface="+mn-cs"/>
              </a:defRPr>
            </a:lvl4pPr>
            <a:lvl5pPr marL="1403787" algn="l" defTabSz="350947" rtl="0" eaLnBrk="1" latinLnBrk="0" hangingPunct="1">
              <a:defRPr sz="1382" kern="1200">
                <a:solidFill>
                  <a:schemeClr val="tx1"/>
                </a:solidFill>
                <a:latin typeface="+mn-lt"/>
                <a:ea typeface="+mn-ea"/>
                <a:cs typeface="+mn-cs"/>
              </a:defRPr>
            </a:lvl5pPr>
            <a:lvl6pPr marL="1754734" algn="l" defTabSz="350947" rtl="0" eaLnBrk="1" latinLnBrk="0" hangingPunct="1">
              <a:defRPr sz="1382" kern="1200">
                <a:solidFill>
                  <a:schemeClr val="tx1"/>
                </a:solidFill>
                <a:latin typeface="+mn-lt"/>
                <a:ea typeface="+mn-ea"/>
                <a:cs typeface="+mn-cs"/>
              </a:defRPr>
            </a:lvl6pPr>
            <a:lvl7pPr marL="2105680" algn="l" defTabSz="350947" rtl="0" eaLnBrk="1" latinLnBrk="0" hangingPunct="1">
              <a:defRPr sz="1382" kern="1200">
                <a:solidFill>
                  <a:schemeClr val="tx1"/>
                </a:solidFill>
                <a:latin typeface="+mn-lt"/>
                <a:ea typeface="+mn-ea"/>
                <a:cs typeface="+mn-cs"/>
              </a:defRPr>
            </a:lvl7pPr>
            <a:lvl8pPr marL="2456627" algn="l" defTabSz="350947" rtl="0" eaLnBrk="1" latinLnBrk="0" hangingPunct="1">
              <a:defRPr sz="1382" kern="1200">
                <a:solidFill>
                  <a:schemeClr val="tx1"/>
                </a:solidFill>
                <a:latin typeface="+mn-lt"/>
                <a:ea typeface="+mn-ea"/>
                <a:cs typeface="+mn-cs"/>
              </a:defRPr>
            </a:lvl8pPr>
            <a:lvl9pPr marL="2807574" algn="l" defTabSz="350947" rtl="0" eaLnBrk="1" latinLnBrk="0" hangingPunct="1">
              <a:defRPr sz="1382" kern="1200">
                <a:solidFill>
                  <a:schemeClr val="tx1"/>
                </a:solidFill>
                <a:latin typeface="+mn-lt"/>
                <a:ea typeface="+mn-ea"/>
                <a:cs typeface="+mn-cs"/>
              </a:defRPr>
            </a:lvl9pPr>
          </a:lstStyle>
          <a:p>
            <a:pPr marL="0" marR="0" lvl="0" indent="0" algn="ctr" defTabSz="680155" rtl="0" eaLnBrk="1" fontAlgn="auto" latinLnBrk="0" hangingPunct="1">
              <a:lnSpc>
                <a:spcPct val="100000"/>
              </a:lnSpc>
              <a:spcBef>
                <a:spcPts val="0"/>
              </a:spcBef>
              <a:spcAft>
                <a:spcPts val="0"/>
              </a:spcAft>
              <a:buClrTx/>
              <a:buSzTx/>
              <a:buFontTx/>
              <a:buNone/>
              <a:tabLst/>
              <a:defRPr/>
            </a:pPr>
            <a:r>
              <a:rPr kumimoji="0" lang="en-US" sz="766" b="0" i="0" u="none" strike="noStrike" kern="0" cap="none" spc="0" normalizeH="0" baseline="0" noProof="0">
                <a:ln>
                  <a:noFill/>
                </a:ln>
                <a:gradFill>
                  <a:gsLst>
                    <a:gs pos="0">
                      <a:srgbClr val="091F2C"/>
                    </a:gs>
                    <a:gs pos="100000">
                      <a:srgbClr val="091F2C"/>
                    </a:gs>
                  </a:gsLst>
                  <a:lin ang="5400000" scaled="1"/>
                </a:gradFill>
                <a:effectLst/>
                <a:uLnTx/>
                <a:uFillTx/>
                <a:latin typeface="Segoe UI Semibold"/>
                <a:ea typeface="Calibri" panose="020F0502020204030204" pitchFamily="34" charset="0"/>
                <a:cs typeface="Segoe UI Semibold"/>
              </a:rPr>
              <a:t>Microsoft Defender and Purview Suites</a:t>
            </a:r>
          </a:p>
          <a:p>
            <a:pPr marL="0" marR="0" lvl="0" indent="0" algn="ctr" defTabSz="680155" rtl="0" eaLnBrk="1" fontAlgn="auto" latinLnBrk="0" hangingPunct="1">
              <a:lnSpc>
                <a:spcPct val="100000"/>
              </a:lnSpc>
              <a:spcBef>
                <a:spcPts val="0"/>
              </a:spcBef>
              <a:spcAft>
                <a:spcPts val="0"/>
              </a:spcAft>
              <a:buClrTx/>
              <a:buSzTx/>
              <a:buFontTx/>
              <a:buNone/>
              <a:tabLst/>
              <a:defRPr/>
            </a:pPr>
            <a:r>
              <a:rPr kumimoji="0" lang="en-US" sz="766" b="0" i="0" u="none" strike="noStrike" kern="0" cap="none" spc="0" normalizeH="0" baseline="0" noProof="0">
                <a:ln>
                  <a:noFill/>
                </a:ln>
                <a:gradFill>
                  <a:gsLst>
                    <a:gs pos="0">
                      <a:srgbClr val="091F2C"/>
                    </a:gs>
                    <a:gs pos="100000">
                      <a:srgbClr val="091F2C"/>
                    </a:gs>
                  </a:gsLst>
                  <a:lin ang="5400000" scaled="1"/>
                </a:gradFill>
                <a:effectLst/>
                <a:uLnTx/>
                <a:uFillTx/>
                <a:latin typeface="Segoe Sans Display"/>
                <a:ea typeface="Calibri" panose="020F0502020204030204" pitchFamily="34" charset="0"/>
                <a:cs typeface="Segoe UI Semibold"/>
              </a:rPr>
              <a:t>($15.00)</a:t>
            </a:r>
            <a:endParaRPr kumimoji="0" lang="en-US" sz="766" b="0" i="0" u="none" strike="noStrike" kern="0" cap="none" spc="0" normalizeH="0" baseline="0" noProof="0">
              <a:ln>
                <a:noFill/>
              </a:ln>
              <a:gradFill>
                <a:gsLst>
                  <a:gs pos="0">
                    <a:srgbClr val="091F2C"/>
                  </a:gs>
                  <a:gs pos="100000">
                    <a:srgbClr val="091F2C"/>
                  </a:gs>
                </a:gsLst>
                <a:lin ang="5400000" scaled="1"/>
              </a:gradFill>
              <a:effectLst/>
              <a:uLnTx/>
              <a:uFillTx/>
              <a:latin typeface="Segoe Sans Display"/>
              <a:ea typeface="+mn-ea"/>
              <a:cs typeface="Segoe UI Semibold"/>
            </a:endParaRPr>
          </a:p>
        </p:txBody>
      </p:sp>
      <p:sp>
        <p:nvSpPr>
          <p:cNvPr id="32" name="Title 31">
            <a:extLst>
              <a:ext uri="{FF2B5EF4-FFF2-40B4-BE49-F238E27FC236}">
                <a16:creationId xmlns:a16="http://schemas.microsoft.com/office/drawing/2014/main" id="{2B7296DD-C2C6-C96D-CAAA-50B400897B48}"/>
              </a:ext>
            </a:extLst>
          </p:cNvPr>
          <p:cNvSpPr txBox="1">
            <a:spLocks noGrp="1"/>
          </p:cNvSpPr>
          <p:nvPr>
            <p:ph type="title" idx="4294967295"/>
          </p:nvPr>
        </p:nvSpPr>
        <p:spPr>
          <a:xfrm>
            <a:off x="291510" y="479645"/>
            <a:ext cx="4291641" cy="5539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50947" rtl="0" eaLnBrk="1" latinLnBrk="0" hangingPunct="1">
              <a:defRPr sz="1382" kern="1200">
                <a:solidFill>
                  <a:schemeClr val="tx1"/>
                </a:solidFill>
                <a:latin typeface="+mn-lt"/>
                <a:ea typeface="+mn-ea"/>
                <a:cs typeface="+mn-cs"/>
              </a:defRPr>
            </a:lvl1pPr>
            <a:lvl2pPr marL="350947" algn="l" defTabSz="350947" rtl="0" eaLnBrk="1" latinLnBrk="0" hangingPunct="1">
              <a:defRPr sz="1382" kern="1200">
                <a:solidFill>
                  <a:schemeClr val="tx1"/>
                </a:solidFill>
                <a:latin typeface="+mn-lt"/>
                <a:ea typeface="+mn-ea"/>
                <a:cs typeface="+mn-cs"/>
              </a:defRPr>
            </a:lvl2pPr>
            <a:lvl3pPr marL="701893" algn="l" defTabSz="350947" rtl="0" eaLnBrk="1" latinLnBrk="0" hangingPunct="1">
              <a:defRPr sz="1382" kern="1200">
                <a:solidFill>
                  <a:schemeClr val="tx1"/>
                </a:solidFill>
                <a:latin typeface="+mn-lt"/>
                <a:ea typeface="+mn-ea"/>
                <a:cs typeface="+mn-cs"/>
              </a:defRPr>
            </a:lvl3pPr>
            <a:lvl4pPr marL="1052840" algn="l" defTabSz="350947" rtl="0" eaLnBrk="1" latinLnBrk="0" hangingPunct="1">
              <a:defRPr sz="1382" kern="1200">
                <a:solidFill>
                  <a:schemeClr val="tx1"/>
                </a:solidFill>
                <a:latin typeface="+mn-lt"/>
                <a:ea typeface="+mn-ea"/>
                <a:cs typeface="+mn-cs"/>
              </a:defRPr>
            </a:lvl4pPr>
            <a:lvl5pPr marL="1403787" algn="l" defTabSz="350947" rtl="0" eaLnBrk="1" latinLnBrk="0" hangingPunct="1">
              <a:defRPr sz="1382" kern="1200">
                <a:solidFill>
                  <a:schemeClr val="tx1"/>
                </a:solidFill>
                <a:latin typeface="+mn-lt"/>
                <a:ea typeface="+mn-ea"/>
                <a:cs typeface="+mn-cs"/>
              </a:defRPr>
            </a:lvl5pPr>
            <a:lvl6pPr marL="1754734" algn="l" defTabSz="350947" rtl="0" eaLnBrk="1" latinLnBrk="0" hangingPunct="1">
              <a:defRPr sz="1382" kern="1200">
                <a:solidFill>
                  <a:schemeClr val="tx1"/>
                </a:solidFill>
                <a:latin typeface="+mn-lt"/>
                <a:ea typeface="+mn-ea"/>
                <a:cs typeface="+mn-cs"/>
              </a:defRPr>
            </a:lvl6pPr>
            <a:lvl7pPr marL="2105680" algn="l" defTabSz="350947" rtl="0" eaLnBrk="1" latinLnBrk="0" hangingPunct="1">
              <a:defRPr sz="1382" kern="1200">
                <a:solidFill>
                  <a:schemeClr val="tx1"/>
                </a:solidFill>
                <a:latin typeface="+mn-lt"/>
                <a:ea typeface="+mn-ea"/>
                <a:cs typeface="+mn-cs"/>
              </a:defRPr>
            </a:lvl7pPr>
            <a:lvl8pPr marL="2456627" algn="l" defTabSz="350947" rtl="0" eaLnBrk="1" latinLnBrk="0" hangingPunct="1">
              <a:defRPr sz="1382" kern="1200">
                <a:solidFill>
                  <a:schemeClr val="tx1"/>
                </a:solidFill>
                <a:latin typeface="+mn-lt"/>
                <a:ea typeface="+mn-ea"/>
                <a:cs typeface="+mn-cs"/>
              </a:defRPr>
            </a:lvl8pPr>
            <a:lvl9pPr marL="2807574" algn="l" defTabSz="350947" rtl="0" eaLnBrk="1" latinLnBrk="0" hangingPunct="1">
              <a:defRPr sz="1382" kern="1200">
                <a:solidFill>
                  <a:schemeClr val="tx1"/>
                </a:solidFill>
                <a:latin typeface="+mn-lt"/>
                <a:ea typeface="+mn-ea"/>
                <a:cs typeface="+mn-cs"/>
              </a:defRPr>
            </a:lvl9pPr>
          </a:lstStyle>
          <a:p>
            <a:r>
              <a:rPr lang="en-US" sz="1800">
                <a:solidFill>
                  <a:srgbClr val="000000"/>
                </a:solidFill>
                <a:latin typeface="Segoe UI Semibold" pitchFamily="34" charset="0"/>
                <a:ea typeface="Segoe UI Semibold" pitchFamily="34" charset="-122"/>
                <a:cs typeface="Segoe UI Semibold" pitchFamily="34" charset="-120"/>
              </a:rPr>
              <a:t>What you get from Business Premium, Defender Suite, and Purview Suite?</a:t>
            </a:r>
            <a:endParaRPr lang="en-US" sz="1800"/>
          </a:p>
        </p:txBody>
      </p:sp>
    </p:spTree>
    <p:extLst>
      <p:ext uri="{BB962C8B-B14F-4D97-AF65-F5344CB8AC3E}">
        <p14:creationId xmlns:p14="http://schemas.microsoft.com/office/powerpoint/2010/main" val="3120473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42" presetClass="path" presetSubtype="0" decel="100000" fill="hold" nodeType="withEffect">
                                  <p:stCondLst>
                                    <p:cond delay="0"/>
                                  </p:stCondLst>
                                  <p:childTnLst>
                                    <p:animMotion origin="layout" path="M 0 0 L 0 0.03843 " pathEditMode="relative" rAng="0" ptsTypes="AA">
                                      <p:cBhvr>
                                        <p:cTn id="9" dur="500" spd="-100000" fill="hold"/>
                                        <p:tgtEl>
                                          <p:spTgt spid="36"/>
                                        </p:tgtEl>
                                        <p:attrNameLst>
                                          <p:attrName>ppt_x</p:attrName>
                                          <p:attrName>ppt_y</p:attrName>
                                        </p:attrNameLst>
                                      </p:cBhvr>
                                      <p:rCtr x="0" y="1921"/>
                                    </p:animMotion>
                                  </p:childTnLst>
                                </p:cTn>
                              </p:par>
                              <p:par>
                                <p:cTn id="10" presetID="10" presetClass="entr" presetSubtype="0" fill="hold" nodeType="with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00"/>
                                        <p:tgtEl>
                                          <p:spTgt spid="39"/>
                                        </p:tgtEl>
                                      </p:cBhvr>
                                    </p:animEffect>
                                  </p:childTnLst>
                                </p:cTn>
                              </p:par>
                              <p:par>
                                <p:cTn id="13" presetID="42" presetClass="path" presetSubtype="0" decel="100000" fill="hold" nodeType="withEffect">
                                  <p:stCondLst>
                                    <p:cond delay="0"/>
                                  </p:stCondLst>
                                  <p:childTnLst>
                                    <p:animMotion origin="layout" path="M 0 0 L 0 0.03843 " pathEditMode="relative" rAng="0" ptsTypes="AA">
                                      <p:cBhvr>
                                        <p:cTn id="14" dur="500" spd="-100000" fill="hold"/>
                                        <p:tgtEl>
                                          <p:spTgt spid="39"/>
                                        </p:tgtEl>
                                        <p:attrNameLst>
                                          <p:attrName>ppt_x</p:attrName>
                                          <p:attrName>ppt_y</p:attrName>
                                        </p:attrNameLst>
                                      </p:cBhvr>
                                      <p:rCtr x="0" y="1921"/>
                                    </p:animMotion>
                                  </p:childTnLst>
                                </p:cTn>
                              </p:par>
                              <p:par>
                                <p:cTn id="15" presetID="10"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par>
                                <p:cTn id="18" presetID="42" presetClass="path" presetSubtype="0" decel="100000" fill="hold" grpId="1" nodeType="withEffect">
                                  <p:stCondLst>
                                    <p:cond delay="0"/>
                                  </p:stCondLst>
                                  <p:childTnLst>
                                    <p:animMotion origin="layout" path="M 0 0 L 0 0.03843 " pathEditMode="relative" rAng="0" ptsTypes="AA">
                                      <p:cBhvr>
                                        <p:cTn id="19" dur="500" spd="-100000" fill="hold"/>
                                        <p:tgtEl>
                                          <p:spTgt spid="43"/>
                                        </p:tgtEl>
                                        <p:attrNameLst>
                                          <p:attrName>ppt_x</p:attrName>
                                          <p:attrName>ppt_y</p:attrName>
                                        </p:attrNameLst>
                                      </p:cBhvr>
                                      <p:rCtr x="0" y="192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3"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369093"/>
            <a:ext cx="4534376" cy="9500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 to add </a:t>
            </a:r>
            <a:r>
              <a:rPr kumimoji="0" lang="en-US" sz="18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rPr>
              <a:t>Defender Suite and Purview Suite </a:t>
            </a:r>
            <a:r>
              <a:rPr kumimoji="0" lang="en-US" sz="18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to </a:t>
            </a:r>
            <a:r>
              <a:rPr kumimoji="0" lang="en-US" sz="18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rPr>
              <a:t>Business Premium</a:t>
            </a:r>
          </a:p>
        </p:txBody>
      </p:sp>
      <p:sp>
        <p:nvSpPr>
          <p:cNvPr id="3" name="Identity and access management Single sign-on for apps and devices and multifactor authentication for work accounts Data compliance Ability to log and search for audited activities with Microsoft Purview Audit Threat protection Automatic spam and malware">
            <a:extLst>
              <a:ext uri="{FF2B5EF4-FFF2-40B4-BE49-F238E27FC236}">
                <a16:creationId xmlns:a16="http://schemas.microsoft.com/office/drawing/2014/main" id="{79B3C482-B6EF-F65E-08E2-9E465EDEC652}"/>
              </a:ext>
            </a:extLst>
          </p:cNvPr>
          <p:cNvSpPr/>
          <p:nvPr/>
        </p:nvSpPr>
        <p:spPr>
          <a:xfrm>
            <a:off x="409575" y="6803533"/>
            <a:ext cx="4848225" cy="538609"/>
          </a:xfrm>
          <a:prstGeom prst="rect">
            <a:avLst/>
          </a:prstGeom>
          <a:noFill/>
          <a:ln/>
        </p:spPr>
        <p:txBody>
          <a:bodyPr wrap="square" lIns="0" tIns="0" rIns="0" bIns="0" rtlCol="0" anchor="t" anchorCtr="0">
            <a:spAutoFit/>
          </a:bodyPr>
          <a:lstStyle/>
          <a:p>
            <a:pPr>
              <a:defRPr/>
            </a:pPr>
            <a:r>
              <a:rPr lang="en-US" sz="700" dirty="0">
                <a:solidFill>
                  <a:srgbClr val="000000"/>
                </a:solidFill>
                <a:highlight>
                  <a:srgbClr val="FFFF00"/>
                </a:highlight>
                <a:latin typeface="Segoe UI Semibold"/>
                <a:cs typeface="Segoe UI Semibold"/>
              </a:rPr>
              <a:t>[NOTE - PLEASE DELETE BEFORE SENDING TO THE CUSTOMER]</a:t>
            </a:r>
            <a:endParaRPr lang="en-US" sz="900" dirty="0"/>
          </a:p>
          <a:p>
            <a:pPr>
              <a:defRPr/>
            </a:pPr>
            <a:r>
              <a:rPr lang="en-US" sz="700" dirty="0">
                <a:solidFill>
                  <a:srgbClr val="000000"/>
                </a:solidFill>
                <a:highlight>
                  <a:srgbClr val="FFFF00"/>
                </a:highlight>
                <a:latin typeface="Segoe UI"/>
                <a:cs typeface="Segoe UI"/>
              </a:rPr>
              <a:t>The calculation above is based on active promos, partner MAICPP status, Microsoft Commercial Incentives, and Microsoft list price, </a:t>
            </a:r>
            <a:r>
              <a:rPr lang="en-US" sz="700" dirty="0">
                <a:solidFill>
                  <a:srgbClr val="000000"/>
                </a:solidFill>
                <a:highlight>
                  <a:srgbClr val="FFFF00"/>
                </a:highlight>
                <a:latin typeface="Segoe UI"/>
                <a:ea typeface="Segoe UI Regular" pitchFamily="34" charset="-122"/>
                <a:cs typeface="Segoe UI"/>
              </a:rPr>
              <a:t>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endParaRPr lang="en-US" sz="900" dirty="0"/>
          </a:p>
        </p:txBody>
      </p:sp>
      <p:graphicFrame>
        <p:nvGraphicFramePr>
          <p:cNvPr id="2" name="Table 1">
            <a:extLst>
              <a:ext uri="{FF2B5EF4-FFF2-40B4-BE49-F238E27FC236}">
                <a16:creationId xmlns:a16="http://schemas.microsoft.com/office/drawing/2014/main" id="{784CE04A-1FB3-396C-64C8-76EA83D8C209}"/>
              </a:ext>
            </a:extLst>
          </p:cNvPr>
          <p:cNvGraphicFramePr>
            <a:graphicFrameLocks noGrp="1"/>
          </p:cNvGraphicFramePr>
          <p:nvPr>
            <p:extLst>
              <p:ext uri="{D42A27DB-BD31-4B8C-83A1-F6EECF244321}">
                <p14:modId xmlns:p14="http://schemas.microsoft.com/office/powerpoint/2010/main" val="3204952849"/>
              </p:ext>
            </p:extLst>
          </p:nvPr>
        </p:nvGraphicFramePr>
        <p:xfrm>
          <a:off x="388938" y="1456314"/>
          <a:ext cx="4848226" cy="500003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53302390"/>
                    </a:ext>
                  </a:extLst>
                </a:gridCol>
                <a:gridCol w="2424113">
                  <a:extLst>
                    <a:ext uri="{9D8B030D-6E8A-4147-A177-3AD203B41FA5}">
                      <a16:colId xmlns:a16="http://schemas.microsoft.com/office/drawing/2014/main" val="1315371538"/>
                    </a:ext>
                  </a:extLst>
                </a:gridCol>
              </a:tblGrid>
              <a:tr h="573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75142698"/>
                  </a:ext>
                </a:extLst>
              </a:tr>
              <a:tr h="6325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5844630"/>
                  </a:ext>
                </a:extLst>
              </a:tr>
              <a:tr h="6470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3951144"/>
                  </a:ext>
                </a:extLst>
              </a:tr>
              <a:tr h="5672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7656301"/>
                  </a:ext>
                </a:extLst>
              </a:tr>
              <a:tr h="5343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946251"/>
                  </a:ext>
                </a:extLst>
              </a:tr>
              <a:tr h="7487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7975551"/>
                  </a:ext>
                </a:extLst>
              </a:tr>
              <a:tr h="5482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4064146"/>
                  </a:ext>
                </a:extLst>
              </a:tr>
              <a:tr h="7487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incremental annual investment for {seats}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overall_incremental_cost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112633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highlight>
                  <a:srgbClr val="FFFF00"/>
                </a:highlight>
                <a:uLnTx/>
                <a:uFillTx/>
                <a:latin typeface="Segoe UI Regular" pitchFamily="34" charset="0"/>
                <a:ea typeface="Segoe UI Regular" pitchFamily="34" charset="-122"/>
                <a:cs typeface="Segoe UI Regular" pitchFamily="34" charset="-120"/>
              </a:rPr>
              <a:t>[INSTRUCTION FOR THE PARTNER]</a:t>
            </a: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marL="0" marR="0" lvl="0" indent="0" algn="l" defTabSz="914400" rtl="0" eaLnBrk="1" fontAlgn="auto" latinLnBrk="0" hangingPunct="1">
              <a:lnSpc>
                <a:spcPts val="125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endParaRPr>
          </a:p>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rPr>
              <a:t>You can leverage Copilot Chat to customize this section! Add your website URL, upload this flyer on Copilot Chat, and prompt it to write a draft for this section.</a:t>
            </a:r>
            <a:endParaRPr kumimoji="0" lang="en-US" sz="10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3635423" cy="711733"/>
          </a:xfrm>
          <a:prstGeom prst="rect">
            <a:avLst/>
          </a:prstGeom>
          <a:noFill/>
        </p:spPr>
        <p:txBody>
          <a:bodyPr wrap="square">
            <a:spAutoFit/>
          </a:bodyPr>
          <a:lstStyle/>
          <a:p>
            <a:pPr marL="0" marR="0" lvl="0" indent="0" algn="l" defTabSz="914400" rtl="0" eaLnBrk="1" fontAlgn="auto" latinLnBrk="0" hangingPunct="1">
              <a:lnSpc>
                <a:spcPct val="116667"/>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panose="020B0702040204020203" pitchFamily="34" charset="0"/>
                <a:ea typeface="Inter Semi Bold" pitchFamily="34" charset="-122"/>
                <a:cs typeface="Segoe UI Semibold" panose="020B0702040204020203" pitchFamily="34" charset="0"/>
              </a:rPr>
              <a:t>Enhance your security posture with [PARTNER NAME]</a:t>
            </a:r>
            <a:endParaRPr kumimoji="0" lang="en-US" sz="1800" b="0" i="0" u="none" strike="noStrike" kern="120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1035</Words>
  <Application>Microsoft Office PowerPoint</Application>
  <PresentationFormat>Custom</PresentationFormat>
  <Paragraphs>116</Paragraphs>
  <Slides>5</Slides>
  <Notes>5</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5</vt:i4>
      </vt:variant>
    </vt:vector>
  </HeadingPairs>
  <TitlesOfParts>
    <vt:vector size="21" baseType="lpstr">
      <vt:lpstr>Aptos</vt:lpstr>
      <vt:lpstr>Arial</vt:lpstr>
      <vt:lpstr>Calibri</vt:lpstr>
      <vt:lpstr>Segoe Sans Display</vt:lpstr>
      <vt:lpstr>Segoe Sans Display Semibold</vt:lpstr>
      <vt:lpstr>Segoe Sans Display Semilight</vt:lpstr>
      <vt:lpstr>Segoe Sans Text</vt:lpstr>
      <vt:lpstr>Segoe UI</vt:lpstr>
      <vt:lpstr>Segoe UI Bold</vt:lpstr>
      <vt:lpstr>Segoe UI Regular</vt:lpstr>
      <vt:lpstr>Segoe UI Semibold</vt:lpstr>
      <vt:lpstr>Wingdings</vt:lpstr>
      <vt:lpstr>Office Theme</vt:lpstr>
      <vt:lpstr>2_CSP Template Diamond 06/23</vt:lpstr>
      <vt:lpstr>3_CSP Template Diamond 06/23</vt:lpstr>
      <vt:lpstr>1_Office Theme</vt:lpstr>
      <vt:lpstr>Microsoft Defender Suite for Microsoft 365 Business Premium</vt:lpstr>
      <vt:lpstr>Microsoft Purview Suite for Microsoft 365 Business Premium</vt:lpstr>
      <vt:lpstr>What you get from Business Premium, Defender Suite, and Purview Suite?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15</cp:revision>
  <dcterms:created xsi:type="dcterms:W3CDTF">2026-02-21T17:45:29Z</dcterms:created>
  <dcterms:modified xsi:type="dcterms:W3CDTF">2026-03-02T08:59:51Z</dcterms:modified>
</cp:coreProperties>
</file>