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147470016" r:id="rId3"/>
    <p:sldId id="257" r:id="rId4"/>
    <p:sldId id="2147470014" r:id="rId5"/>
    <p:sldId id="2147470015" r:id="rId6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B74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F1F50-3393-46DB-9884-8F09DE7E754A}" v="1" dt="2026-03-02T08:58:50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368" y="52"/>
      </p:cViewPr>
      <p:guideLst>
        <p:guide orient="horz" pos="2526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ehury" userId="77009b3f-ee31-425d-b17c-2f6ea73f5149" providerId="ADAL" clId="{B729CC40-C5D3-4DFA-B500-D02C8BD993D7}"/>
    <pc:docChg chg="addSld delSld modSld">
      <pc:chgData name="Praveen Dehury" userId="77009b3f-ee31-425d-b17c-2f6ea73f5149" providerId="ADAL" clId="{B729CC40-C5D3-4DFA-B500-D02C8BD993D7}" dt="2026-02-28T11:49:57.677" v="6"/>
      <pc:docMkLst>
        <pc:docMk/>
      </pc:docMkLst>
      <pc:sldChg chg="modSp add mod">
        <pc:chgData name="Praveen Dehury" userId="77009b3f-ee31-425d-b17c-2f6ea73f5149" providerId="ADAL" clId="{B729CC40-C5D3-4DFA-B500-D02C8BD993D7}" dt="2026-02-28T11:49:57.677" v="6"/>
        <pc:sldMkLst>
          <pc:docMk/>
          <pc:sldMk cId="2830339352" sldId="2147470014"/>
        </pc:sldMkLst>
        <pc:spChg chg="mod">
          <ac:chgData name="Praveen Dehury" userId="77009b3f-ee31-425d-b17c-2f6ea73f5149" providerId="ADAL" clId="{B729CC40-C5D3-4DFA-B500-D02C8BD993D7}" dt="2026-02-28T11:49:57.677" v="6"/>
          <ac:spMkLst>
            <pc:docMk/>
            <pc:sldMk cId="2830339352" sldId="2147470014"/>
            <ac:spMk id="3" creationId="{79B3C482-B6EF-F65E-08E2-9E465EDEC652}"/>
          </ac:spMkLst>
        </pc:spChg>
        <pc:spChg chg="mod">
          <ac:chgData name="Praveen Dehury" userId="77009b3f-ee31-425d-b17c-2f6ea73f5149" providerId="ADAL" clId="{B729CC40-C5D3-4DFA-B500-D02C8BD993D7}" dt="2026-02-28T10:29:21.029" v="4" actId="207"/>
          <ac:spMkLst>
            <pc:docMk/>
            <pc:sldMk cId="2830339352" sldId="2147470014"/>
            <ac:spMk id="9" creationId="{FBD0EA6D-9670-1F46-2E2E-01AE80EFC1A8}"/>
          </ac:spMkLst>
        </pc:spChg>
      </pc:sldChg>
      <pc:sldChg chg="add">
        <pc:chgData name="Praveen Dehury" userId="77009b3f-ee31-425d-b17c-2f6ea73f5149" providerId="ADAL" clId="{B729CC40-C5D3-4DFA-B500-D02C8BD993D7}" dt="2026-02-28T10:29:01.537" v="0"/>
        <pc:sldMkLst>
          <pc:docMk/>
          <pc:sldMk cId="243175164" sldId="2147470015"/>
        </pc:sldMkLst>
      </pc:sldChg>
    </pc:docChg>
  </pc:docChgLst>
  <pc:docChgLst>
    <pc:chgData name="Vandan Jain" userId="4244b45b-25d1-413d-855b-6597e767c081" providerId="ADAL" clId="{67AB2A15-26B8-47FB-BEC6-EFDC03C3B3B6}"/>
    <pc:docChg chg="undo custSel addSld delSld modSld">
      <pc:chgData name="Vandan Jain" userId="4244b45b-25d1-413d-855b-6597e767c081" providerId="ADAL" clId="{67AB2A15-26B8-47FB-BEC6-EFDC03C3B3B6}" dt="2026-03-02T09:06:14.551" v="31" actId="20577"/>
      <pc:docMkLst>
        <pc:docMk/>
      </pc:docMkLst>
      <pc:sldChg chg="modSp mod">
        <pc:chgData name="Vandan Jain" userId="4244b45b-25d1-413d-855b-6597e767c081" providerId="ADAL" clId="{67AB2A15-26B8-47FB-BEC6-EFDC03C3B3B6}" dt="2026-03-02T09:06:14.551" v="31" actId="20577"/>
        <pc:sldMkLst>
          <pc:docMk/>
          <pc:sldMk cId="0" sldId="257"/>
        </pc:sldMkLst>
        <pc:spChg chg="mod">
          <ac:chgData name="Vandan Jain" userId="4244b45b-25d1-413d-855b-6597e767c081" providerId="ADAL" clId="{67AB2A15-26B8-47FB-BEC6-EFDC03C3B3B6}" dt="2026-03-02T09:06:14.551" v="31" actId="20577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">
        <pc:chgData name="Vandan Jain" userId="4244b45b-25d1-413d-855b-6597e767c081" providerId="ADAL" clId="{67AB2A15-26B8-47FB-BEC6-EFDC03C3B3B6}" dt="2026-03-02T08:58:53.834" v="30" actId="1035"/>
        <pc:sldMkLst>
          <pc:docMk/>
          <pc:sldMk cId="2830339352" sldId="2147470014"/>
        </pc:sldMkLst>
        <pc:spChg chg="del">
          <ac:chgData name="Vandan Jain" userId="4244b45b-25d1-413d-855b-6597e767c081" providerId="ADAL" clId="{67AB2A15-26B8-47FB-BEC6-EFDC03C3B3B6}" dt="2026-03-02T08:58:50.234" v="27" actId="478"/>
          <ac:spMkLst>
            <pc:docMk/>
            <pc:sldMk cId="2830339352" sldId="2147470014"/>
            <ac:spMk id="33" creationId="{11B08FFE-4B4A-EB5A-4866-8C40B76594CC}"/>
          </ac:spMkLst>
        </pc:spChg>
        <pc:graphicFrameChg chg="add mod">
          <ac:chgData name="Vandan Jain" userId="4244b45b-25d1-413d-855b-6597e767c081" providerId="ADAL" clId="{67AB2A15-26B8-47FB-BEC6-EFDC03C3B3B6}" dt="2026-03-02T08:58:53.834" v="30" actId="1035"/>
          <ac:graphicFrameMkLst>
            <pc:docMk/>
            <pc:sldMk cId="2830339352" sldId="2147470014"/>
            <ac:graphicFrameMk id="2" creationId="{169DAFC7-397C-47C6-B141-9911BD75BC60}"/>
          </ac:graphicFrameMkLst>
        </pc:graphicFrameChg>
        <pc:graphicFrameChg chg="del">
          <ac:chgData name="Vandan Jain" userId="4244b45b-25d1-413d-855b-6597e767c081" providerId="ADAL" clId="{67AB2A15-26B8-47FB-BEC6-EFDC03C3B3B6}" dt="2026-03-02T08:58:50.234" v="27" actId="478"/>
          <ac:graphicFrameMkLst>
            <pc:docMk/>
            <pc:sldMk cId="2830339352" sldId="2147470014"/>
            <ac:graphicFrameMk id="29" creationId="{4E7BB84D-9E35-CF2D-933A-F2164B5B640D}"/>
          </ac:graphicFrameMkLst>
        </pc:graphicFrameChg>
        <pc:picChg chg="del">
          <ac:chgData name="Vandan Jain" userId="4244b45b-25d1-413d-855b-6597e767c081" providerId="ADAL" clId="{67AB2A15-26B8-47FB-BEC6-EFDC03C3B3B6}" dt="2026-03-02T08:58:50.234" v="27" actId="478"/>
          <ac:picMkLst>
            <pc:docMk/>
            <pc:sldMk cId="2830339352" sldId="2147470014"/>
            <ac:picMk id="4" creationId="{65D2BE78-60C7-309F-967D-DB03F5F86A01}"/>
          </ac:picMkLst>
        </pc:pic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6" creationId="{1952BBF0-F332-6F68-FCA0-2C1BC213E0F2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36" creationId="{F7DEC3EF-4F58-6C4A-6003-C653D43A657F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38" creationId="{E75709A2-CB82-9CE6-8820-C613FA844A97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39" creationId="{186A2F42-4516-71B2-0981-A0D3083991C8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40" creationId="{838813B3-0AF8-28F8-0DB3-A2D67FE29936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41" creationId="{5D0ABD50-0663-D5B6-17A1-7728958B21BD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42" creationId="{CB4A4CC7-1BF8-8EB6-BE37-56C8C37F23EB}"/>
          </ac:cxnSpMkLst>
        </pc:cxnChg>
      </pc:sldChg>
      <pc:sldChg chg="modSp add mod">
        <pc:chgData name="Vandan Jain" userId="4244b45b-25d1-413d-855b-6597e767c081" providerId="ADAL" clId="{67AB2A15-26B8-47FB-BEC6-EFDC03C3B3B6}" dt="2026-03-02T08:58:46.780" v="26" actId="20577"/>
        <pc:sldMkLst>
          <pc:docMk/>
          <pc:sldMk cId="4067805866" sldId="2147470016"/>
        </pc:sldMkLst>
        <pc:spChg chg="mod">
          <ac:chgData name="Vandan Jain" userId="4244b45b-25d1-413d-855b-6597e767c081" providerId="ADAL" clId="{67AB2A15-26B8-47FB-BEC6-EFDC03C3B3B6}" dt="2026-03-02T08:58:46.780" v="26" actId="20577"/>
          <ac:spMkLst>
            <pc:docMk/>
            <pc:sldMk cId="4067805866" sldId="2147470016"/>
            <ac:spMk id="32" creationId="{F30B6FEB-AEE6-4C74-E944-EEC3173492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130">
                <a:ln w="3175">
                  <a:noFill/>
                </a:ln>
                <a:solidFill>
                  <a:srgbClr val="2965AF"/>
                </a:solidFill>
                <a:latin typeface="Segoe Sans Display Semibold"/>
                <a:cs typeface="Segoe Sans Display" pitchFamily="2" charset="0"/>
              </a:rPr>
              <a:t>67%  </a:t>
            </a:r>
            <a:br>
              <a:rPr kumimoji="0" lang="en-US" sz="2800" b="0" i="0" u="none" strike="noStrike" kern="1200" cap="none" spc="-130" normalizeH="0" baseline="0" noProof="0">
                <a:ln w="3175">
                  <a:noFill/>
                </a:ln>
                <a:solidFill>
                  <a:srgbClr val="2965A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</a:br>
            <a:r>
              <a:rPr lang="en-US">
                <a:gradFill>
                  <a:gsLst>
                    <a:gs pos="4400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  <a:latin typeface="Segoe Sans Display"/>
                <a:cs typeface="Segoe UI" pitchFamily="34" charset="0"/>
              </a:rPr>
              <a:t>of all phishing attacks utilized some form of AI</a:t>
            </a:r>
          </a:p>
          <a:p>
            <a:endParaRPr lang="en-US"/>
          </a:p>
          <a:p>
            <a:r>
              <a:rPr lang="en-US"/>
              <a:t>292</a:t>
            </a:r>
          </a:p>
          <a:p>
            <a:r>
              <a:rPr lang="en-US"/>
              <a:t>days to identify and contain breaches involving stolen credentials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2735-F5C0-9D94-8980-3AD175EA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EAF3-859A-62A3-022B-886C16A0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44E4C-145D-CAFC-9CF7-05D753B3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EAFC-CBF7-1A7A-C8BE-DD745F3F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89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63E1-146A-595C-6874-BC841C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42B3E-DC18-0B4F-2E3B-70E397FCE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7CD0-A4C6-103B-FA86-B1148C74D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50F-0226-2E53-C9EA-02BDB186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0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23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2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hyperlink" Target="https://www.microsoft.com/en-us/security/blog/2022/02/17/4-best-practices-to-implement-a-comprehensive-zero-trust-security-approach/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0" y="342900"/>
            <a:ext cx="5667374" cy="767714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298" y="86"/>
            <a:ext cx="5671672" cy="1417918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270487" y="1668947"/>
            <a:ext cx="1469495" cy="2469254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58" b="0" i="0" u="none" strike="noStrike" kern="1200" cap="none" spc="0" normalizeH="0" baseline="0" noProof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-1" y="0"/>
            <a:ext cx="5667375" cy="1396789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F30B6FEB-AEE6-4C74-E944-EEC3173492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0487" y="552371"/>
            <a:ext cx="3972165" cy="6285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366729">
              <a:spcBef>
                <a:spcPts val="0"/>
              </a:spcBef>
            </a:pPr>
            <a:r>
              <a:rPr lang="en-US" sz="2042" dirty="0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Microsoft Defender Suite </a:t>
            </a:r>
            <a:r>
              <a:rPr lang="en-US" sz="2042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for Microsoft 365 Business Premium</a:t>
            </a:r>
            <a:endParaRPr lang="en-US" sz="2042" dirty="0">
              <a:solidFill>
                <a:schemeClr val="tx1">
                  <a:lumMod val="95000"/>
                  <a:lumOff val="5000"/>
                </a:schemeClr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1896592" y="1714916"/>
            <a:ext cx="3670004" cy="179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Enhanced protection with Microsoft Defender Suite</a:t>
            </a:r>
          </a:p>
        </p:txBody>
      </p: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C05D0F52-F000-4B6A-9F4C-E053389E1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293699" y="228034"/>
            <a:ext cx="1319835" cy="16730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1899194" y="1985083"/>
            <a:ext cx="3470238" cy="2141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Zero Trust across your entire digital estate―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exposure management―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Continuously assess security posture, enable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proactive risk management and protection of assets.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security operations platform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―Leverage a single, integrated solution for end-to-end security operations, enhancing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280997" y="7704113"/>
            <a:ext cx="5113973" cy="100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6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1 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  <a:hlinkClick r:id="rId7"/>
              </a:rPr>
              <a:t>Source: Microsoft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 	</a:t>
            </a:r>
            <a:r>
              <a:rPr kumimoji="0" lang="en-US" sz="656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2 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Source: </a:t>
            </a:r>
            <a:r>
              <a:rPr kumimoji="0" lang="en-US" sz="51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IBM Cost of a Data Breach Report, IBM, p. 6​</a:t>
            </a:r>
            <a:endParaRPr kumimoji="0" lang="en-US" sz="6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10421-35D7-13B2-19F6-E270E00A31DF}"/>
              </a:ext>
            </a:extLst>
          </p:cNvPr>
          <p:cNvSpPr txBox="1">
            <a:spLocks/>
          </p:cNvSpPr>
          <p:nvPr/>
        </p:nvSpPr>
        <p:spPr>
          <a:xfrm>
            <a:off x="388447" y="4278348"/>
            <a:ext cx="4895999" cy="266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6675" tIns="33338" rIns="66675" bIns="33338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6667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Protect your entire estate</a:t>
            </a:r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32D52542-94BE-EFA3-6259-A9AF7AA6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7048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CE6CFC70-06C7-C291-DA51-1D3359F2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30605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6" name="Rounded Rectangle 32">
            <a:extLst>
              <a:ext uri="{FF2B5EF4-FFF2-40B4-BE49-F238E27FC236}">
                <a16:creationId xmlns:a16="http://schemas.microsoft.com/office/drawing/2014/main" id="{6643373C-AB83-B631-F611-FB8BFCAF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34132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9" name="Rounded Rectangle 32">
            <a:extLst>
              <a:ext uri="{FF2B5EF4-FFF2-40B4-BE49-F238E27FC236}">
                <a16:creationId xmlns:a16="http://schemas.microsoft.com/office/drawing/2014/main" id="{A1B8BB60-2805-B2B9-A781-B5FC7BD20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37718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7501D1C1-B340-0CCA-6ED7-0F68AE84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12745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09689-9230-8774-332C-E0502BB2667B}"/>
              </a:ext>
            </a:extLst>
          </p:cNvPr>
          <p:cNvSpPr txBox="1"/>
          <p:nvPr/>
        </p:nvSpPr>
        <p:spPr>
          <a:xfrm>
            <a:off x="271966" y="5078668"/>
            <a:ext cx="97985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and access controls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AAF97-9212-E6FA-5DCB-13B6B6C5B179}"/>
              </a:ext>
            </a:extLst>
          </p:cNvPr>
          <p:cNvSpPr txBox="1"/>
          <p:nvPr/>
        </p:nvSpPr>
        <p:spPr>
          <a:xfrm>
            <a:off x="271563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Risk-based conditional   access and sign     -in assessment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   risky sign-ins and user behavior anomalies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ID Governance  and Privileged Identity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8930A1-FD77-508B-448D-7B8276947F22}"/>
              </a:ext>
            </a:extLst>
          </p:cNvPr>
          <p:cNvSpPr txBox="1"/>
          <p:nvPr/>
        </p:nvSpPr>
        <p:spPr>
          <a:xfrm>
            <a:off x="1307531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protection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B45DB-3E40-0CF7-6744-E0B2062194C7}"/>
              </a:ext>
            </a:extLst>
          </p:cNvPr>
          <p:cNvSpPr txBox="1"/>
          <p:nvPr/>
        </p:nvSpPr>
        <p:spPr>
          <a:xfrm>
            <a:off x="1308460" y="5459025"/>
            <a:ext cx="99823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Threat and suspicious user activity detection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Built-in response and automated playbooks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Context-rich identity insights during investigations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FB9E0-57EC-A667-BD67-1FCD18922E87}"/>
              </a:ext>
            </a:extLst>
          </p:cNvPr>
          <p:cNvSpPr txBox="1"/>
          <p:nvPr/>
        </p:nvSpPr>
        <p:spPr>
          <a:xfrm>
            <a:off x="2342806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Device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D9765-BB48-31C0-F235-A24DE8372F92}"/>
              </a:ext>
            </a:extLst>
          </p:cNvPr>
          <p:cNvSpPr txBox="1"/>
          <p:nvPr/>
        </p:nvSpPr>
        <p:spPr>
          <a:xfrm>
            <a:off x="2362254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Industry-leading antimalware and conditional access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Endpoint security and EDR with advanced threat hunting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Attack surface reduction capabilities powered by Secure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6A2D5-943C-CCFD-15E1-74D78E2C1224}"/>
              </a:ext>
            </a:extLst>
          </p:cNvPr>
          <p:cNvSpPr txBox="1"/>
          <p:nvPr/>
        </p:nvSpPr>
        <p:spPr>
          <a:xfrm>
            <a:off x="3378660" y="5078668"/>
            <a:ext cx="92651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Collaboration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AA6581-4A62-F733-84E1-D95525161BF1}"/>
              </a:ext>
            </a:extLst>
          </p:cNvPr>
          <p:cNvSpPr txBox="1"/>
          <p:nvPr/>
        </p:nvSpPr>
        <p:spPr>
          <a:xfrm>
            <a:off x="3398110" y="5459024"/>
            <a:ext cx="926511" cy="1549142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Advanced email and collaboration security with automated investigation   and response 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 user phishing simulation trainings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9480A-D377-F04B-D795-8C3BA6F6AE38}"/>
              </a:ext>
            </a:extLst>
          </p:cNvPr>
          <p:cNvSpPr txBox="1"/>
          <p:nvPr/>
        </p:nvSpPr>
        <p:spPr>
          <a:xfrm>
            <a:off x="4414224" y="5078668"/>
            <a:ext cx="749207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SaaS security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DA12-6566-B28E-C400-3DB3F950322F}"/>
              </a:ext>
            </a:extLst>
          </p:cNvPr>
          <p:cNvSpPr txBox="1"/>
          <p:nvPr/>
        </p:nvSpPr>
        <p:spPr>
          <a:xfrm>
            <a:off x="4430310" y="5459025"/>
            <a:ext cx="94504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“Shadow IT”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Uncovers configuration gaps and offers recommendations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LoB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 app monitoring, governance and protection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FAA6D2-FA43-D5BA-DE51-35FA7FFC3D8E}"/>
              </a:ext>
            </a:extLst>
          </p:cNvPr>
          <p:cNvGrpSpPr/>
          <p:nvPr/>
        </p:nvGrpSpPr>
        <p:grpSpPr>
          <a:xfrm>
            <a:off x="340877" y="4769074"/>
            <a:ext cx="260128" cy="260127"/>
            <a:chOff x="1279013" y="2060414"/>
            <a:chExt cx="441393" cy="4413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D97C9-E218-702D-C573-EC595E24D206}"/>
                </a:ext>
              </a:extLst>
            </p:cNvPr>
            <p:cNvSpPr/>
            <p:nvPr/>
          </p:nvSpPr>
          <p:spPr bwMode="auto">
            <a:xfrm rot="5400000">
              <a:off x="1279015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Graphic 81" descr="Icon of an app window with a closed padlock">
              <a:extLst>
                <a:ext uri="{FF2B5EF4-FFF2-40B4-BE49-F238E27FC236}">
                  <a16:creationId xmlns:a16="http://schemas.microsoft.com/office/drawing/2014/main" id="{04B475BC-BA57-5216-CE2C-96C8D24A3BE0}"/>
                </a:ext>
              </a:extLst>
            </p:cNvPr>
            <p:cNvSpPr/>
            <p:nvPr/>
          </p:nvSpPr>
          <p:spPr>
            <a:xfrm>
              <a:off x="1405253" y="2181887"/>
              <a:ext cx="188914" cy="198443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767FA-E0F4-1A8A-86B1-2E35771B5DD2}"/>
              </a:ext>
            </a:extLst>
          </p:cNvPr>
          <p:cNvGrpSpPr/>
          <p:nvPr/>
        </p:nvGrpSpPr>
        <p:grpSpPr>
          <a:xfrm>
            <a:off x="1392861" y="4769074"/>
            <a:ext cx="260128" cy="260127"/>
            <a:chOff x="1980053" y="1931419"/>
            <a:chExt cx="356747" cy="35674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23ABBF-3EEA-332A-7864-DA7AD0C0A67B}"/>
                </a:ext>
              </a:extLst>
            </p:cNvPr>
            <p:cNvSpPr/>
            <p:nvPr/>
          </p:nvSpPr>
          <p:spPr bwMode="auto">
            <a:xfrm rot="5400000">
              <a:off x="19800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C01A3938-EB10-BCEE-6CDE-225ADE6C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1000" y="2012363"/>
              <a:ext cx="194854" cy="19485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DDA49E-C309-5EFC-3371-7B26398053F5}"/>
              </a:ext>
            </a:extLst>
          </p:cNvPr>
          <p:cNvGrpSpPr/>
          <p:nvPr/>
        </p:nvGrpSpPr>
        <p:grpSpPr>
          <a:xfrm>
            <a:off x="2422619" y="4769074"/>
            <a:ext cx="260128" cy="260127"/>
            <a:chOff x="3392293" y="1931419"/>
            <a:chExt cx="356747" cy="3567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2CF85D-87B5-FFDE-8B4A-FDD167B25F94}"/>
                </a:ext>
              </a:extLst>
            </p:cNvPr>
            <p:cNvSpPr/>
            <p:nvPr/>
          </p:nvSpPr>
          <p:spPr bwMode="auto">
            <a:xfrm rot="5400000">
              <a:off x="33922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B18B696-F885-0B38-CF0E-59470F627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63432" y="2002557"/>
              <a:ext cx="214468" cy="21446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383756-F3A8-8B6B-47DD-7B83711A3BD3}"/>
              </a:ext>
            </a:extLst>
          </p:cNvPr>
          <p:cNvGrpSpPr/>
          <p:nvPr/>
        </p:nvGrpSpPr>
        <p:grpSpPr>
          <a:xfrm>
            <a:off x="3467194" y="4769074"/>
            <a:ext cx="260128" cy="260127"/>
            <a:chOff x="4824853" y="1931419"/>
            <a:chExt cx="356747" cy="3567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378CB4-A418-1354-A2FE-DE38BC98C0AE}"/>
                </a:ext>
              </a:extLst>
            </p:cNvPr>
            <p:cNvSpPr/>
            <p:nvPr/>
          </p:nvSpPr>
          <p:spPr bwMode="auto">
            <a:xfrm rot="5400000">
              <a:off x="48248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FE3AD69-2B4A-FD8E-16DD-EB48C1967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2401" r="2401"/>
            <a:stretch>
              <a:fillRect/>
            </a:stretch>
          </p:blipFill>
          <p:spPr>
            <a:xfrm>
              <a:off x="4919657" y="2022007"/>
              <a:ext cx="167138" cy="17557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E7FCA8-F2C6-D8B9-172C-6604FBC9C661}"/>
              </a:ext>
            </a:extLst>
          </p:cNvPr>
          <p:cNvGrpSpPr/>
          <p:nvPr/>
        </p:nvGrpSpPr>
        <p:grpSpPr>
          <a:xfrm>
            <a:off x="4496952" y="4769074"/>
            <a:ext cx="260128" cy="260127"/>
            <a:chOff x="6237093" y="1931419"/>
            <a:chExt cx="356747" cy="35674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304641A-6F6D-1A68-621E-9FBB381E107C}"/>
                </a:ext>
              </a:extLst>
            </p:cNvPr>
            <p:cNvSpPr/>
            <p:nvPr/>
          </p:nvSpPr>
          <p:spPr bwMode="auto">
            <a:xfrm rot="5400000">
              <a:off x="62370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2E14B32-7A5A-A920-BEAA-CDA82C31D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17775" y="2029597"/>
              <a:ext cx="195382" cy="16038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418138" y="1792553"/>
            <a:ext cx="1174190" cy="2189184"/>
            <a:chOff x="474385" y="2278797"/>
            <a:chExt cx="1610317" cy="300230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474385" y="3487120"/>
              <a:ext cx="1610317" cy="17939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0" normalizeH="0" baseline="0">
                  <a:ln>
                    <a:noFill/>
                  </a:ln>
                  <a:gradFill>
                    <a:gsLst>
                      <a:gs pos="45000">
                        <a:srgbClr val="2A446F"/>
                      </a:gs>
                      <a:gs pos="100000">
                        <a:srgbClr val="2A446F"/>
                      </a:gs>
                    </a:gsLst>
                    <a:lin ang="2700000" scaled="1"/>
                  </a:gradFill>
                  <a:effectLst/>
                  <a:uLnTx/>
                  <a:uFillTx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 pitchFamily="2" charset="0"/>
                  <a:ea typeface="+mn-ea"/>
                  <a:cs typeface="Segoe Sans Display Semibold" pitchFamily="2" charset="0"/>
                </a:rPr>
                <a:t>Industry leader</a:t>
              </a:r>
            </a:p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kumimoji="0" lang="en-US" sz="1000" b="0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 1 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6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5142" y="1972224"/>
            <a:ext cx="465563" cy="4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346874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7375" cy="8020050"/>
          </a:xfrm>
          <a:prstGeom prst="rect">
            <a:avLst/>
          </a:prstGeom>
        </p:spPr>
      </p:pic>
      <p:pic>
        <p:nvPicPr>
          <p:cNvPr id="8" name="Rectangle 3465833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4800" y="5010151"/>
            <a:ext cx="5057775" cy="26289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DF80E6C-443E-5D0C-75A9-7B7040395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237" y="5710237"/>
            <a:ext cx="4914900" cy="1762125"/>
          </a:xfrm>
          <a:prstGeom prst="rect">
            <a:avLst/>
          </a:prstGeom>
        </p:spPr>
      </p:pic>
      <p:pic>
        <p:nvPicPr>
          <p:cNvPr id="3" name="Rectangle 3465832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2417" y="866361"/>
            <a:ext cx="2848613" cy="4229497"/>
          </a:xfrm>
          <a:prstGeom prst="rect">
            <a:avLst/>
          </a:prstGeom>
        </p:spPr>
      </p:pic>
      <p:pic>
        <p:nvPicPr>
          <p:cNvPr id="4" name="Vector 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4824" y="1397445"/>
            <a:ext cx="2000251" cy="5112"/>
          </a:xfrm>
          <a:prstGeom prst="rect">
            <a:avLst/>
          </a:prstGeom>
        </p:spPr>
      </p:pic>
      <p:pic>
        <p:nvPicPr>
          <p:cNvPr id="5" name="Rectangle 3465832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49192" y="866361"/>
            <a:ext cx="2848613" cy="4229497"/>
          </a:xfrm>
          <a:prstGeom prst="rect">
            <a:avLst/>
          </a:prstGeom>
        </p:spPr>
      </p:pic>
      <p:pic>
        <p:nvPicPr>
          <p:cNvPr id="6" name="Vector 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181350" y="1397445"/>
            <a:ext cx="2000251" cy="5112"/>
          </a:xfrm>
          <a:prstGeom prst="rect">
            <a:avLst/>
          </a:prstGeom>
        </p:spPr>
      </p:pic>
      <p:sp>
        <p:nvSpPr>
          <p:cNvPr id="10" name="Incremental capabilities from Current SKU to Target SKU"/>
          <p:cNvSpPr/>
          <p:nvPr/>
        </p:nvSpPr>
        <p:spPr>
          <a:xfrm>
            <a:off x="304800" y="401479"/>
            <a:ext cx="5095875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Incremental security capabilities from Business Basic to Business Premium and Defender Suite</a:t>
            </a:r>
            <a:endParaRPr lang="en-US" sz="1600"/>
          </a:p>
        </p:txBody>
      </p:sp>
      <p:sp>
        <p:nvSpPr>
          <p:cNvPr id="11" name="Current SKU"/>
          <p:cNvSpPr/>
          <p:nvPr/>
        </p:nvSpPr>
        <p:spPr>
          <a:xfrm>
            <a:off x="504825" y="1209675"/>
            <a:ext cx="981075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200">
                <a:solidFill>
                  <a:srgbClr val="8A22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Basic</a:t>
            </a:r>
            <a:endParaRPr lang="en-US" sz="1200"/>
          </a:p>
        </p:txBody>
      </p:sp>
      <p:sp>
        <p:nvSpPr>
          <p:cNvPr id="12" name="Identity and access management Single sign-on for apps and devices and multifactor authentication for work accounts Data compliance Ability to log and search for audited activities with Microsoft Purview Audit Threat protection Automatic spam and malware"/>
          <p:cNvSpPr/>
          <p:nvPr/>
        </p:nvSpPr>
        <p:spPr>
          <a:xfrm>
            <a:off x="438149" y="1466850"/>
            <a:ext cx="2135431" cy="226617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indent="-114300" algn="l">
              <a:lnSpc>
                <a:spcPts val="1200"/>
              </a:lnSpc>
              <a:spcBef>
                <a:spcPts val="600"/>
              </a:spcBef>
              <a:buSzPct val="100000"/>
              <a:buChar char="•"/>
            </a:pP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and access management: Single sign-on for apps and devices, and multifactor authentication for work accounts
Data compliance: Ability to log and search for audited activities with Microsoft Purview Audit
Threat protection: Automatic spam and malware filtering​
 Insights and analytics: Insights into your organization's Microsoft 365 usage and security posture with Adoption Score and Secure Score</a:t>
            </a:r>
            <a:endParaRPr lang="en-US" sz="850"/>
          </a:p>
        </p:txBody>
      </p:sp>
      <p:sp>
        <p:nvSpPr>
          <p:cNvPr id="13" name="Target SKU"/>
          <p:cNvSpPr/>
          <p:nvPr/>
        </p:nvSpPr>
        <p:spPr>
          <a:xfrm>
            <a:off x="3022149" y="1108986"/>
            <a:ext cx="2025399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200">
                <a:solidFill>
                  <a:srgbClr val="B740C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 and Defender Suite</a:t>
            </a:r>
            <a:endParaRPr lang="en-US" sz="1200"/>
          </a:p>
        </p:txBody>
      </p:sp>
      <p:sp>
        <p:nvSpPr>
          <p:cNvPr id="14" name="Identity and access management Risk-based conditional access visibility into risky sign-ins and user behavior anomalies ID Governance and Privileged Identity Management Identity defense Identify detect and investigateadvanced threats compromised identitie"/>
          <p:cNvSpPr/>
          <p:nvPr/>
        </p:nvSpPr>
        <p:spPr>
          <a:xfrm>
            <a:off x="3038476" y="1466850"/>
            <a:ext cx="2143126" cy="322107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indent="-114300" algn="l">
              <a:lnSpc>
                <a:spcPts val="1200"/>
              </a:lnSpc>
              <a:spcBef>
                <a:spcPts val="600"/>
              </a:spcBef>
              <a:buSzPct val="100000"/>
              <a:buChar char="•"/>
            </a:pP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and access management: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 Risk-based conditional access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visibility into risky sign-ins and user behavior anomalies.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ID Governance 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and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Privileged Identity Management
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defense: Identify, detect, and investigate 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advanced threats, compromised identities, and malicious insider actions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
Office Security: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Automated investigation and response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and end user phishing simulation trainings
Endpoint security: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EDR with advanced threat hunting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as well as access to threat experts for additional investigations
Cloud Apps security: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Automatically discover and block apps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 based on risk level, unusual user activity, or data-sharing behavior</a:t>
            </a:r>
            <a:endParaRPr lang="en-US" sz="850"/>
          </a:p>
        </p:txBody>
      </p:sp>
      <p:sp>
        <p:nvSpPr>
          <p:cNvPr id="15" name="Per user per month"/>
          <p:cNvSpPr/>
          <p:nvPr/>
        </p:nvSpPr>
        <p:spPr>
          <a:xfrm>
            <a:off x="2400300" y="5886450"/>
            <a:ext cx="866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75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Per user, per month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Microsoft Defender"/>
          <p:cNvSpPr/>
          <p:nvPr/>
        </p:nvSpPr>
        <p:spPr>
          <a:xfrm>
            <a:off x="447675" y="5903113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spcAft>
                <a:spcPts val="600"/>
              </a:spcAft>
              <a:buNone/>
            </a:pPr>
            <a:r>
              <a:rPr lang="en-US" sz="750" b="1">
                <a:solidFill>
                  <a:srgbClr val="8A226F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Defender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Microsoft Entra"/>
          <p:cNvSpPr/>
          <p:nvPr/>
        </p:nvSpPr>
        <p:spPr>
          <a:xfrm>
            <a:off x="447675" y="7048500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spcAft>
                <a:spcPts val="600"/>
              </a:spcAft>
              <a:buNone/>
            </a:pPr>
            <a:r>
              <a:rPr lang="en-US" sz="750" b="1">
                <a:solidFill>
                  <a:srgbClr val="8A226F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Entra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Defender for Endpoint P2"/>
          <p:cNvSpPr/>
          <p:nvPr/>
        </p:nvSpPr>
        <p:spPr>
          <a:xfrm>
            <a:off x="447675" y="609600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Endpoint P2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name_520"/>
          <p:cNvSpPr/>
          <p:nvPr/>
        </p:nvSpPr>
        <p:spPr>
          <a:xfrm>
            <a:off x="1314450" y="614362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$5.20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Defender for Office 365 P2"/>
          <p:cNvSpPr/>
          <p:nvPr/>
        </p:nvSpPr>
        <p:spPr>
          <a:xfrm>
            <a:off x="447675" y="634365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Office 365 P2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name_500"/>
          <p:cNvSpPr/>
          <p:nvPr/>
        </p:nvSpPr>
        <p:spPr>
          <a:xfrm>
            <a:off x="1314450" y="639127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$5.00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Defender for Identity"/>
          <p:cNvSpPr/>
          <p:nvPr/>
        </p:nvSpPr>
        <p:spPr>
          <a:xfrm>
            <a:off x="447675" y="6591300"/>
            <a:ext cx="986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Identity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name_550"/>
          <p:cNvSpPr/>
          <p:nvPr/>
        </p:nvSpPr>
        <p:spPr>
          <a:xfrm>
            <a:off x="1314450" y="6591300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$5.50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Defender for Cloud Apps"/>
          <p:cNvSpPr/>
          <p:nvPr/>
        </p:nvSpPr>
        <p:spPr>
          <a:xfrm>
            <a:off x="447674" y="6743700"/>
            <a:ext cx="813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Cloud Apps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name_350"/>
          <p:cNvSpPr/>
          <p:nvPr/>
        </p:nvSpPr>
        <p:spPr>
          <a:xfrm>
            <a:off x="1314450" y="679132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$3.50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Entra ID Plan 2"/>
          <p:cNvSpPr/>
          <p:nvPr/>
        </p:nvSpPr>
        <p:spPr>
          <a:xfrm>
            <a:off x="447675" y="7200900"/>
            <a:ext cx="9737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Entra ID Plan 2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name_950"/>
          <p:cNvSpPr/>
          <p:nvPr/>
        </p:nvSpPr>
        <p:spPr>
          <a:xfrm>
            <a:off x="1314450" y="7200900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$9.50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name_65"/>
          <p:cNvSpPr/>
          <p:nvPr/>
        </p:nvSpPr>
        <p:spPr>
          <a:xfrm>
            <a:off x="4186238" y="6257925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2100" b="1">
                <a:solidFill>
                  <a:srgbClr val="B740C5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~65%</a:t>
            </a:r>
            <a:endParaRPr lang="en-US" sz="2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st reduction per license with end-to-end security"/>
          <p:cNvSpPr/>
          <p:nvPr/>
        </p:nvSpPr>
        <p:spPr>
          <a:xfrm>
            <a:off x="4191001" y="6581775"/>
            <a:ext cx="9429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cost reduction per license with end-to-end security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name_2820"/>
          <p:cNvSpPr/>
          <p:nvPr/>
        </p:nvSpPr>
        <p:spPr>
          <a:xfrm>
            <a:off x="1990724" y="6365160"/>
            <a:ext cx="647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1200" b="1">
                <a:solidFill>
                  <a:srgbClr val="8A226F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&gt;$28.20</a:t>
            </a:r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value of individual licenses"/>
          <p:cNvSpPr/>
          <p:nvPr/>
        </p:nvSpPr>
        <p:spPr>
          <a:xfrm>
            <a:off x="2011605" y="658177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600">
                <a:solidFill>
                  <a:srgbClr val="8A226F"/>
                </a:solidFill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value of individual licenses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name_10"/>
          <p:cNvSpPr/>
          <p:nvPr/>
        </p:nvSpPr>
        <p:spPr>
          <a:xfrm>
            <a:off x="3066732" y="636516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1200" b="1">
                <a:solidFill>
                  <a:srgbClr val="B740C5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$10</a:t>
            </a:r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Microsoft Defender Suite for Business Premium"/>
          <p:cNvSpPr/>
          <p:nvPr/>
        </p:nvSpPr>
        <p:spPr>
          <a:xfrm>
            <a:off x="3026306" y="6581775"/>
            <a:ext cx="670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600">
                <a:solidFill>
                  <a:srgbClr val="B740C5"/>
                </a:solidFill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Microsoft Defender Suite for Business Premium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ave up to 65 per license with the Defender Suite for Business Premium"/>
          <p:cNvSpPr/>
          <p:nvPr/>
        </p:nvSpPr>
        <p:spPr>
          <a:xfrm>
            <a:off x="1104900" y="5213222"/>
            <a:ext cx="34575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up to 65% per license with the Defender Suite for Business Premium</a:t>
            </a:r>
            <a:endParaRPr lang="en-US" sz="12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8D4319-FCA8-EA10-68F3-296DA3A6D3E7}"/>
              </a:ext>
            </a:extLst>
          </p:cNvPr>
          <p:cNvGrpSpPr/>
          <p:nvPr/>
        </p:nvGrpSpPr>
        <p:grpSpPr>
          <a:xfrm>
            <a:off x="2604720" y="1824449"/>
            <a:ext cx="452071" cy="452070"/>
            <a:chOff x="2604720" y="1824449"/>
            <a:chExt cx="452071" cy="452070"/>
          </a:xfrm>
        </p:grpSpPr>
        <p:grpSp>
          <p:nvGrpSpPr>
            <p:cNvPr id="36" name="Graphic 15">
              <a:extLst>
                <a:ext uri="{FF2B5EF4-FFF2-40B4-BE49-F238E27FC236}">
                  <a16:creationId xmlns:a16="http://schemas.microsoft.com/office/drawing/2014/main" id="{D3D57B20-658A-ADC4-1FD8-CF296F3289B0}"/>
                </a:ext>
              </a:extLst>
            </p:cNvPr>
            <p:cNvGrpSpPr/>
            <p:nvPr/>
          </p:nvGrpSpPr>
          <p:grpSpPr>
            <a:xfrm>
              <a:off x="2604720" y="1824449"/>
              <a:ext cx="452071" cy="452070"/>
              <a:chOff x="2604720" y="3739960"/>
              <a:chExt cx="452071" cy="452070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A6D5699-7BA3-681B-0CDC-46B3DE8B7A0D}"/>
                  </a:ext>
                </a:extLst>
              </p:cNvPr>
              <p:cNvSpPr/>
              <p:nvPr/>
            </p:nvSpPr>
            <p:spPr>
              <a:xfrm>
                <a:off x="2604720" y="3739960"/>
                <a:ext cx="452071" cy="452070"/>
              </a:xfrm>
              <a:custGeom>
                <a:avLst/>
                <a:gdLst>
                  <a:gd name="csX0" fmla="*/ 15 w 452071"/>
                  <a:gd name="csY0" fmla="*/ 223456 h 452070"/>
                  <a:gd name="csX1" fmla="*/ 228615 w 452071"/>
                  <a:gd name="csY1" fmla="*/ 15 h 452070"/>
                  <a:gd name="csX2" fmla="*/ 452056 w 452071"/>
                  <a:gd name="csY2" fmla="*/ 228615 h 452070"/>
                  <a:gd name="csX3" fmla="*/ 223456 w 452071"/>
                  <a:gd name="csY3" fmla="*/ 452055 h 452070"/>
                  <a:gd name="csX4" fmla="*/ 15 w 452071"/>
                  <a:gd name="csY4" fmla="*/ 223456 h 4520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2071" h="452070">
                    <a:moveTo>
                      <a:pt x="15" y="223456"/>
                    </a:moveTo>
                    <a:cubicBezTo>
                      <a:pt x="1440" y="98628"/>
                      <a:pt x="103788" y="-1410"/>
                      <a:pt x="228615" y="15"/>
                    </a:cubicBezTo>
                    <a:cubicBezTo>
                      <a:pt x="353443" y="1439"/>
                      <a:pt x="453481" y="103787"/>
                      <a:pt x="452056" y="228615"/>
                    </a:cubicBezTo>
                    <a:cubicBezTo>
                      <a:pt x="450632" y="353442"/>
                      <a:pt x="348284" y="453480"/>
                      <a:pt x="223456" y="452055"/>
                    </a:cubicBezTo>
                    <a:cubicBezTo>
                      <a:pt x="98629" y="450631"/>
                      <a:pt x="-1409" y="348283"/>
                      <a:pt x="15" y="2234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B79D5"/>
                  </a:gs>
                  <a:gs pos="50000">
                    <a:srgbClr val="615CCD"/>
                  </a:gs>
                  <a:gs pos="100000">
                    <a:srgbClr val="B740C5"/>
                  </a:gs>
                </a:gsLst>
                <a:lin ang="543923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AD68706-FC25-1308-2E64-816F728FCE1E}"/>
                  </a:ext>
                </a:extLst>
              </p:cNvPr>
              <p:cNvSpPr/>
              <p:nvPr/>
            </p:nvSpPr>
            <p:spPr>
              <a:xfrm>
                <a:off x="2608859" y="3744099"/>
                <a:ext cx="443796" cy="443796"/>
              </a:xfrm>
              <a:custGeom>
                <a:avLst/>
                <a:gdLst>
                  <a:gd name="csX0" fmla="*/ 224426 w 443796"/>
                  <a:gd name="csY0" fmla="*/ 15 h 443796"/>
                  <a:gd name="csX1" fmla="*/ 443782 w 443796"/>
                  <a:gd name="csY1" fmla="*/ 224426 h 443796"/>
                  <a:gd name="csX2" fmla="*/ 219361 w 443796"/>
                  <a:gd name="csY2" fmla="*/ 443782 h 443796"/>
                  <a:gd name="csX3" fmla="*/ 15 w 443796"/>
                  <a:gd name="csY3" fmla="*/ 219361 h 443796"/>
                  <a:gd name="csX4" fmla="*/ 224426 w 443796"/>
                  <a:gd name="csY4" fmla="*/ 15 h 443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43796" h="443796">
                    <a:moveTo>
                      <a:pt x="224426" y="15"/>
                    </a:moveTo>
                    <a:cubicBezTo>
                      <a:pt x="346967" y="1413"/>
                      <a:pt x="445179" y="101886"/>
                      <a:pt x="443782" y="224426"/>
                    </a:cubicBezTo>
                    <a:cubicBezTo>
                      <a:pt x="442383" y="346968"/>
                      <a:pt x="341903" y="445181"/>
                      <a:pt x="219361" y="443782"/>
                    </a:cubicBezTo>
                    <a:cubicBezTo>
                      <a:pt x="96820" y="442382"/>
                      <a:pt x="-1383" y="341903"/>
                      <a:pt x="15" y="219361"/>
                    </a:cubicBezTo>
                    <a:cubicBezTo>
                      <a:pt x="1414" y="96822"/>
                      <a:pt x="101886" y="-1383"/>
                      <a:pt x="224426" y="15"/>
                    </a:cubicBezTo>
                    <a:close/>
                  </a:path>
                </a:pathLst>
              </a:custGeom>
              <a:noFill/>
              <a:ln w="8278" cap="flat">
                <a:solidFill>
                  <a:srgbClr val="FFFFFF">
                    <a:alpha val="3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5D63B55-E03A-5CA3-82CA-1D1EC9FD2815}"/>
                </a:ext>
              </a:extLst>
            </p:cNvPr>
            <p:cNvSpPr/>
            <p:nvPr/>
          </p:nvSpPr>
          <p:spPr>
            <a:xfrm>
              <a:off x="2749192" y="1987015"/>
              <a:ext cx="146568" cy="146568"/>
            </a:xfrm>
            <a:custGeom>
              <a:avLst/>
              <a:gdLst>
                <a:gd name="csX0" fmla="*/ 122212 w 146568"/>
                <a:gd name="csY0" fmla="*/ 41599 h 146568"/>
                <a:gd name="csX1" fmla="*/ 17243 w 146568"/>
                <a:gd name="csY1" fmla="*/ 146569 h 146568"/>
                <a:gd name="csX2" fmla="*/ 0 w 146568"/>
                <a:gd name="csY2" fmla="*/ 129325 h 146568"/>
                <a:gd name="csX3" fmla="*/ 104968 w 146568"/>
                <a:gd name="csY3" fmla="*/ 24356 h 146568"/>
                <a:gd name="csX4" fmla="*/ 8406 w 146568"/>
                <a:gd name="csY4" fmla="*/ 24356 h 146568"/>
                <a:gd name="csX5" fmla="*/ 8621 w 146568"/>
                <a:gd name="csY5" fmla="*/ 0 h 146568"/>
                <a:gd name="csX6" fmla="*/ 146569 w 146568"/>
                <a:gd name="csY6" fmla="*/ 0 h 146568"/>
                <a:gd name="csX7" fmla="*/ 146569 w 146568"/>
                <a:gd name="csY7" fmla="*/ 137947 h 146568"/>
                <a:gd name="csX8" fmla="*/ 122212 w 146568"/>
                <a:gd name="csY8" fmla="*/ 138162 h 146568"/>
                <a:gd name="csX9" fmla="*/ 122212 w 146568"/>
                <a:gd name="csY9" fmla="*/ 41599 h 14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6568" h="146568">
                  <a:moveTo>
                    <a:pt x="122212" y="41599"/>
                  </a:moveTo>
                  <a:lnTo>
                    <a:pt x="17243" y="146569"/>
                  </a:lnTo>
                  <a:lnTo>
                    <a:pt x="0" y="129325"/>
                  </a:lnTo>
                  <a:lnTo>
                    <a:pt x="104968" y="24356"/>
                  </a:lnTo>
                  <a:lnTo>
                    <a:pt x="8406" y="24356"/>
                  </a:lnTo>
                  <a:lnTo>
                    <a:pt x="8621" y="0"/>
                  </a:lnTo>
                  <a:lnTo>
                    <a:pt x="146569" y="0"/>
                  </a:lnTo>
                  <a:lnTo>
                    <a:pt x="146569" y="137947"/>
                  </a:lnTo>
                  <a:lnTo>
                    <a:pt x="122212" y="138162"/>
                  </a:lnTo>
                  <a:lnTo>
                    <a:pt x="122212" y="4159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01EE-ABA6-13EB-F672-F3A185B2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68742">
            <a:extLst>
              <a:ext uri="{FF2B5EF4-FFF2-40B4-BE49-F238E27FC236}">
                <a16:creationId xmlns:a16="http://schemas.microsoft.com/office/drawing/2014/main" id="{9963F151-879F-4558-E6B6-4255986112B0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F283AE0-4FB1-7607-6FCB-9A85B3D6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rcRect l="14306" t="29128" r="12293" b="-1677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  <p:sp>
        <p:nvSpPr>
          <p:cNvPr id="9" name="Upgrade investment snapshot">
            <a:extLst>
              <a:ext uri="{FF2B5EF4-FFF2-40B4-BE49-F238E27FC236}">
                <a16:creationId xmlns:a16="http://schemas.microsoft.com/office/drawing/2014/main" id="{FBD0EA6D-9670-1F46-2E2E-01AE80EFC1A8}"/>
              </a:ext>
            </a:extLst>
          </p:cNvPr>
          <p:cNvSpPr/>
          <p:nvPr/>
        </p:nvSpPr>
        <p:spPr>
          <a:xfrm>
            <a:off x="409575" y="369093"/>
            <a:ext cx="4534376" cy="95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Upgrade investment snapshot from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Basic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 and Defender Suite</a:t>
            </a:r>
          </a:p>
        </p:txBody>
      </p:sp>
      <p:sp>
        <p:nvSpPr>
          <p:cNvPr id="3" name="Identity and access management Single sign-on for apps and devices and multifactor authentication for work accounts Data compliance Ability to log and search for audited activities with Microsoft Purview Audit Threat protection Automatic spam and malware">
            <a:extLst>
              <a:ext uri="{FF2B5EF4-FFF2-40B4-BE49-F238E27FC236}">
                <a16:creationId xmlns:a16="http://schemas.microsoft.com/office/drawing/2014/main" id="{79B3C482-B6EF-F65E-08E2-9E465EDEC652}"/>
              </a:ext>
            </a:extLst>
          </p:cNvPr>
          <p:cNvSpPr/>
          <p:nvPr/>
        </p:nvSpPr>
        <p:spPr>
          <a:xfrm>
            <a:off x="409575" y="6803533"/>
            <a:ext cx="48482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 Semibold"/>
                <a:cs typeface="Segoe UI Semibold"/>
              </a:rPr>
              <a:t>[NOTE - PLEASE DELETE BEFORE SENDING TO THE CUSTOMER]</a:t>
            </a:r>
            <a:endParaRPr lang="en-US" sz="900" dirty="0"/>
          </a:p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cs typeface="Segoe UI"/>
              </a:rPr>
              <a:t>The calculation above is based on active promos, partner MAICPP status, Microsoft Commercial Incentives, and Microsoft list price, </a:t>
            </a: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and assumes additional information on margins. This is for reference only and subject to change. Please review the calculation, and adjust before sending it to the customer. </a:t>
            </a:r>
            <a:r>
              <a:rPr lang="en-US" sz="70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Microsoft would not be responsible for the content or accuracy of any information/claim made in this document, or for any decisions made based on such information. 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9DAFC7-397C-47C6-B141-9911BD75B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16066"/>
              </p:ext>
            </p:extLst>
          </p:nvPr>
        </p:nvGraphicFramePr>
        <p:xfrm>
          <a:off x="409573" y="1502695"/>
          <a:ext cx="4848226" cy="500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85330239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1315371538"/>
                    </a:ext>
                  </a:extLst>
                </a:gridCol>
              </a:tblGrid>
              <a:tr h="573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Current SKU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start_sku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42698"/>
                  </a:ext>
                </a:extLst>
              </a:tr>
              <a:tr h="632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Seats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{seats}​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44630"/>
                  </a:ext>
                </a:extLst>
              </a:tr>
              <a:tr h="647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Current investment​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expiring_arr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51144"/>
                  </a:ext>
                </a:extLst>
              </a:tr>
              <a:tr h="567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Upgrade solution​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target_sku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}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6301"/>
                  </a:ext>
                </a:extLst>
              </a:tr>
              <a:tr h="534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Proposed seats for upgrade​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add_proposed_seat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46251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 cost of the solution 
per user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actual_price_per_user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975551"/>
                  </a:ext>
                </a:extLst>
              </a:tr>
              <a:tr h="548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 cost per user​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incremental_cost_per_user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064146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Total incremental annual investment for {seats} seats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overall_incremental_cost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2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3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BAF6-E5B9-8957-B233-FCF78C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68742">
            <a:extLst>
              <a:ext uri="{FF2B5EF4-FFF2-40B4-BE49-F238E27FC236}">
                <a16:creationId xmlns:a16="http://schemas.microsoft.com/office/drawing/2014/main" id="{AF1BCF53-5C73-1AD6-E844-D11AC1C222B4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5D7EAE9-A714-D02B-3F52-A241BD2B192C}"/>
              </a:ext>
            </a:extLst>
          </p:cNvPr>
          <p:cNvSpPr/>
          <p:nvPr/>
        </p:nvSpPr>
        <p:spPr>
          <a:xfrm>
            <a:off x="310621" y="1237368"/>
            <a:ext cx="5105977" cy="378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 Regular" pitchFamily="34" charset="0"/>
              <a:ea typeface="Segoe UI Regula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+mn-cs"/>
              </a:rPr>
              <a:t>You can leverage Copilot Chat to customize this section! Add your website URL, upload this flyer on Copilot Chat, and prompt it to write a draft for this section.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44A8B-E4D6-DB6E-1500-317A75C1517A}"/>
              </a:ext>
            </a:extLst>
          </p:cNvPr>
          <p:cNvSpPr txBox="1"/>
          <p:nvPr/>
        </p:nvSpPr>
        <p:spPr>
          <a:xfrm>
            <a:off x="216139" y="398146"/>
            <a:ext cx="3635423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Enhance your security posture with [PARTNER NAME]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EC2C9-4683-D1E8-24E3-12A312A59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1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Custom</PresentationFormat>
  <Paragraphs>85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Arial</vt:lpstr>
      <vt:lpstr>Calibri</vt:lpstr>
      <vt:lpstr>Segoe Sans Display</vt:lpstr>
      <vt:lpstr>Segoe Sans Display Semibold</vt:lpstr>
      <vt:lpstr>Segoe Sans Text</vt:lpstr>
      <vt:lpstr>Segoe UI</vt:lpstr>
      <vt:lpstr>Segoe UI Bold</vt:lpstr>
      <vt:lpstr>Segoe UI Regular</vt:lpstr>
      <vt:lpstr>Segoe UI Semibold</vt:lpstr>
      <vt:lpstr>Wingdings</vt:lpstr>
      <vt:lpstr>Office Theme</vt:lpstr>
      <vt:lpstr>2_CSP Template Diamond 06/23</vt:lpstr>
      <vt:lpstr>Microsoft Defender Suite for Microsoft 365 Business Premium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Vandan Jain</cp:lastModifiedBy>
  <cp:revision>1</cp:revision>
  <dcterms:created xsi:type="dcterms:W3CDTF">2026-02-21T17:45:29Z</dcterms:created>
  <dcterms:modified xsi:type="dcterms:W3CDTF">2026-03-02T09:06:15Z</dcterms:modified>
</cp:coreProperties>
</file>