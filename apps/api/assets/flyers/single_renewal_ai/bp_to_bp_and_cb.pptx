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Lst>
  <p:notesMasterIdLst>
    <p:notesMasterId r:id="rId9"/>
  </p:notesMasterIdLst>
  <p:sldIdLst>
    <p:sldId id="2147470023" r:id="rId4"/>
    <p:sldId id="257" r:id="rId5"/>
    <p:sldId id="323" r:id="rId6"/>
    <p:sldId id="2147470024"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34B096-6EFA-4223-B2BB-FC5C03DF8C0E}" v="1" dt="2026-04-24T11:57:32.5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2443" y="6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4-24T11:57:32.566" v="28"/>
      <pc:docMkLst>
        <pc:docMk/>
      </pc:docMkLst>
      <pc:sldChg chg="add">
        <pc:chgData name="Vandan Jain" userId="4244b45b-25d1-413d-855b-6597e767c081" providerId="ADAL" clId="{67AB2A15-26B8-47FB-BEC6-EFDC03C3B3B6}" dt="2026-04-24T11:57:32.566" v="28"/>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1264955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3"/>
            <a:ext cx="4817269" cy="2792165"/>
          </a:xfrm>
        </p:spPr>
        <p:txBody>
          <a:bodyPr anchor="b"/>
          <a:lstStyle>
            <a:lvl1pPr algn="ctr">
              <a:defRPr sz="3718"/>
            </a:lvl1pPr>
          </a:lstStyle>
          <a:p>
            <a:r>
              <a:rPr lang="en-US"/>
              <a:t>Click to edit Master title style</a:t>
            </a:r>
          </a:p>
        </p:txBody>
      </p:sp>
      <p:sp>
        <p:nvSpPr>
          <p:cNvPr id="3" name="Subtitle 2"/>
          <p:cNvSpPr>
            <a:spLocks noGrp="1"/>
          </p:cNvSpPr>
          <p:nvPr>
            <p:ph type="subTitle" idx="1"/>
          </p:nvPr>
        </p:nvSpPr>
        <p:spPr>
          <a:xfrm>
            <a:off x="708423" y="4212384"/>
            <a:ext cx="4250531" cy="1936322"/>
          </a:xfrm>
        </p:spPr>
        <p:txBody>
          <a:bodyPr/>
          <a:lstStyle>
            <a:lvl1pPr marL="0" indent="0" algn="ctr">
              <a:buNone/>
              <a:defRPr sz="1487"/>
            </a:lvl1pPr>
            <a:lvl2pPr marL="283357" indent="0" algn="ctr">
              <a:buNone/>
              <a:defRPr sz="1239"/>
            </a:lvl2pPr>
            <a:lvl3pPr marL="566713" indent="0" algn="ctr">
              <a:buNone/>
              <a:defRPr sz="1115"/>
            </a:lvl3pPr>
            <a:lvl4pPr marL="850071" indent="0" algn="ctr">
              <a:buNone/>
              <a:defRPr sz="992"/>
            </a:lvl4pPr>
            <a:lvl5pPr marL="1133427" indent="0" algn="ctr">
              <a:buNone/>
              <a:defRPr sz="992"/>
            </a:lvl5pPr>
            <a:lvl6pPr marL="1416784" indent="0" algn="ctr">
              <a:buNone/>
              <a:defRPr sz="992"/>
            </a:lvl6pPr>
            <a:lvl7pPr marL="1700141" indent="0" algn="ctr">
              <a:buNone/>
              <a:defRPr sz="992"/>
            </a:lvl7pPr>
            <a:lvl8pPr marL="1983497" indent="0" algn="ctr">
              <a:buNone/>
              <a:defRPr sz="992"/>
            </a:lvl8pPr>
            <a:lvl9pPr marL="2266854"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2768824265"/>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224700858"/>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633" y="2134968"/>
            <a:ext cx="4888111"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632" y="7433401"/>
            <a:ext cx="1275160"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27475733-6F7F-4117-9D24-6C952A0F31DE}" type="datetimeFigureOut">
              <a:rPr lang="en-US" smtClean="0"/>
              <a:t>5/8/2026</a:t>
            </a:fld>
            <a:endParaRPr lang="en-US"/>
          </a:p>
        </p:txBody>
      </p:sp>
      <p:sp>
        <p:nvSpPr>
          <p:cNvPr id="5" name="Footer Placeholder 4"/>
          <p:cNvSpPr>
            <a:spLocks noGrp="1"/>
          </p:cNvSpPr>
          <p:nvPr>
            <p:ph type="ftr" sz="quarter" idx="3"/>
          </p:nvPr>
        </p:nvSpPr>
        <p:spPr>
          <a:xfrm>
            <a:off x="1877319" y="7433401"/>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2584" y="7433401"/>
            <a:ext cx="1275160"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623976081"/>
      </p:ext>
    </p:extLst>
  </p:cSld>
  <p:clrMap bg1="lt1" tx1="dk1" bg2="lt2" tx2="dk2" accent1="accent1" accent2="accent2" accent3="accent3" accent4="accent4" accent5="accent5" accent6="accent6" hlink="hlink" folHlink="folHlink"/>
  <p:sldLayoutIdLst>
    <p:sldLayoutId id="2147483653" r:id="rId1"/>
  </p:sldLayoutIdLst>
  <p:txStyles>
    <p:titleStyle>
      <a:lvl1pPr algn="l" defTabSz="566713"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79" indent="-141679" algn="l" defTabSz="566713"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35" indent="-141679" algn="l" defTabSz="566713" rtl="0" eaLnBrk="1" latinLnBrk="0" hangingPunct="1">
        <a:lnSpc>
          <a:spcPct val="90000"/>
        </a:lnSpc>
        <a:spcBef>
          <a:spcPts val="310"/>
        </a:spcBef>
        <a:buFont typeface="Arial" panose="020B0604020202020204" pitchFamily="34" charset="0"/>
        <a:buChar char="•"/>
        <a:defRPr sz="1487" kern="1200">
          <a:solidFill>
            <a:schemeClr val="tx1"/>
          </a:solidFill>
          <a:latin typeface="+mn-lt"/>
          <a:ea typeface="+mn-ea"/>
          <a:cs typeface="+mn-cs"/>
        </a:defRPr>
      </a:lvl2pPr>
      <a:lvl3pPr marL="708392" indent="-141679" algn="l" defTabSz="566713" rtl="0" eaLnBrk="1" latinLnBrk="0" hangingPunct="1">
        <a:lnSpc>
          <a:spcPct val="90000"/>
        </a:lnSpc>
        <a:spcBef>
          <a:spcPts val="310"/>
        </a:spcBef>
        <a:buFont typeface="Arial" panose="020B0604020202020204" pitchFamily="34" charset="0"/>
        <a:buChar char="•"/>
        <a:defRPr sz="1239" kern="1200">
          <a:solidFill>
            <a:schemeClr val="tx1"/>
          </a:solidFill>
          <a:latin typeface="+mn-lt"/>
          <a:ea typeface="+mn-ea"/>
          <a:cs typeface="+mn-cs"/>
        </a:defRPr>
      </a:lvl3pPr>
      <a:lvl4pPr marL="99174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4pPr>
      <a:lvl5pPr marL="1275105"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5pPr>
      <a:lvl6pPr marL="155846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6pPr>
      <a:lvl7pPr marL="184181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7pPr>
      <a:lvl8pPr marL="2125176"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8pPr>
      <a:lvl9pPr marL="240853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9pPr>
    </p:bodyStyle>
    <p:otherStyle>
      <a:defPPr>
        <a:defRPr lang="en-US"/>
      </a:defPPr>
      <a:lvl1pPr marL="0" algn="l" defTabSz="566713" rtl="0" eaLnBrk="1" latinLnBrk="0" hangingPunct="1">
        <a:defRPr sz="1115" kern="1200">
          <a:solidFill>
            <a:schemeClr val="tx1"/>
          </a:solidFill>
          <a:latin typeface="+mn-lt"/>
          <a:ea typeface="+mn-ea"/>
          <a:cs typeface="+mn-cs"/>
        </a:defRPr>
      </a:lvl1pPr>
      <a:lvl2pPr marL="283357" algn="l" defTabSz="566713" rtl="0" eaLnBrk="1" latinLnBrk="0" hangingPunct="1">
        <a:defRPr sz="1115" kern="1200">
          <a:solidFill>
            <a:schemeClr val="tx1"/>
          </a:solidFill>
          <a:latin typeface="+mn-lt"/>
          <a:ea typeface="+mn-ea"/>
          <a:cs typeface="+mn-cs"/>
        </a:defRPr>
      </a:lvl2pPr>
      <a:lvl3pPr marL="566713" algn="l" defTabSz="566713" rtl="0" eaLnBrk="1" latinLnBrk="0" hangingPunct="1">
        <a:defRPr sz="1115" kern="1200">
          <a:solidFill>
            <a:schemeClr val="tx1"/>
          </a:solidFill>
          <a:latin typeface="+mn-lt"/>
          <a:ea typeface="+mn-ea"/>
          <a:cs typeface="+mn-cs"/>
        </a:defRPr>
      </a:lvl3pPr>
      <a:lvl4pPr marL="850071" algn="l" defTabSz="566713" rtl="0" eaLnBrk="1" latinLnBrk="0" hangingPunct="1">
        <a:defRPr sz="1115" kern="1200">
          <a:solidFill>
            <a:schemeClr val="tx1"/>
          </a:solidFill>
          <a:latin typeface="+mn-lt"/>
          <a:ea typeface="+mn-ea"/>
          <a:cs typeface="+mn-cs"/>
        </a:defRPr>
      </a:lvl4pPr>
      <a:lvl5pPr marL="1133427" algn="l" defTabSz="566713" rtl="0" eaLnBrk="1" latinLnBrk="0" hangingPunct="1">
        <a:defRPr sz="1115" kern="1200">
          <a:solidFill>
            <a:schemeClr val="tx1"/>
          </a:solidFill>
          <a:latin typeface="+mn-lt"/>
          <a:ea typeface="+mn-ea"/>
          <a:cs typeface="+mn-cs"/>
        </a:defRPr>
      </a:lvl5pPr>
      <a:lvl6pPr marL="1416784" algn="l" defTabSz="566713" rtl="0" eaLnBrk="1" latinLnBrk="0" hangingPunct="1">
        <a:defRPr sz="1115" kern="1200">
          <a:solidFill>
            <a:schemeClr val="tx1"/>
          </a:solidFill>
          <a:latin typeface="+mn-lt"/>
          <a:ea typeface="+mn-ea"/>
          <a:cs typeface="+mn-cs"/>
        </a:defRPr>
      </a:lvl6pPr>
      <a:lvl7pPr marL="1700141" algn="l" defTabSz="566713" rtl="0" eaLnBrk="1" latinLnBrk="0" hangingPunct="1">
        <a:defRPr sz="1115" kern="1200">
          <a:solidFill>
            <a:schemeClr val="tx1"/>
          </a:solidFill>
          <a:latin typeface="+mn-lt"/>
          <a:ea typeface="+mn-ea"/>
          <a:cs typeface="+mn-cs"/>
        </a:defRPr>
      </a:lvl7pPr>
      <a:lvl8pPr marL="1983497" algn="l" defTabSz="566713" rtl="0" eaLnBrk="1" latinLnBrk="0" hangingPunct="1">
        <a:defRPr sz="1115" kern="1200">
          <a:solidFill>
            <a:schemeClr val="tx1"/>
          </a:solidFill>
          <a:latin typeface="+mn-lt"/>
          <a:ea typeface="+mn-ea"/>
          <a:cs typeface="+mn-cs"/>
        </a:defRPr>
      </a:lvl8pPr>
      <a:lvl9pPr marL="2266854" algn="l" defTabSz="566713" rtl="0" eaLnBrk="1" latinLnBrk="0" hangingPunct="1">
        <a:defRPr sz="11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Rectangle 3468742" descr="preencoded.png"/>
          <p:cNvPicPr>
            <a:picLocks noChangeAspect="1"/>
          </p:cNvPicPr>
          <p:nvPr/>
        </p:nvPicPr>
        <p:blipFill>
          <a:blip r:embed="rId3"/>
          <a:srcRect/>
          <a:stretch/>
        </p:blipFill>
        <p:spPr>
          <a:xfrm>
            <a:off x="0" y="0"/>
            <a:ext cx="5667375" cy="8020050"/>
          </a:xfrm>
          <a:prstGeom prst="rect">
            <a:avLst/>
          </a:prstGeom>
        </p:spPr>
      </p:pic>
      <p:pic>
        <p:nvPicPr>
          <p:cNvPr id="3" name="Rectangle 34658328" descr="preencoded.png"/>
          <p:cNvPicPr>
            <a:picLocks noChangeAspect="1"/>
          </p:cNvPicPr>
          <p:nvPr/>
        </p:nvPicPr>
        <p:blipFill>
          <a:blip r:embed="rId4"/>
          <a:srcRect/>
          <a:stretch/>
        </p:blipFill>
        <p:spPr>
          <a:xfrm>
            <a:off x="152418" y="866361"/>
            <a:ext cx="2481086" cy="3959493"/>
          </a:xfrm>
          <a:prstGeom prst="rect">
            <a:avLst/>
          </a:prstGeom>
        </p:spPr>
      </p:pic>
      <p:pic>
        <p:nvPicPr>
          <p:cNvPr id="4" name="Vector 1" descr="preencoded.png"/>
          <p:cNvPicPr>
            <a:picLocks noChangeAspect="1"/>
          </p:cNvPicPr>
          <p:nvPr/>
        </p:nvPicPr>
        <p:blipFill>
          <a:blip r:embed="rId5"/>
          <a:srcRect/>
          <a:stretch/>
        </p:blipFill>
        <p:spPr>
          <a:xfrm>
            <a:off x="437503" y="1590562"/>
            <a:ext cx="1836000" cy="4692"/>
          </a:xfrm>
          <a:prstGeom prst="rect">
            <a:avLst/>
          </a:prstGeom>
        </p:spPr>
      </p:pic>
      <p:pic>
        <p:nvPicPr>
          <p:cNvPr id="5" name="Rectangle 34658328" descr="preencoded.png"/>
          <p:cNvPicPr>
            <a:picLocks noChangeAspect="1"/>
          </p:cNvPicPr>
          <p:nvPr/>
        </p:nvPicPr>
        <p:blipFill>
          <a:blip r:embed="rId6"/>
          <a:srcRect/>
          <a:stretch/>
        </p:blipFill>
        <p:spPr>
          <a:xfrm>
            <a:off x="2392686" y="866361"/>
            <a:ext cx="3205119" cy="3959493"/>
          </a:xfrm>
          <a:prstGeom prst="rect">
            <a:avLst/>
          </a:prstGeom>
        </p:spPr>
      </p:pic>
      <p:pic>
        <p:nvPicPr>
          <p:cNvPr id="6" name="Vector 1" descr="preencoded.png"/>
          <p:cNvPicPr>
            <a:picLocks noChangeAspect="1"/>
          </p:cNvPicPr>
          <p:nvPr/>
        </p:nvPicPr>
        <p:blipFill>
          <a:blip r:embed="rId5"/>
          <a:srcRect/>
          <a:stretch/>
        </p:blipFill>
        <p:spPr>
          <a:xfrm>
            <a:off x="2791974" y="1590562"/>
            <a:ext cx="2196000" cy="5612"/>
          </a:xfrm>
          <a:prstGeom prst="rect">
            <a:avLst/>
          </a:prstGeom>
        </p:spPr>
      </p:pic>
      <p:sp>
        <p:nvSpPr>
          <p:cNvPr id="10" name="Incremental capabilities from Current SKU to Target SKU"/>
          <p:cNvSpPr/>
          <p:nvPr/>
        </p:nvSpPr>
        <p:spPr>
          <a:xfrm>
            <a:off x="304800" y="401479"/>
            <a:ext cx="2594517" cy="492443"/>
          </a:xfrm>
          <a:prstGeom prst="rect">
            <a:avLst/>
          </a:prstGeom>
          <a:noFill/>
          <a:ln/>
        </p:spPr>
        <p:txBody>
          <a:bodyPr wrap="square" lIns="0" tIns="0" rIns="0" bIns="0" rtlCol="0" anchor="t" anchorCtr="0">
            <a:spAutoFit/>
          </a:bodyPr>
          <a:lstStyle/>
          <a:p>
            <a:r>
              <a:rPr lang="en-US" sz="1600">
                <a:solidFill>
                  <a:srgbClr val="000000"/>
                </a:solidFill>
                <a:latin typeface="Segoe UI Semibold" pitchFamily="34" charset="0"/>
                <a:ea typeface="Segoe UI Semibold" pitchFamily="34" charset="-122"/>
                <a:cs typeface="Segoe UI Semibold" pitchFamily="34" charset="-120"/>
              </a:rPr>
              <a:t>Incremental capabilities with Copilot Business</a:t>
            </a:r>
            <a:endParaRPr lang="en-US" sz="1600"/>
          </a:p>
        </p:txBody>
      </p:sp>
      <p:sp>
        <p:nvSpPr>
          <p:cNvPr id="11" name="Current SKU"/>
          <p:cNvSpPr/>
          <p:nvPr/>
        </p:nvSpPr>
        <p:spPr>
          <a:xfrm>
            <a:off x="437504" y="1189906"/>
            <a:ext cx="977540" cy="333425"/>
          </a:xfrm>
          <a:prstGeom prst="rect">
            <a:avLst/>
          </a:prstGeom>
          <a:noFill/>
          <a:ln/>
        </p:spPr>
        <p:txBody>
          <a:bodyPr wrap="square" lIns="0" tIns="0" rIns="0" bIns="0" rtlCol="0" anchor="t" anchorCtr="0">
            <a:spAutoFit/>
          </a:bodyPr>
          <a:lstStyle/>
          <a:p>
            <a:pPr>
              <a:lnSpc>
                <a:spcPts val="1275"/>
              </a:lnSpc>
            </a:pPr>
            <a:r>
              <a:rPr lang="en-US" sz="1200">
                <a:solidFill>
                  <a:srgbClr val="8A226F"/>
                </a:solidFill>
                <a:latin typeface="Segoe UI Semibold" pitchFamily="34" charset="0"/>
                <a:ea typeface="Segoe UI Semibold" pitchFamily="34" charset="-122"/>
                <a:cs typeface="Segoe UI Semibold" pitchFamily="34" charset="-120"/>
              </a:rPr>
              <a:t>Business Premium</a:t>
            </a:r>
            <a:endParaRPr lang="en-US" sz="1200"/>
          </a:p>
        </p:txBody>
      </p:sp>
      <p:sp>
        <p:nvSpPr>
          <p:cNvPr id="12" name="Identity and access management Single sign-on for apps and devices and multifactor authentication for work accounts Data compliance Ability to log and search for audited activities with Microsoft Purview Audit Threat protection Automatic spam and malware"/>
          <p:cNvSpPr/>
          <p:nvPr/>
        </p:nvSpPr>
        <p:spPr>
          <a:xfrm>
            <a:off x="438150" y="1700192"/>
            <a:ext cx="1751558" cy="2602315"/>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Web, mobile, and desktop versions of Word, Excel, PowerPoint, and Outlook​</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AI grounded in web data and accessible across apps you use every day with additional content awareness of your open file</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Custom agents with pricing on a metered basis</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Manual sensitivity and retention labels for content processed by Copilot in files and emails</a:t>
            </a:r>
          </a:p>
          <a:p>
            <a:pPr marL="114300" indent="-114300">
              <a:lnSpc>
                <a:spcPts val="1200"/>
              </a:lnSpc>
              <a:spcBef>
                <a:spcPts val="600"/>
              </a:spcBef>
              <a:buSzPct val="100000"/>
              <a:buFont typeface="Arial" panose="020B0604020202020204" pitchFamily="34" charset="0"/>
              <a:buChar char="•"/>
            </a:pPr>
            <a:r>
              <a:rPr lang="en-US" sz="850">
                <a:solidFill>
                  <a:srgbClr val="000000"/>
                </a:solidFill>
                <a:latin typeface="Segoe UI Regular" pitchFamily="34" charset="0"/>
                <a:ea typeface="Segoe UI Regular" pitchFamily="34" charset="-122"/>
                <a:cs typeface="Segoe UI Regular" pitchFamily="34" charset="-120"/>
              </a:rPr>
              <a:t>Data loss prevention policies to help protect sensitive data from Copilot in files and emails</a:t>
            </a:r>
          </a:p>
        </p:txBody>
      </p:sp>
      <p:sp>
        <p:nvSpPr>
          <p:cNvPr id="13" name="Target SKU"/>
          <p:cNvSpPr/>
          <p:nvPr/>
        </p:nvSpPr>
        <p:spPr>
          <a:xfrm>
            <a:off x="2791975" y="1189906"/>
            <a:ext cx="1460357" cy="333425"/>
          </a:xfrm>
          <a:prstGeom prst="rect">
            <a:avLst/>
          </a:prstGeom>
          <a:noFill/>
          <a:ln/>
        </p:spPr>
        <p:txBody>
          <a:bodyPr wrap="square" lIns="0" tIns="0" rIns="0" bIns="0" rtlCol="0" anchor="t" anchorCtr="0">
            <a:spAutoFit/>
          </a:bodyPr>
          <a:lstStyle/>
          <a:p>
            <a:pPr>
              <a:lnSpc>
                <a:spcPts val="1275"/>
              </a:lnSpc>
            </a:pPr>
            <a:r>
              <a:rPr lang="en-US" sz="1200">
                <a:solidFill>
                  <a:srgbClr val="8A226F"/>
                </a:solidFill>
                <a:latin typeface="Segoe UI Semibold" pitchFamily="34" charset="0"/>
                <a:ea typeface="Segoe UI Semibold" pitchFamily="34" charset="-122"/>
                <a:cs typeface="Segoe UI Semibold" pitchFamily="34" charset="-120"/>
              </a:rPr>
              <a:t>Business Premium and Copilot Business</a:t>
            </a:r>
          </a:p>
        </p:txBody>
      </p:sp>
      <p:sp>
        <p:nvSpPr>
          <p:cNvPr id="14" name="Identity and access management Risk-based conditional access visibility into risky sign-ins and user behavior anomalies ID Governance and Privileged Identity Management Identity defense Identify detect and investigateadvanced threats compromised identitie"/>
          <p:cNvSpPr/>
          <p:nvPr/>
        </p:nvSpPr>
        <p:spPr>
          <a:xfrm>
            <a:off x="2791974" y="1700192"/>
            <a:ext cx="2196000" cy="2602315"/>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AI that understands your work with access to Microsoft Graph data - files, email, chat, meetings, people, etc. </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Advanced Chat skills, including functionality like Copilot Search and Copilot Notebooks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Advanced Office skills such as Agent mode directly into the apps, helping to analyze data, build models, and refine documents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Collaborative agents such as Facilitator, Knowledge agent, Agent in Teams Channels, etc. to power you to build human-AI teams</a:t>
            </a:r>
          </a:p>
          <a:p>
            <a:pPr marL="114300" indent="-114300">
              <a:lnSpc>
                <a:spcPts val="1200"/>
              </a:lnSpc>
              <a:spcBef>
                <a:spcPts val="600"/>
              </a:spcBef>
              <a:buSzPct val="100000"/>
              <a:buChar char="•"/>
            </a:pPr>
            <a:r>
              <a:rPr lang="en-US" sz="850">
                <a:solidFill>
                  <a:srgbClr val="000000"/>
                </a:solidFill>
                <a:latin typeface="Segoe UI Regular" pitchFamily="34" charset="0"/>
                <a:ea typeface="Segoe UI Regular" pitchFamily="34" charset="-122"/>
                <a:cs typeface="Segoe UI Regular" pitchFamily="34" charset="-120"/>
              </a:rPr>
              <a:t>Model Choice with </a:t>
            </a:r>
            <a:r>
              <a:rPr lang="en-US" sz="850" err="1">
                <a:solidFill>
                  <a:srgbClr val="000000"/>
                </a:solidFill>
                <a:latin typeface="Segoe UI Regular" pitchFamily="34" charset="0"/>
                <a:ea typeface="Segoe UI Regular" pitchFamily="34" charset="-122"/>
                <a:cs typeface="Segoe UI Regular" pitchFamily="34" charset="-120"/>
              </a:rPr>
              <a:t>Anthropic’s</a:t>
            </a:r>
            <a:r>
              <a:rPr lang="en-US" sz="850">
                <a:solidFill>
                  <a:srgbClr val="000000"/>
                </a:solidFill>
                <a:latin typeface="Segoe UI Regular" pitchFamily="34" charset="0"/>
                <a:ea typeface="Segoe UI Regular" pitchFamily="34" charset="-122"/>
                <a:cs typeface="Segoe UI Regular" pitchFamily="34" charset="-120"/>
              </a:rPr>
              <a:t> Claude models in both Researcher and Copilot Studio to fit business needs and use cases</a:t>
            </a:r>
          </a:p>
        </p:txBody>
      </p:sp>
      <p:grpSp>
        <p:nvGrpSpPr>
          <p:cNvPr id="35" name="Group 34">
            <a:extLst>
              <a:ext uri="{FF2B5EF4-FFF2-40B4-BE49-F238E27FC236}">
                <a16:creationId xmlns:a16="http://schemas.microsoft.com/office/drawing/2014/main" id="{608D4319-FCA8-EA10-68F3-296DA3A6D3E7}"/>
              </a:ext>
            </a:extLst>
          </p:cNvPr>
          <p:cNvGrpSpPr/>
          <p:nvPr/>
        </p:nvGrpSpPr>
        <p:grpSpPr>
          <a:xfrm>
            <a:off x="2231759" y="1905369"/>
            <a:ext cx="452071" cy="452070"/>
            <a:chOff x="2604720" y="1824449"/>
            <a:chExt cx="452071" cy="452070"/>
          </a:xfrm>
        </p:grpSpPr>
        <p:grpSp>
          <p:nvGrpSpPr>
            <p:cNvPr id="36" name="Graphic 15">
              <a:extLst>
                <a:ext uri="{FF2B5EF4-FFF2-40B4-BE49-F238E27FC236}">
                  <a16:creationId xmlns:a16="http://schemas.microsoft.com/office/drawing/2014/main" id="{D3D57B20-658A-ADC4-1FD8-CF296F3289B0}"/>
                </a:ext>
              </a:extLst>
            </p:cNvPr>
            <p:cNvGrpSpPr/>
            <p:nvPr/>
          </p:nvGrpSpPr>
          <p:grpSpPr>
            <a:xfrm>
              <a:off x="2604720" y="1824449"/>
              <a:ext cx="452071" cy="452070"/>
              <a:chOff x="2604720" y="3739960"/>
              <a:chExt cx="452071" cy="452070"/>
            </a:xfrm>
          </p:grpSpPr>
          <p:sp>
            <p:nvSpPr>
              <p:cNvPr id="38" name="Freeform: Shape 37">
                <a:extLst>
                  <a:ext uri="{FF2B5EF4-FFF2-40B4-BE49-F238E27FC236}">
                    <a16:creationId xmlns:a16="http://schemas.microsoft.com/office/drawing/2014/main" id="{2A6D5699-7BA3-681B-0CDC-46B3DE8B7A0D}"/>
                  </a:ext>
                </a:extLst>
              </p:cNvPr>
              <p:cNvSpPr/>
              <p:nvPr/>
            </p:nvSpPr>
            <p:spPr>
              <a:xfrm>
                <a:off x="2604720" y="3739960"/>
                <a:ext cx="452071" cy="452070"/>
              </a:xfrm>
              <a:custGeom>
                <a:avLst/>
                <a:gdLst>
                  <a:gd name="csX0" fmla="*/ 15 w 452071"/>
                  <a:gd name="csY0" fmla="*/ 223456 h 452070"/>
                  <a:gd name="csX1" fmla="*/ 228615 w 452071"/>
                  <a:gd name="csY1" fmla="*/ 15 h 452070"/>
                  <a:gd name="csX2" fmla="*/ 452056 w 452071"/>
                  <a:gd name="csY2" fmla="*/ 228615 h 452070"/>
                  <a:gd name="csX3" fmla="*/ 223456 w 452071"/>
                  <a:gd name="csY3" fmla="*/ 452055 h 452070"/>
                  <a:gd name="csX4" fmla="*/ 15 w 452071"/>
                  <a:gd name="csY4" fmla="*/ 223456 h 452070"/>
                </a:gdLst>
                <a:ahLst/>
                <a:cxnLst>
                  <a:cxn ang="0">
                    <a:pos x="csX0" y="csY0"/>
                  </a:cxn>
                  <a:cxn ang="0">
                    <a:pos x="csX1" y="csY1"/>
                  </a:cxn>
                  <a:cxn ang="0">
                    <a:pos x="csX2" y="csY2"/>
                  </a:cxn>
                  <a:cxn ang="0">
                    <a:pos x="csX3" y="csY3"/>
                  </a:cxn>
                  <a:cxn ang="0">
                    <a:pos x="csX4" y="csY4"/>
                  </a:cxn>
                </a:cxnLst>
                <a:rect l="l" t="t" r="r" b="b"/>
                <a:pathLst>
                  <a:path w="452071" h="452070">
                    <a:moveTo>
                      <a:pt x="15" y="223456"/>
                    </a:moveTo>
                    <a:cubicBezTo>
                      <a:pt x="1440" y="98628"/>
                      <a:pt x="103788" y="-1410"/>
                      <a:pt x="228615" y="15"/>
                    </a:cubicBezTo>
                    <a:cubicBezTo>
                      <a:pt x="353443" y="1439"/>
                      <a:pt x="453481" y="103787"/>
                      <a:pt x="452056" y="228615"/>
                    </a:cubicBezTo>
                    <a:cubicBezTo>
                      <a:pt x="450632" y="353442"/>
                      <a:pt x="348284" y="453480"/>
                      <a:pt x="223456" y="452055"/>
                    </a:cubicBezTo>
                    <a:cubicBezTo>
                      <a:pt x="98629" y="450631"/>
                      <a:pt x="-1409" y="348283"/>
                      <a:pt x="15" y="223456"/>
                    </a:cubicBezTo>
                    <a:close/>
                  </a:path>
                </a:pathLst>
              </a:custGeom>
              <a:gradFill>
                <a:gsLst>
                  <a:gs pos="0">
                    <a:srgbClr val="0B79D5"/>
                  </a:gs>
                  <a:gs pos="50000">
                    <a:srgbClr val="615CCD"/>
                  </a:gs>
                  <a:gs pos="100000">
                    <a:srgbClr val="B740C5"/>
                  </a:gs>
                </a:gsLst>
                <a:lin ang="5439230" scaled="1"/>
              </a:gradFill>
              <a:ln w="9525" cap="flat">
                <a:noFill/>
                <a:prstDash val="solid"/>
                <a:miter/>
              </a:ln>
            </p:spPr>
            <p:txBody>
              <a:bodyPr/>
              <a:lstStyle/>
              <a:p>
                <a:endParaRPr lang="en-IN"/>
              </a:p>
            </p:txBody>
          </p:sp>
          <p:sp>
            <p:nvSpPr>
              <p:cNvPr id="39" name="Freeform: Shape 38">
                <a:extLst>
                  <a:ext uri="{FF2B5EF4-FFF2-40B4-BE49-F238E27FC236}">
                    <a16:creationId xmlns:a16="http://schemas.microsoft.com/office/drawing/2014/main" id="{2AD68706-FC25-1308-2E64-816F728FCE1E}"/>
                  </a:ext>
                </a:extLst>
              </p:cNvPr>
              <p:cNvSpPr/>
              <p:nvPr/>
            </p:nvSpPr>
            <p:spPr>
              <a:xfrm>
                <a:off x="2608859" y="3744099"/>
                <a:ext cx="443796" cy="443796"/>
              </a:xfrm>
              <a:custGeom>
                <a:avLst/>
                <a:gdLst>
                  <a:gd name="csX0" fmla="*/ 224426 w 443796"/>
                  <a:gd name="csY0" fmla="*/ 15 h 443796"/>
                  <a:gd name="csX1" fmla="*/ 443782 w 443796"/>
                  <a:gd name="csY1" fmla="*/ 224426 h 443796"/>
                  <a:gd name="csX2" fmla="*/ 219361 w 443796"/>
                  <a:gd name="csY2" fmla="*/ 443782 h 443796"/>
                  <a:gd name="csX3" fmla="*/ 15 w 443796"/>
                  <a:gd name="csY3" fmla="*/ 219361 h 443796"/>
                  <a:gd name="csX4" fmla="*/ 224426 w 443796"/>
                  <a:gd name="csY4" fmla="*/ 15 h 443796"/>
                </a:gdLst>
                <a:ahLst/>
                <a:cxnLst>
                  <a:cxn ang="0">
                    <a:pos x="csX0" y="csY0"/>
                  </a:cxn>
                  <a:cxn ang="0">
                    <a:pos x="csX1" y="csY1"/>
                  </a:cxn>
                  <a:cxn ang="0">
                    <a:pos x="csX2" y="csY2"/>
                  </a:cxn>
                  <a:cxn ang="0">
                    <a:pos x="csX3" y="csY3"/>
                  </a:cxn>
                  <a:cxn ang="0">
                    <a:pos x="csX4" y="csY4"/>
                  </a:cxn>
                </a:cxnLst>
                <a:rect l="l" t="t" r="r" b="b"/>
                <a:pathLst>
                  <a:path w="443796" h="443796">
                    <a:moveTo>
                      <a:pt x="224426" y="15"/>
                    </a:moveTo>
                    <a:cubicBezTo>
                      <a:pt x="346967" y="1413"/>
                      <a:pt x="445179" y="101886"/>
                      <a:pt x="443782" y="224426"/>
                    </a:cubicBezTo>
                    <a:cubicBezTo>
                      <a:pt x="442383" y="346968"/>
                      <a:pt x="341903" y="445181"/>
                      <a:pt x="219361" y="443782"/>
                    </a:cubicBezTo>
                    <a:cubicBezTo>
                      <a:pt x="96820" y="442382"/>
                      <a:pt x="-1383" y="341903"/>
                      <a:pt x="15" y="219361"/>
                    </a:cubicBezTo>
                    <a:cubicBezTo>
                      <a:pt x="1414" y="96822"/>
                      <a:pt x="101886" y="-1383"/>
                      <a:pt x="224426" y="15"/>
                    </a:cubicBezTo>
                    <a:close/>
                  </a:path>
                </a:pathLst>
              </a:custGeom>
              <a:noFill/>
              <a:ln w="8278" cap="flat">
                <a:solidFill>
                  <a:srgbClr val="FFFFFF">
                    <a:alpha val="30000"/>
                  </a:srgbClr>
                </a:solidFill>
                <a:prstDash val="solid"/>
                <a:miter/>
              </a:ln>
            </p:spPr>
            <p:txBody>
              <a:bodyPr/>
              <a:lstStyle/>
              <a:p>
                <a:endParaRPr lang="en-IN"/>
              </a:p>
            </p:txBody>
          </p:sp>
        </p:grpSp>
        <p:sp>
          <p:nvSpPr>
            <p:cNvPr id="37" name="Freeform: Shape 36">
              <a:extLst>
                <a:ext uri="{FF2B5EF4-FFF2-40B4-BE49-F238E27FC236}">
                  <a16:creationId xmlns:a16="http://schemas.microsoft.com/office/drawing/2014/main" id="{05D63B55-E03A-5CA3-82CA-1D1EC9FD2815}"/>
                </a:ext>
              </a:extLst>
            </p:cNvPr>
            <p:cNvSpPr/>
            <p:nvPr/>
          </p:nvSpPr>
          <p:spPr>
            <a:xfrm>
              <a:off x="2749192" y="1987015"/>
              <a:ext cx="146568" cy="146568"/>
            </a:xfrm>
            <a:custGeom>
              <a:avLst/>
              <a:gdLst>
                <a:gd name="csX0" fmla="*/ 122212 w 146568"/>
                <a:gd name="csY0" fmla="*/ 41599 h 146568"/>
                <a:gd name="csX1" fmla="*/ 17243 w 146568"/>
                <a:gd name="csY1" fmla="*/ 146569 h 146568"/>
                <a:gd name="csX2" fmla="*/ 0 w 146568"/>
                <a:gd name="csY2" fmla="*/ 129325 h 146568"/>
                <a:gd name="csX3" fmla="*/ 104968 w 146568"/>
                <a:gd name="csY3" fmla="*/ 24356 h 146568"/>
                <a:gd name="csX4" fmla="*/ 8406 w 146568"/>
                <a:gd name="csY4" fmla="*/ 24356 h 146568"/>
                <a:gd name="csX5" fmla="*/ 8621 w 146568"/>
                <a:gd name="csY5" fmla="*/ 0 h 146568"/>
                <a:gd name="csX6" fmla="*/ 146569 w 146568"/>
                <a:gd name="csY6" fmla="*/ 0 h 146568"/>
                <a:gd name="csX7" fmla="*/ 146569 w 146568"/>
                <a:gd name="csY7" fmla="*/ 137947 h 146568"/>
                <a:gd name="csX8" fmla="*/ 122212 w 146568"/>
                <a:gd name="csY8" fmla="*/ 138162 h 146568"/>
                <a:gd name="csX9" fmla="*/ 122212 w 146568"/>
                <a:gd name="csY9" fmla="*/ 41599 h 146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6568" h="146568">
                  <a:moveTo>
                    <a:pt x="122212" y="41599"/>
                  </a:moveTo>
                  <a:lnTo>
                    <a:pt x="17243" y="146569"/>
                  </a:lnTo>
                  <a:lnTo>
                    <a:pt x="0" y="129325"/>
                  </a:lnTo>
                  <a:lnTo>
                    <a:pt x="104968" y="24356"/>
                  </a:lnTo>
                  <a:lnTo>
                    <a:pt x="8406" y="24356"/>
                  </a:lnTo>
                  <a:lnTo>
                    <a:pt x="8621" y="0"/>
                  </a:lnTo>
                  <a:lnTo>
                    <a:pt x="146569" y="0"/>
                  </a:lnTo>
                  <a:lnTo>
                    <a:pt x="146569" y="137947"/>
                  </a:lnTo>
                  <a:lnTo>
                    <a:pt x="122212" y="138162"/>
                  </a:lnTo>
                  <a:lnTo>
                    <a:pt x="122212" y="41599"/>
                  </a:lnTo>
                  <a:close/>
                </a:path>
              </a:pathLst>
            </a:custGeom>
            <a:solidFill>
              <a:srgbClr val="FFFFFF"/>
            </a:solidFill>
            <a:ln w="9525" cap="flat">
              <a:noFill/>
              <a:prstDash val="solid"/>
              <a:miter/>
            </a:ln>
          </p:spPr>
          <p:txBody>
            <a:bodyPr/>
            <a:lstStyle/>
            <a:p>
              <a:endParaRPr lang="en-IN"/>
            </a:p>
          </p:txBody>
        </p:sp>
      </p:grpSp>
      <p:pic>
        <p:nvPicPr>
          <p:cNvPr id="9" name="Picture 8" descr="A screenshot of a computer&#10;&#10;AI-generated content may be incorrect.">
            <a:extLst>
              <a:ext uri="{FF2B5EF4-FFF2-40B4-BE49-F238E27FC236}">
                <a16:creationId xmlns:a16="http://schemas.microsoft.com/office/drawing/2014/main" id="{2037478B-1850-03D2-3D87-8F37694075FE}"/>
              </a:ext>
            </a:extLst>
          </p:cNvPr>
          <p:cNvPicPr>
            <a:picLocks noChangeAspect="1"/>
          </p:cNvPicPr>
          <p:nvPr/>
        </p:nvPicPr>
        <p:blipFill>
          <a:blip r:embed="rId7"/>
          <a:stretch>
            <a:fillRect/>
          </a:stretch>
        </p:blipFill>
        <p:spPr>
          <a:xfrm>
            <a:off x="304800" y="4825854"/>
            <a:ext cx="5057775" cy="28888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390856"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r>
              <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494644"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494644"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494644"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 y="3065"/>
            <a:ext cx="5667375" cy="177820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IN"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2577700" y="3064"/>
            <a:ext cx="3089675" cy="1203192"/>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396012" y="309110"/>
            <a:ext cx="904451" cy="192862"/>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012771"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779405" y="2324377"/>
            <a:ext cx="1498621"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3181613" y="2324377"/>
            <a:ext cx="1938033"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Business </a:t>
            </a:r>
          </a:p>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495675"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388875" y="822470"/>
            <a:ext cx="4165402" cy="679010"/>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35354" rtl="0" eaLnBrk="1" fontAlgn="auto" latinLnBrk="0" hangingPunct="1">
              <a:lnSpc>
                <a:spcPct val="100000"/>
              </a:lnSpc>
              <a:spcBef>
                <a:spcPct val="0"/>
              </a:spcBef>
              <a:spcAft>
                <a:spcPts val="0"/>
              </a:spcAft>
              <a:buClrTx/>
              <a:buSzTx/>
              <a:buFontTx/>
              <a:buNone/>
              <a:tabLst/>
              <a:defRPr/>
            </a:pPr>
            <a:r>
              <a:rPr kumimoji="0" lang="en-US" sz="2206" b="1"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rPr>
              <a:t>Comparison of key features between Copilot licenses</a:t>
            </a:r>
            <a:endParaRPr kumimoji="0" lang="en-US" sz="2206" b="0"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668220" y="3400855"/>
            <a:ext cx="1720992" cy="723483"/>
            <a:chOff x="666348" y="3558436"/>
            <a:chExt cx="1716171" cy="721456"/>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779405"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283572"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668220" y="5294914"/>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Access to agents that use web data, work data agents are pay-as-you-go</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779405"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283571" y="642789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668220"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Basic usage management controls and reporting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3116559"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3116559"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3116559"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3290135" y="3400855"/>
            <a:ext cx="1720992" cy="723483"/>
            <a:chOff x="666348" y="3391793"/>
            <a:chExt cx="1716171" cy="721456"/>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3401320"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3905487"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3290135" y="5294915"/>
            <a:ext cx="1720992" cy="32407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Includes access to agents that use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3401320"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3905485" y="643111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3290135"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Adds advanced management controls and analytics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2612149" y="2399503"/>
            <a:ext cx="443077" cy="443077"/>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3117589"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1095" y="4176684"/>
            <a:ext cx="275242" cy="275242"/>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3767865" y="4176061"/>
            <a:ext cx="714038" cy="281414"/>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9676" y="4939631"/>
            <a:ext cx="212002" cy="212002"/>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44326" y="4939631"/>
            <a:ext cx="212002" cy="212002"/>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9676" y="6409084"/>
            <a:ext cx="229242" cy="229242"/>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44326" y="6409084"/>
            <a:ext cx="229242" cy="229242"/>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2554843" y="3628396"/>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2554843" y="5106469"/>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2554843" y="6584542"/>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2633263" y="2428521"/>
            <a:ext cx="400848" cy="370369"/>
          </a:xfrm>
          <a:prstGeom prst="rect">
            <a:avLst/>
          </a:prstGeom>
          <a:noFill/>
        </p:spPr>
        <p:txBody>
          <a:bodyPr wrap="none" rtlCol="0">
            <a:spAutoFit/>
          </a:bodyPr>
          <a:lstStyle/>
          <a:p>
            <a:pPr marL="0" marR="0" lvl="0" indent="0" algn="ctr" defTabSz="458480" rtl="0" eaLnBrk="1" fontAlgn="auto" latinLnBrk="0" hangingPunct="1">
              <a:lnSpc>
                <a:spcPct val="100000"/>
              </a:lnSpc>
              <a:spcBef>
                <a:spcPts val="0"/>
              </a:spcBef>
              <a:spcAft>
                <a:spcPts val="0"/>
              </a:spcAft>
              <a:buClrTx/>
              <a:buSzTx/>
              <a:buFontTx/>
              <a:buNone/>
              <a:tabLst/>
              <a:defRPr/>
            </a:pPr>
            <a:r>
              <a:rPr kumimoji="0" lang="en-IN"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vs</a:t>
            </a:r>
            <a:endParaRPr kumimoji="0" lang="en-US"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sp>
        <p:nvSpPr>
          <p:cNvPr id="49" name="Text 8">
            <a:extLst>
              <a:ext uri="{FF2B5EF4-FFF2-40B4-BE49-F238E27FC236}">
                <a16:creationId xmlns:a16="http://schemas.microsoft.com/office/drawing/2014/main" id="{91AFE902-17FD-61F3-E778-58BF18FA2D93}"/>
              </a:ext>
            </a:extLst>
          </p:cNvPr>
          <p:cNvSpPr/>
          <p:nvPr/>
        </p:nvSpPr>
        <p:spPr>
          <a:xfrm>
            <a:off x="409575" y="7197213"/>
            <a:ext cx="4848225" cy="731525"/>
          </a:xfrm>
          <a:prstGeom prst="rect">
            <a:avLst/>
          </a:prstGeom>
          <a:noFill/>
          <a:ln/>
        </p:spPr>
        <p:txBody>
          <a:bodyPr wrap="square" lIns="0" tIns="0" rIns="0" bIns="0" rtlCol="0" anchor="t"/>
          <a:lstStyle/>
          <a:p>
            <a:r>
              <a:rPr lang="en-US" sz="500" dirty="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dirty="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F0304307-2C98-2546-1EAF-A575B5F91751}"/>
              </a:ext>
            </a:extLst>
          </p:cNvPr>
          <p:cNvGraphicFramePr>
            <a:graphicFrameLocks noGrp="1"/>
          </p:cNvGraphicFramePr>
          <p:nvPr>
            <p:extLst>
              <p:ext uri="{D42A27DB-BD31-4B8C-83A1-F6EECF244321}">
                <p14:modId xmlns:p14="http://schemas.microsoft.com/office/powerpoint/2010/main" val="1148512876"/>
              </p:ext>
            </p:extLst>
          </p:nvPr>
        </p:nvGraphicFramePr>
        <p:xfrm>
          <a:off x="409575" y="661584"/>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1603042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766</Words>
  <Application>Microsoft Office PowerPoint</Application>
  <PresentationFormat>Custom</PresentationFormat>
  <Paragraphs>85</Paragraphs>
  <Slides>5</Slides>
  <Notes>4</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vt:i4>
      </vt:variant>
    </vt:vector>
  </HeadingPairs>
  <TitlesOfParts>
    <vt:vector size="19" baseType="lpstr">
      <vt:lpstr>Aptos</vt:lpstr>
      <vt:lpstr>Aptos Display</vt:lpstr>
      <vt:lpstr>Arial</vt:lpstr>
      <vt:lpstr>Calibri</vt:lpstr>
      <vt:lpstr>Segoe Sans Display</vt:lpstr>
      <vt:lpstr>Segoe Sans Display Semibold</vt:lpstr>
      <vt:lpstr>Segoe UI</vt:lpstr>
      <vt:lpstr>Segoe UI Regular</vt:lpstr>
      <vt:lpstr>Segoe UI Semibold</vt:lpstr>
      <vt:lpstr>Segoe UI Variable Display Semib</vt:lpstr>
      <vt:lpstr>Wingdings</vt:lpstr>
      <vt:lpstr>Office Theme</vt:lpstr>
      <vt:lpstr>2_CSP Template Diamond 06/23</vt:lpstr>
      <vt:lpstr>3_Office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Teotia</cp:lastModifiedBy>
  <cp:revision>2</cp:revision>
  <dcterms:created xsi:type="dcterms:W3CDTF">2026-02-21T17:45:29Z</dcterms:created>
  <dcterms:modified xsi:type="dcterms:W3CDTF">2026-05-07T23:09:29Z</dcterms:modified>
</cp:coreProperties>
</file>