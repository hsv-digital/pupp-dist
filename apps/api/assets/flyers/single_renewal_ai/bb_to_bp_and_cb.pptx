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B42AD8-D303-40A9-9FBF-0A30D99E59DD}" v="1" dt="2026-04-24T11:56:51.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6:51.810" v="201"/>
      <pc:docMkLst>
        <pc:docMk/>
      </pc:docMkLst>
      <pc:sldChg chg="add">
        <pc:chgData name="Vandan Jain" userId="4244b45b-25d1-413d-855b-6597e767c081" providerId="ADAL" clId="{67AB2A15-26B8-47FB-BEC6-EFDC03C3B3B6}" dt="2026-04-24T11:56:51.810" v="201"/>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9679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477459526"/>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45817956"/>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959148270"/>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US"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defTabSz="366729">
              <a:spcBef>
                <a:spcPts val="0"/>
              </a:spcBef>
            </a:pPr>
            <a:r>
              <a:rPr lang="en-US" sz="2042" spc="-23">
                <a:latin typeface="Segoe Sans Display Semibold" pitchFamily="2" charset="0"/>
                <a:cs typeface="Segoe Sans Display Semibold" pitchFamily="2" charset="0"/>
              </a:rPr>
              <a:t>Transform your business with   one AI solution – </a:t>
            </a:r>
            <a:r>
              <a:rPr lang="en-US" sz="2042"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defTabSz="333390"/>
            <a:r>
              <a:rPr lang="en-US" sz="1000">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1000">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All-in-1 AI productivity app</a:t>
            </a:r>
            <a:endParaRPr lang="en-US" sz="1021">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Integrated into existing apps</a:t>
            </a:r>
            <a:endParaRPr lang="en-US" sz="1021">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algn="ctr" defTabSz="333390"/>
            <a:r>
              <a:rPr lang="en-US" sz="875">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algn="ctr" defTabSz="333390"/>
            <a:r>
              <a:rPr lang="en-US" sz="875">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algn="ctr" defTabSz="333390"/>
            <a:r>
              <a:rPr lang="en-US" sz="875">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algn="ctr" defTabSz="333390"/>
            <a:r>
              <a:rPr lang="en-US" sz="875">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indent="-125021" defTabSz="333390">
              <a:lnSpc>
                <a:spcPct val="150000"/>
              </a:lnSpc>
              <a:buFont typeface="Arial" panose="020B0604020202020204" pitchFamily="34" charset="0"/>
              <a:buChar char="•"/>
            </a:pPr>
            <a:r>
              <a:rPr lang="en-US" sz="875">
                <a:solidFill>
                  <a:srgbClr val="000000"/>
                </a:solidFill>
                <a:latin typeface="Segoe UI"/>
              </a:rPr>
              <a:t>Secure AI chat </a:t>
            </a:r>
          </a:p>
          <a:p>
            <a:pPr marL="125021" indent="-125021" defTabSz="333390">
              <a:lnSpc>
                <a:spcPct val="150000"/>
              </a:lnSpc>
              <a:buFont typeface="Arial" panose="020B0604020202020204" pitchFamily="34" charset="0"/>
              <a:buChar char="•"/>
            </a:pPr>
            <a:r>
              <a:rPr lang="en-US" sz="875">
                <a:solidFill>
                  <a:srgbClr val="000000"/>
                </a:solidFill>
                <a:latin typeface="Segoe UI"/>
              </a:rPr>
              <a:t>AI search enhanced by Work IQ</a:t>
            </a:r>
          </a:p>
          <a:p>
            <a:pPr marL="125021" indent="-125021" defTabSz="333390">
              <a:lnSpc>
                <a:spcPct val="150000"/>
              </a:lnSpc>
              <a:buFont typeface="Arial" panose="020B0604020202020204" pitchFamily="34" charset="0"/>
              <a:buChar char="•"/>
            </a:pPr>
            <a:r>
              <a:rPr lang="en-US" sz="875">
                <a:solidFill>
                  <a:srgbClr val="000000"/>
                </a:solidFill>
                <a:latin typeface="Segoe UI"/>
              </a:rPr>
              <a:t>Ecosystem of pre-built agents</a:t>
            </a:r>
          </a:p>
          <a:p>
            <a:pPr marL="125021" indent="-125021" defTabSz="333390">
              <a:lnSpc>
                <a:spcPct val="150000"/>
              </a:lnSpc>
              <a:buFont typeface="Arial" panose="020B0604020202020204" pitchFamily="34" charset="0"/>
              <a:buChar char="•"/>
            </a:pPr>
            <a:r>
              <a:rPr lang="en-US" sz="875">
                <a:solidFill>
                  <a:srgbClr val="000000"/>
                </a:solidFill>
                <a:latin typeface="Segoe UI"/>
              </a:rPr>
              <a:t>AI-generated multi-media</a:t>
            </a:r>
          </a:p>
          <a:p>
            <a:pPr marL="125021" indent="-125021" defTabSz="333390">
              <a:lnSpc>
                <a:spcPct val="150000"/>
              </a:lnSpc>
              <a:buFont typeface="Arial" panose="020B0604020202020204" pitchFamily="34" charset="0"/>
              <a:buChar char="•"/>
            </a:pPr>
            <a:r>
              <a:rPr lang="en-US" sz="875">
                <a:solidFill>
                  <a:srgbClr val="000000"/>
                </a:solidFill>
                <a:latin typeface="Segoe UI"/>
              </a:rPr>
              <a:t>Centralize content of various types</a:t>
            </a:r>
          </a:p>
          <a:p>
            <a:pPr marL="125021" indent="-125021" defTabSz="333390">
              <a:lnSpc>
                <a:spcPct val="150000"/>
              </a:lnSpc>
              <a:buFont typeface="Arial" panose="020B0604020202020204" pitchFamily="34" charset="0"/>
              <a:buChar char="•"/>
            </a:pPr>
            <a:r>
              <a:rPr lang="en-US" sz="875">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defTabSz="333390"/>
            <a:r>
              <a:rPr lang="en-US" sz="875">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Agent platform</a:t>
            </a:r>
            <a:endParaRPr lang="en-US" sz="1021">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Model choice</a:t>
            </a:r>
            <a:endParaRPr lang="en-US" sz="1021">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Copilot </a:t>
            </a:r>
            <a:r>
              <a:rPr lang="en-US" sz="1021" b="1" err="1">
                <a:solidFill>
                  <a:srgbClr val="FFFFFF"/>
                </a:solidFill>
                <a:latin typeface="Segoe Sans Display" pitchFamily="2" charset="0"/>
                <a:cs typeface="Segoe Sans Display" pitchFamily="2" charset="0"/>
              </a:rPr>
              <a:t>Contro</a:t>
            </a:r>
            <a:r>
              <a:rPr lang="en-US" sz="1021" b="1">
                <a:solidFill>
                  <a:srgbClr val="FFFFFF"/>
                </a:solidFill>
                <a:latin typeface="Segoe Sans Display" pitchFamily="2" charset="0"/>
                <a:cs typeface="Segoe Sans Display" pitchFamily="2" charset="0"/>
              </a:rPr>
              <a:t>l system</a:t>
            </a:r>
            <a:endParaRPr lang="en-US" sz="1021">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defRPr/>
            </a:pPr>
            <a:endParaRPr lang="en-US" sz="1458">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71391" fontAlgn="base">
                  <a:spcBef>
                    <a:spcPct val="0"/>
                  </a:spcBef>
                  <a:spcAft>
                    <a:spcPct val="0"/>
                  </a:spcAft>
                  <a:defRPr/>
                </a:pPr>
                <a:endParaRPr lang="en-US" sz="2083">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algn="ctr" defTabSz="333390"/>
                <a:r>
                  <a:rPr lang="en-US" sz="365"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defTabSz="333390"/>
                <a:r>
                  <a:rPr lang="en-US" sz="438">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defTabSz="333390"/>
                <a:r>
                  <a:rPr lang="en-US" sz="438">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defTabSz="333390"/>
                <a:r>
                  <a:rPr lang="en-US" sz="438">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defTabSz="679959" fontAlgn="base">
              <a:spcBef>
                <a:spcPct val="0"/>
              </a:spcBef>
              <a:spcAft>
                <a:spcPct val="0"/>
              </a:spcAft>
            </a:pPr>
            <a:endParaRPr lang="en-IN" sz="1458"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algn="ctr" defTabSz="333390"/>
            <a:r>
              <a:rPr lang="en-US" sz="1021" b="1">
                <a:solidFill>
                  <a:srgbClr val="FFFFFF"/>
                </a:solidFill>
                <a:latin typeface="Segoe Sans Display" pitchFamily="2" charset="0"/>
                <a:cs typeface="Segoe Sans Display" pitchFamily="2" charset="0"/>
              </a:rPr>
              <a:t>Powered by Work IQ</a:t>
            </a:r>
            <a:endParaRPr lang="en-US" sz="1021">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defTabSz="333390"/>
            <a:endParaRPr lang="en-US" sz="1313">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defTabSz="333390"/>
            <a:endParaRPr lang="en-US" sz="1313">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66780">
              <a:defRPr/>
            </a:pPr>
            <a:endParaRPr lang="en-US" sz="1313"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66780">
              <a:defRPr/>
            </a:pPr>
            <a:endParaRPr lang="en-US" sz="1313"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66780">
              <a:defRPr/>
            </a:pPr>
            <a:endParaRPr lang="en-US" sz="1313"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defTabSz="333390"/>
            <a:endParaRPr lang="en-US" sz="1313">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algn="ctr" defTabSz="1659550" fontAlgn="base">
              <a:spcBef>
                <a:spcPts val="1313"/>
              </a:spcBef>
              <a:spcAft>
                <a:spcPts val="1313"/>
              </a:spcAft>
              <a:tabLst>
                <a:tab pos="2698943"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algn="ctr" defTabSz="666780">
              <a:defRPr/>
            </a:pPr>
            <a:endParaRPr lang="en-GB" sz="1458"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66780">
              <a:defRPr/>
            </a:pPr>
            <a:endParaRPr lang="en-GB" sz="1313"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66780">
              <a:defRPr/>
            </a:pPr>
            <a:endParaRPr lang="en-GB" sz="1313"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4177393" cy="492443"/>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from Business Basic to Business Premium and Copilot Business</a:t>
            </a:r>
            <a:endParaRPr lang="en-US" sz="1600"/>
          </a:p>
        </p:txBody>
      </p:sp>
      <p:sp>
        <p:nvSpPr>
          <p:cNvPr id="11" name="Current SKU"/>
          <p:cNvSpPr/>
          <p:nvPr/>
        </p:nvSpPr>
        <p:spPr>
          <a:xfrm>
            <a:off x="437503" y="1189906"/>
            <a:ext cx="981075" cy="166712"/>
          </a:xfrm>
          <a:prstGeom prst="rect">
            <a:avLst/>
          </a:prstGeom>
          <a:noFill/>
          <a:ln/>
        </p:spPr>
        <p:txBody>
          <a:bodyPr wrap="square" lIns="0" tIns="0" rIns="0" bIns="0" rtlCol="0" anchor="t" anchorCtr="0">
            <a:spAutoFit/>
          </a:bodyPr>
          <a:lstStyle/>
          <a:p>
            <a:pPr marL="0" indent="0" algn="l">
              <a:lnSpc>
                <a:spcPts val="1275"/>
              </a:lnSpc>
              <a:buNone/>
            </a:pPr>
            <a:r>
              <a:rPr lang="en-US" sz="1200">
                <a:solidFill>
                  <a:srgbClr val="8A226F"/>
                </a:solidFill>
                <a:latin typeface="Segoe UI Semibold" pitchFamily="34" charset="0"/>
                <a:ea typeface="Segoe UI Semibold" pitchFamily="34" charset="-122"/>
                <a:cs typeface="Segoe UI Semibold" pitchFamily="34" charset="-120"/>
              </a:rPr>
              <a:t>Business Basic</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9157"/>
            <a:ext cx="1750368"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and mobile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Automatic spam and malware filtering​ </a:t>
            </a:r>
          </a:p>
        </p:txBody>
      </p:sp>
      <p:sp>
        <p:nvSpPr>
          <p:cNvPr id="13" name="Target SKU"/>
          <p:cNvSpPr/>
          <p:nvPr/>
        </p:nvSpPr>
        <p:spPr>
          <a:xfrm>
            <a:off x="2791975" y="1189906"/>
            <a:ext cx="19779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9157"/>
            <a:ext cx="2314100" cy="2605521"/>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Stronger security with conditional access, manual sensitivity and retention labels, and discovery and evaluation of risk across 400+ AI apps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851189"/>
            <a:ext cx="911808" cy="511672"/>
            <a:chOff x="560824" y="3487565"/>
            <a:chExt cx="911808" cy="511672"/>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87565"/>
              <a:ext cx="910656" cy="146450"/>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851797"/>
            <a:ext cx="931078" cy="508579"/>
            <a:chOff x="560825" y="3488173"/>
            <a:chExt cx="1307552" cy="508579"/>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88173"/>
              <a:ext cx="1284406" cy="145233"/>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815678"/>
            <a:ext cx="1789913" cy="538717"/>
            <a:chOff x="3196954" y="6691665"/>
            <a:chExt cx="1789913" cy="538717"/>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endParaRP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691665"/>
              <a:ext cx="1117294" cy="257369"/>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200460"/>
            <a:ext cx="4848225" cy="399876"/>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E0DE550-9114-D02C-2074-289C34FAA803}"/>
              </a:ext>
            </a:extLst>
          </p:cNvPr>
          <p:cNvGraphicFramePr>
            <a:graphicFrameLocks noGrp="1"/>
          </p:cNvGraphicFramePr>
          <p:nvPr>
            <p:extLst>
              <p:ext uri="{D42A27DB-BD31-4B8C-83A1-F6EECF244321}">
                <p14:modId xmlns:p14="http://schemas.microsoft.com/office/powerpoint/2010/main" val="4193211724"/>
              </p:ext>
            </p:extLst>
          </p:nvPr>
        </p:nvGraphicFramePr>
        <p:xfrm>
          <a:off x="409573" y="654269"/>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752</Words>
  <Application>Microsoft Office PowerPoint</Application>
  <PresentationFormat>Custom</PresentationFormat>
  <Paragraphs>85</Paragraphs>
  <Slides>5</Slides>
  <Notes>4</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vt:i4>
      </vt:variant>
    </vt:vector>
  </HeadingPairs>
  <TitlesOfParts>
    <vt:vector size="20"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2</cp:revision>
  <dcterms:created xsi:type="dcterms:W3CDTF">2026-02-21T17:45:29Z</dcterms:created>
  <dcterms:modified xsi:type="dcterms:W3CDTF">2026-05-07T23:07:42Z</dcterms:modified>
</cp:coreProperties>
</file>