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Lst>
  <p:notesMasterIdLst>
    <p:notesMasterId r:id="rId9"/>
  </p:notesMasterIdLst>
  <p:sldIdLst>
    <p:sldId id="2147470023" r:id="rId4"/>
    <p:sldId id="257" r:id="rId5"/>
    <p:sldId id="323" r:id="rId6"/>
    <p:sldId id="214747001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F6932A-56CE-40AB-91B5-AC44892A65AB}" v="1" dt="2026-04-24T12:04:49.8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368"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2:04:49.814" v="32"/>
      <pc:docMkLst>
        <pc:docMk/>
      </pc:docMkLst>
      <pc:sldChg chg="add">
        <pc:chgData name="Vandan Jain" userId="4244b45b-25d1-413d-855b-6597e767c081" providerId="ADAL" clId="{67AB2A15-26B8-47FB-BEC6-EFDC03C3B3B6}" dt="2026-04-24T12:04:49.814" v="32"/>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94751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3653559869"/>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10533334"/>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4/24/2026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196782089"/>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4177393" cy="492443"/>
          </a:xfrm>
          <a:prstGeom prst="rect">
            <a:avLst/>
          </a:prstGeom>
          <a:noFill/>
          <a:ln/>
        </p:spPr>
        <p:txBody>
          <a:bodyPr wrap="square" lIns="0" tIns="0" rIns="0" bIns="0" rtlCol="0" anchor="t" anchorCtr="0">
            <a:spAutoFit/>
          </a:bodyPr>
          <a:lstStyle/>
          <a:p>
            <a:r>
              <a:rPr lang="en-US" sz="1600">
                <a:solidFill>
                  <a:srgbClr val="000000"/>
                </a:solidFill>
                <a:latin typeface="Segoe UI Semibold" pitchFamily="34" charset="0"/>
                <a:ea typeface="Segoe UI Semibold" pitchFamily="34" charset="-122"/>
                <a:cs typeface="Segoe UI Semibold" pitchFamily="34" charset="-120"/>
              </a:rPr>
              <a:t>Incremental capabilities from Business Basic to Business Premium and Copilot Business</a:t>
            </a:r>
            <a:endParaRPr lang="en-US" sz="1600"/>
          </a:p>
        </p:txBody>
      </p:sp>
      <p:sp>
        <p:nvSpPr>
          <p:cNvPr id="11" name="Current SKU"/>
          <p:cNvSpPr/>
          <p:nvPr/>
        </p:nvSpPr>
        <p:spPr>
          <a:xfrm>
            <a:off x="437503" y="1189906"/>
            <a:ext cx="981075" cy="166712"/>
          </a:xfrm>
          <a:prstGeom prst="rect">
            <a:avLst/>
          </a:prstGeom>
          <a:noFill/>
          <a:ln/>
        </p:spPr>
        <p:txBody>
          <a:bodyPr wrap="square" lIns="0" tIns="0" rIns="0" bIns="0" rtlCol="0" anchor="t" anchorCtr="0">
            <a:spAutoFit/>
          </a:bodyPr>
          <a:lstStyle/>
          <a:p>
            <a:pPr marL="0" indent="0" algn="l">
              <a:lnSpc>
                <a:spcPts val="1275"/>
              </a:lnSpc>
              <a:buNone/>
            </a:pPr>
            <a:r>
              <a:rPr lang="en-US" sz="1200">
                <a:solidFill>
                  <a:srgbClr val="8A226F"/>
                </a:solidFill>
                <a:latin typeface="Segoe UI Semibold" pitchFamily="34" charset="0"/>
                <a:ea typeface="Segoe UI Semibold" pitchFamily="34" charset="-122"/>
                <a:cs typeface="Segoe UI Semibold" pitchFamily="34" charset="-120"/>
              </a:rPr>
              <a:t>Business Basic</a:t>
            </a:r>
            <a:endParaRPr lang="en-US" sz="120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9157"/>
            <a:ext cx="1750368" cy="2294539"/>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Web and mobile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Automatic spam and malware filtering​ </a:t>
            </a:r>
          </a:p>
        </p:txBody>
      </p:sp>
      <p:sp>
        <p:nvSpPr>
          <p:cNvPr id="13" name="Target SKU"/>
          <p:cNvSpPr/>
          <p:nvPr/>
        </p:nvSpPr>
        <p:spPr>
          <a:xfrm>
            <a:off x="2791975" y="1189906"/>
            <a:ext cx="1977968"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Premium and Copilot Business</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9157"/>
            <a:ext cx="2314100" cy="2605521"/>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Model Choice with </a:t>
            </a:r>
            <a:r>
              <a:rPr lang="en-US" sz="850" err="1">
                <a:solidFill>
                  <a:srgbClr val="000000"/>
                </a:solidFill>
                <a:latin typeface="Segoe UI Regular" pitchFamily="34" charset="0"/>
                <a:ea typeface="Segoe UI Regular" pitchFamily="34" charset="-122"/>
                <a:cs typeface="Segoe UI Regular" pitchFamily="34" charset="-120"/>
              </a:rPr>
              <a:t>Anthropic’s</a:t>
            </a:r>
            <a:r>
              <a:rPr lang="en-US" sz="85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Stronger security with conditional access, manual sensitivity and retention labels, and discovery and evaluation of risk across 400+ AI apps</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prstClr val="white"/>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Take advantage of the limited time offer on Copilot Business + Business Premium bundle</a:t>
            </a: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pitchFamily="34" charset="-122"/>
                  <a:cs typeface="Segoe UI Regular" pitchFamily="34" charset="-120"/>
                </a:rPr>
                <a:t>$43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pitchFamily="34" charset="-122"/>
                  <a:cs typeface="Segoe UI Regular" pitchFamily="34" charset="-120"/>
                </a:rPr>
                <a:t>$32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panose="020B0802040204020203" pitchFamily="34" charset="0"/>
                  <a:ea typeface="Segoe UI Semibold" panose="020B0502040204020203" pitchFamily="34" charset="0"/>
                  <a:cs typeface="Segoe UI Bold" panose="020B0802040204020203" pitchFamily="34" charset="0"/>
                </a:rPr>
                <a:t>~25%</a:t>
              </a:r>
              <a:endParaRPr kumimoji="0" lang="en-US" sz="1200" b="1" i="0" u="none" strike="noStrike" kern="1200" cap="none" spc="0" normalizeH="0" baseline="0" noProof="0">
                <a:ln>
                  <a:noFill/>
                </a:ln>
                <a:solidFill>
                  <a:srgbClr val="B740C5"/>
                </a:solidFill>
                <a:effectLst/>
                <a:uLnTx/>
                <a:uFillTx/>
                <a:latin typeface="Segoe UI Bold" panose="020B0802040204020203" pitchFamily="34" charset="0"/>
                <a:ea typeface="Segoe UI Semibold" panose="020B0502040204020203" pitchFamily="34" charset="0"/>
                <a:cs typeface="Segoe UI Bold" panose="020B0802040204020203" pitchFamily="34" charset="0"/>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63705"/>
            <a:ext cx="4790311"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1D14CFE1-75AA-291A-4C90-3EA84793A31E}"/>
              </a:ext>
            </a:extLst>
          </p:cNvPr>
          <p:cNvGraphicFramePr>
            <a:graphicFrameLocks noGrp="1"/>
          </p:cNvGraphicFramePr>
          <p:nvPr>
            <p:extLst>
              <p:ext uri="{D42A27DB-BD31-4B8C-83A1-F6EECF244321}">
                <p14:modId xmlns:p14="http://schemas.microsoft.com/office/powerpoint/2010/main" val="821898669"/>
              </p:ext>
            </p:extLst>
          </p:nvPr>
        </p:nvGraphicFramePr>
        <p:xfrm>
          <a:off x="409575" y="690846"/>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158377975"/>
                    </a:ext>
                  </a:extLst>
                </a:gridCol>
                <a:gridCol w="2424113">
                  <a:extLst>
                    <a:ext uri="{9D8B030D-6E8A-4147-A177-3AD203B41FA5}">
                      <a16:colId xmlns:a16="http://schemas.microsoft.com/office/drawing/2014/main" val="173615780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3047288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3925803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402082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144465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384079"/>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7276780"/>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1002414"/>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447230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96921155"/>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5712645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786</Words>
  <Application>Microsoft Office PowerPoint</Application>
  <PresentationFormat>Custom</PresentationFormat>
  <Paragraphs>92</Paragraphs>
  <Slides>5</Slides>
  <Notes>4</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5</vt:i4>
      </vt:variant>
    </vt:vector>
  </HeadingPairs>
  <TitlesOfParts>
    <vt:vector size="20"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Wingdings</vt:lpstr>
      <vt:lpstr>Office Theme</vt:lpstr>
      <vt:lpstr>2_CSP Template Diamond 06/23</vt:lpstr>
      <vt:lpstr>3_Office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cp:revision>
  <dcterms:created xsi:type="dcterms:W3CDTF">2026-02-21T17:45:29Z</dcterms:created>
  <dcterms:modified xsi:type="dcterms:W3CDTF">2026-04-24T12:04:52Z</dcterms:modified>
</cp:coreProperties>
</file>