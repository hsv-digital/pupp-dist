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Lst>
  <p:notesMasterIdLst>
    <p:notesMasterId r:id="rId9"/>
  </p:notesMasterIdLst>
  <p:sldIdLst>
    <p:sldId id="2147470023" r:id="rId4"/>
    <p:sldId id="257" r:id="rId5"/>
    <p:sldId id="323" r:id="rId6"/>
    <p:sldId id="214747001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2243DE-BD2B-4F94-8648-C2978D076E9A}" v="1" dt="2026-04-24T12:05:49.8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4"/>
    <p:restoredTop sz="92390" autoAdjust="0"/>
  </p:normalViewPr>
  <p:slideViewPr>
    <p:cSldViewPr snapToGrid="0" snapToObjects="1">
      <p:cViewPr varScale="1">
        <p:scale>
          <a:sx n="92" d="100"/>
          <a:sy n="92" d="100"/>
        </p:scale>
        <p:origin x="2168"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2:05:49.824" v="32"/>
      <pc:docMkLst>
        <pc:docMk/>
      </pc:docMkLst>
      <pc:sldChg chg="add">
        <pc:chgData name="Vandan Jain" userId="4244b45b-25d1-413d-855b-6597e767c081" providerId="ADAL" clId="{67AB2A15-26B8-47FB-BEC6-EFDC03C3B3B6}" dt="2026-04-24T12:05:49.824" v="32"/>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959554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9280901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920291519"/>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4/24/2026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174621465"/>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658594"/>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833919" y="1657674"/>
            <a:ext cx="2196000" cy="5612"/>
          </a:xfrm>
          <a:prstGeom prst="rect">
            <a:avLst/>
          </a:prstGeom>
        </p:spPr>
      </p:pic>
      <p:sp>
        <p:nvSpPr>
          <p:cNvPr id="10" name="Incremental capabilities from Current SKU to Target SKU"/>
          <p:cNvSpPr/>
          <p:nvPr/>
        </p:nvSpPr>
        <p:spPr>
          <a:xfrm>
            <a:off x="304801" y="401479"/>
            <a:ext cx="4507088" cy="492443"/>
          </a:xfrm>
          <a:prstGeom prst="rect">
            <a:avLst/>
          </a:prstGeom>
          <a:noFill/>
          <a:ln/>
        </p:spPr>
        <p:txBody>
          <a:bodyPr wrap="square" lIns="0" tIns="0" rIns="0" bIns="0" rtlCol="0" anchor="t" anchorCtr="0">
            <a:spAutoFit/>
          </a:bodyPr>
          <a:lstStyle/>
          <a:p>
            <a:r>
              <a:rPr lang="en-US" sz="1600" dirty="0">
                <a:solidFill>
                  <a:srgbClr val="000000"/>
                </a:solidFill>
                <a:latin typeface="Segoe UI Semibold" pitchFamily="34" charset="0"/>
                <a:ea typeface="Segoe UI Semibold" pitchFamily="34" charset="-122"/>
                <a:cs typeface="Segoe UI Semibold" pitchFamily="34" charset="-120"/>
              </a:rPr>
              <a:t>Incremental capabilities from Business Standard to Business Premium and Copilot Business</a:t>
            </a:r>
            <a:endParaRPr lang="en-US" sz="1600" dirty="0"/>
          </a:p>
        </p:txBody>
      </p:sp>
      <p:sp>
        <p:nvSpPr>
          <p:cNvPr id="11" name="Current SKU"/>
          <p:cNvSpPr/>
          <p:nvPr/>
        </p:nvSpPr>
        <p:spPr>
          <a:xfrm>
            <a:off x="437503" y="1223462"/>
            <a:ext cx="1454907" cy="166712"/>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Standard</a:t>
            </a:r>
            <a:endParaRPr lang="en-US" sz="1200" dirty="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67304"/>
            <a:ext cx="1724039" cy="2294539"/>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Automatic spam and malware filtering​</a:t>
            </a:r>
          </a:p>
        </p:txBody>
      </p:sp>
      <p:sp>
        <p:nvSpPr>
          <p:cNvPr id="13" name="Target SKU"/>
          <p:cNvSpPr/>
          <p:nvPr/>
        </p:nvSpPr>
        <p:spPr>
          <a:xfrm>
            <a:off x="2833920" y="1223462"/>
            <a:ext cx="1977968" cy="333425"/>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Premium and Copilot Business</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833919" y="1767304"/>
            <a:ext cx="2196000" cy="2602315"/>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Model Choice with </a:t>
            </a:r>
            <a:r>
              <a:rPr lang="en-US" sz="850" dirty="0" err="1">
                <a:solidFill>
                  <a:srgbClr val="000000"/>
                </a:solidFill>
                <a:latin typeface="Segoe UI Regular" pitchFamily="34" charset="0"/>
                <a:ea typeface="Segoe UI Regular" pitchFamily="34" charset="-122"/>
                <a:cs typeface="Segoe UI Regular" pitchFamily="34" charset="-120"/>
              </a:rPr>
              <a:t>Anthropic’s</a:t>
            </a:r>
            <a:r>
              <a:rPr lang="en-US" sz="850" dirty="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Manual sensitivity and retention labels for content processed by Copilot in files and emails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Data loss prevention policies to help protect sensitive data from Copilot in files and emails</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54102" y="2048763"/>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dirty="0">
                <a:solidFill>
                  <a:schemeClr val="bg1"/>
                </a:solidFill>
                <a:latin typeface="Segoe UI Semibold"/>
                <a:ea typeface="Segoe UI Semibold" panose="020B0502040204020203" pitchFamily="34" charset="0"/>
                <a:cs typeface="Segoe UI Semibold"/>
              </a:rPr>
              <a:t>on Copilot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Premium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43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25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8E003144-BE07-430C-AAB7-83F4DF1732B5}"/>
              </a:ext>
            </a:extLst>
          </p:cNvPr>
          <p:cNvGraphicFramePr>
            <a:graphicFrameLocks noGrp="1"/>
          </p:cNvGraphicFramePr>
          <p:nvPr>
            <p:extLst>
              <p:ext uri="{D42A27DB-BD31-4B8C-83A1-F6EECF244321}">
                <p14:modId xmlns:p14="http://schemas.microsoft.com/office/powerpoint/2010/main" val="2487931506"/>
              </p:ext>
            </p:extLst>
          </p:nvPr>
        </p:nvGraphicFramePr>
        <p:xfrm>
          <a:off x="409685" y="644876"/>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TotalTime>
  <Words>778</Words>
  <Application>Microsoft Office PowerPoint</Application>
  <PresentationFormat>Custom</PresentationFormat>
  <Paragraphs>92</Paragraphs>
  <Slides>5</Slides>
  <Notes>4</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5</vt:i4>
      </vt:variant>
    </vt:vector>
  </HeadingPairs>
  <TitlesOfParts>
    <vt:vector size="20"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Wingdings</vt:lpstr>
      <vt:lpstr>Office Theme</vt:lpstr>
      <vt:lpstr>2_CSP Template Diamond 06/23</vt:lpstr>
      <vt:lpstr>3_Office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19</cp:revision>
  <dcterms:created xsi:type="dcterms:W3CDTF">2026-02-21T17:45:29Z</dcterms:created>
  <dcterms:modified xsi:type="dcterms:W3CDTF">2026-04-24T12:05:52Z</dcterms:modified>
</cp:coreProperties>
</file>