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 id="2147483654" r:id="rId4"/>
  </p:sldMasterIdLst>
  <p:notesMasterIdLst>
    <p:notesMasterId r:id="rId11"/>
  </p:notesMasterIdLst>
  <p:sldIdLst>
    <p:sldId id="2147470023" r:id="rId5"/>
    <p:sldId id="2147470008" r:id="rId6"/>
    <p:sldId id="257" r:id="rId7"/>
    <p:sldId id="323" r:id="rId8"/>
    <p:sldId id="2147470014" r:id="rId9"/>
    <p:sldId id="2147470015" r:id="rId10"/>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C2341A-9105-4059-BDE1-46C2BFF7859A}" v="1" dt="2026-04-24T12:06:01.2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05"/>
    <p:restoredTop sz="89116" autoAdjust="0"/>
  </p:normalViewPr>
  <p:slideViewPr>
    <p:cSldViewPr snapToGrid="0" snapToObjects="1">
      <p:cViewPr varScale="1">
        <p:scale>
          <a:sx n="92" d="100"/>
          <a:sy n="92" d="100"/>
        </p:scale>
        <p:origin x="2380" y="60"/>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2:06:01.215" v="30"/>
      <pc:docMkLst>
        <pc:docMk/>
      </pc:docMkLst>
      <pc:sldChg chg="add">
        <pc:chgData name="Vandan Jain" userId="4244b45b-25d1-413d-855b-6597e767c081" providerId="ADAL" clId="{67AB2A15-26B8-47FB-BEC6-EFDC03C3B3B6}" dt="2026-04-24T12:06:01.215" v="30"/>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1839865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926720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3353905085"/>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55357763"/>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2410880970"/>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4/24/2026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412657308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png"/><Relationship Id="rId7" Type="http://schemas.openxmlformats.org/officeDocument/2006/relationships/image" Target="../media/image15.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dirty="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dirty="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a:t>
            </a:r>
            <a:r>
              <a:rPr kumimoji="0" lang="en-US" sz="1000"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dirty="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dirty="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dirty="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5293"/>
            <a:ext cx="5667374" cy="8025342"/>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8" y="565908"/>
            <a:ext cx="422989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grpSp>
        <p:nvGrpSpPr>
          <p:cNvPr id="19" name="Group 18">
            <a:extLst>
              <a:ext uri="{FF2B5EF4-FFF2-40B4-BE49-F238E27FC236}">
                <a16:creationId xmlns:a16="http://schemas.microsoft.com/office/drawing/2014/main" id="{16718F9F-D7F8-8AB5-49E0-F7F004721D21}"/>
              </a:ext>
            </a:extLst>
          </p:cNvPr>
          <p:cNvGrpSpPr/>
          <p:nvPr/>
        </p:nvGrpSpPr>
        <p:grpSpPr>
          <a:xfrm>
            <a:off x="290094" y="1717506"/>
            <a:ext cx="1640799" cy="2800463"/>
            <a:chOff x="290094" y="1671081"/>
            <a:chExt cx="1640799" cy="2800463"/>
          </a:xfrm>
        </p:grpSpPr>
        <p:sp>
          <p:nvSpPr>
            <p:cNvPr id="21" name="Rectangle: Rounded Corners 20">
              <a:extLst>
                <a:ext uri="{FF2B5EF4-FFF2-40B4-BE49-F238E27FC236}">
                  <a16:creationId xmlns:a16="http://schemas.microsoft.com/office/drawing/2014/main" id="{1F261787-A532-6E06-5DBB-DC560E196235}"/>
                </a:ext>
              </a:extLst>
            </p:cNvPr>
            <p:cNvSpPr/>
            <p:nvPr/>
          </p:nvSpPr>
          <p:spPr bwMode="auto">
            <a:xfrm>
              <a:off x="290094" y="1671081"/>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Rectangle: Rounded Corners 21">
              <a:extLst>
                <a:ext uri="{FF2B5EF4-FFF2-40B4-BE49-F238E27FC236}">
                  <a16:creationId xmlns:a16="http://schemas.microsoft.com/office/drawing/2014/main" id="{2D7F975A-EFFC-ED2A-C751-F90289DD4D12}"/>
                </a:ext>
              </a:extLst>
            </p:cNvPr>
            <p:cNvSpPr/>
            <p:nvPr/>
          </p:nvSpPr>
          <p:spPr bwMode="auto">
            <a:xfrm>
              <a:off x="457032" y="3341191"/>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grpSp>
          <p:nvGrpSpPr>
            <p:cNvPr id="25" name="Group 24">
              <a:extLst>
                <a:ext uri="{FF2B5EF4-FFF2-40B4-BE49-F238E27FC236}">
                  <a16:creationId xmlns:a16="http://schemas.microsoft.com/office/drawing/2014/main" id="{B5803776-5E8B-2132-6273-96CF7F5813DA}"/>
                </a:ext>
              </a:extLst>
            </p:cNvPr>
            <p:cNvGrpSpPr/>
            <p:nvPr/>
          </p:nvGrpSpPr>
          <p:grpSpPr>
            <a:xfrm>
              <a:off x="532601" y="3436359"/>
              <a:ext cx="1177379" cy="390472"/>
              <a:chOff x="532601" y="3436359"/>
              <a:chExt cx="1614691" cy="535504"/>
            </a:xfrm>
          </p:grpSpPr>
          <p:pic>
            <p:nvPicPr>
              <p:cNvPr id="27" name="Picture 26">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2601" y="3436359"/>
                <a:ext cx="529765" cy="535504"/>
              </a:xfrm>
              <a:prstGeom prst="rect">
                <a:avLst/>
              </a:prstGeom>
            </p:spPr>
          </p:pic>
          <p:pic>
            <p:nvPicPr>
              <p:cNvPr id="28"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641988" y="3466559"/>
                <a:ext cx="505304" cy="505304"/>
              </a:xfrm>
              <a:prstGeom prst="rect">
                <a:avLst/>
              </a:prstGeom>
            </p:spPr>
          </p:pic>
          <p:grpSp>
            <p:nvGrpSpPr>
              <p:cNvPr id="29" name="Group 28">
                <a:extLst>
                  <a:ext uri="{FF2B5EF4-FFF2-40B4-BE49-F238E27FC236}">
                    <a16:creationId xmlns:a16="http://schemas.microsoft.com/office/drawing/2014/main" id="{F1199295-2F99-24A2-64CB-B2F820A1503C}"/>
                  </a:ext>
                </a:extLst>
              </p:cNvPr>
              <p:cNvGrpSpPr/>
              <p:nvPr/>
            </p:nvGrpSpPr>
            <p:grpSpPr>
              <a:xfrm>
                <a:off x="1192157" y="3544091"/>
                <a:ext cx="320040" cy="320040"/>
                <a:chOff x="1192157" y="3544091"/>
                <a:chExt cx="479596" cy="479596"/>
              </a:xfrm>
            </p:grpSpPr>
            <p:sp>
              <p:nvSpPr>
                <p:cNvPr id="30" name="Oval 29">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1192157" y="3544091"/>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500" tIns="26250" rIns="52500" bIns="26250" numCol="1" spcCol="0" rtlCol="0" fromWordArt="0" anchor="ctr" anchorCtr="0" forceAA="0" compatLnSpc="1">
                  <a:prstTxWarp prst="textNoShape">
                    <a:avLst/>
                  </a:prstTxWarp>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31"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02876" y="3654810"/>
                  <a:ext cx="258158" cy="258158"/>
                </a:xfrm>
                <a:prstGeom prst="rect">
                  <a:avLst/>
                </a:prstGeom>
                <a:effectLst>
                  <a:outerShdw blurRad="63500" dist="63500" dir="2700000" algn="ctr" rotWithShape="0">
                    <a:schemeClr val="bg1">
                      <a:alpha val="20000"/>
                    </a:schemeClr>
                  </a:outerShdw>
                </a:effectLst>
              </p:spPr>
            </p:pic>
          </p:grpSp>
        </p:grpSp>
        <p:sp>
          <p:nvSpPr>
            <p:cNvPr id="26" name="TextBox 4">
              <a:extLst>
                <a:ext uri="{FF2B5EF4-FFF2-40B4-BE49-F238E27FC236}">
                  <a16:creationId xmlns:a16="http://schemas.microsoft.com/office/drawing/2014/main" id="{40A7A011-A5B1-B465-6A3F-B4941EFA893C}"/>
                </a:ext>
              </a:extLst>
            </p:cNvPr>
            <p:cNvSpPr txBox="1"/>
            <p:nvPr/>
          </p:nvSpPr>
          <p:spPr>
            <a:xfrm>
              <a:off x="393763" y="2076560"/>
              <a:ext cx="1436982" cy="994183"/>
            </a:xfrm>
            <a:prstGeom prst="rect">
              <a:avLst/>
            </a:prstGeom>
            <a:noFill/>
          </p:spPr>
          <p:txBody>
            <a:bodyPr wrap="square" lIns="0" tIns="0" rIns="0" bIns="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590562"/>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791974" y="1590562"/>
            <a:ext cx="2196000" cy="5612"/>
          </a:xfrm>
          <a:prstGeom prst="rect">
            <a:avLst/>
          </a:prstGeom>
        </p:spPr>
      </p:pic>
      <p:sp>
        <p:nvSpPr>
          <p:cNvPr id="10" name="Incremental capabilities from Current SKU to Target SKU"/>
          <p:cNvSpPr/>
          <p:nvPr/>
        </p:nvSpPr>
        <p:spPr>
          <a:xfrm>
            <a:off x="304800" y="401479"/>
            <a:ext cx="5095875" cy="492443"/>
          </a:xfrm>
          <a:prstGeom prst="rect">
            <a:avLst/>
          </a:prstGeom>
          <a:noFill/>
          <a:ln/>
        </p:spPr>
        <p:txBody>
          <a:bodyPr wrap="square" lIns="0" tIns="0" rIns="0" bIns="0" rtlCol="0" anchor="t" anchorCtr="0">
            <a:spAutoFit/>
          </a:bodyPr>
          <a:lstStyle/>
          <a:p>
            <a:r>
              <a:rPr lang="en-US" sz="1600" dirty="0">
                <a:solidFill>
                  <a:srgbClr val="000000"/>
                </a:solidFill>
                <a:latin typeface="Segoe UI Semibold" pitchFamily="34" charset="0"/>
                <a:ea typeface="Segoe UI Semibold" pitchFamily="34" charset="-122"/>
                <a:cs typeface="Segoe UI Semibold" pitchFamily="34" charset="-120"/>
              </a:rPr>
              <a:t>Incremental capabilities from Business Standard to Business Premium, Copilot Business, and Purview</a:t>
            </a:r>
            <a:endParaRPr lang="en-US" sz="1600" dirty="0"/>
          </a:p>
        </p:txBody>
      </p:sp>
      <p:sp>
        <p:nvSpPr>
          <p:cNvPr id="11" name="Current SKU"/>
          <p:cNvSpPr/>
          <p:nvPr/>
        </p:nvSpPr>
        <p:spPr>
          <a:xfrm>
            <a:off x="437504" y="1189906"/>
            <a:ext cx="982588" cy="333425"/>
          </a:xfrm>
          <a:prstGeom prst="rect">
            <a:avLst/>
          </a:prstGeom>
          <a:noFill/>
          <a:ln/>
        </p:spPr>
        <p:txBody>
          <a:bodyPr wrap="square" lIns="0" tIns="0" rIns="0" bIns="0" rtlCol="0" anchor="t" anchorCtr="0">
            <a:spAutoFit/>
          </a:bodyPr>
          <a:lstStyle/>
          <a:p>
            <a:pPr>
              <a:lnSpc>
                <a:spcPts val="1275"/>
              </a:lnSpc>
            </a:pPr>
            <a:r>
              <a:rPr lang="en-US" sz="1200" dirty="0">
                <a:solidFill>
                  <a:srgbClr val="8A226F"/>
                </a:solidFill>
                <a:latin typeface="Segoe UI Semibold" pitchFamily="34" charset="0"/>
                <a:ea typeface="Segoe UI Semibold" pitchFamily="34" charset="-122"/>
                <a:cs typeface="Segoe UI Semibold" pitchFamily="34" charset="-120"/>
              </a:rPr>
              <a:t>Business Standard</a:t>
            </a:r>
            <a:endParaRPr lang="en-US" sz="1200" dirty="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700192"/>
            <a:ext cx="1635138" cy="2448427"/>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Web, mobile, and desktop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Foundational identity and access management</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Automatic spam and malware filtering​ </a:t>
            </a:r>
          </a:p>
        </p:txBody>
      </p:sp>
      <p:sp>
        <p:nvSpPr>
          <p:cNvPr id="13" name="Target SKU"/>
          <p:cNvSpPr/>
          <p:nvPr/>
        </p:nvSpPr>
        <p:spPr>
          <a:xfrm>
            <a:off x="2791975" y="1189906"/>
            <a:ext cx="1977968" cy="333425"/>
          </a:xfrm>
          <a:prstGeom prst="rect">
            <a:avLst/>
          </a:prstGeom>
          <a:noFill/>
          <a:ln/>
        </p:spPr>
        <p:txBody>
          <a:bodyPr wrap="square" lIns="0" tIns="0" rIns="0" bIns="0" rtlCol="0" anchor="t" anchorCtr="0">
            <a:spAutoFit/>
          </a:bodyPr>
          <a:lstStyle/>
          <a:p>
            <a:pPr>
              <a:lnSpc>
                <a:spcPts val="1275"/>
              </a:lnSpc>
            </a:pPr>
            <a:r>
              <a:rPr lang="en-US" sz="1200" dirty="0">
                <a:solidFill>
                  <a:srgbClr val="8A226F"/>
                </a:solidFill>
                <a:latin typeface="Segoe UI Semibold" pitchFamily="34" charset="0"/>
                <a:ea typeface="Segoe UI Semibold" pitchFamily="34" charset="-122"/>
                <a:cs typeface="Segoe UI Semibold" pitchFamily="34" charset="-120"/>
              </a:rPr>
              <a:t>Business Premium, Copilot Business, and Purview</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791974" y="1700192"/>
            <a:ext cx="2196000" cy="2756204"/>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Advanced Chat and Office skills, including functionality like Agent mode in apps, Copilot Search and Copilot Notebooks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Model Choice with </a:t>
            </a:r>
            <a:r>
              <a:rPr lang="en-US" sz="850" dirty="0" err="1">
                <a:solidFill>
                  <a:srgbClr val="000000"/>
                </a:solidFill>
                <a:latin typeface="Segoe UI Regular" pitchFamily="34" charset="0"/>
                <a:ea typeface="Segoe UI Regular" pitchFamily="34" charset="-122"/>
                <a:cs typeface="Segoe UI Regular" pitchFamily="34" charset="-120"/>
              </a:rPr>
              <a:t>Anthropic’s</a:t>
            </a:r>
            <a:r>
              <a:rPr lang="en-US" sz="850" dirty="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Automatic sensitivity and retention labels, &amp; advanced data security and compliance controls to detect and investigate risky usage</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Discovery and evaluation of risk of 400+ AI apps in network and user devices &amp; implement controls for their use at work</a:t>
            </a: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31759" y="190536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523220"/>
          </a:xfrm>
          <a:prstGeom prst="rect">
            <a:avLst/>
          </a:prstGeom>
          <a:noFill/>
        </p:spPr>
        <p:txBody>
          <a:bodyPr wrap="square" lIns="91440" tIns="45720" rIns="91440" bIns="45720" anchor="t">
            <a:spAutoFit/>
          </a:bodyPr>
          <a:lstStyle/>
          <a:p>
            <a:pPr algn="ctr">
              <a:defRPr/>
            </a:pPr>
            <a:r>
              <a:rPr kumimoji="0" lang="en-IN" sz="1400" b="1" i="0" u="none" strike="noStrike" kern="1200" cap="none" spc="0" normalizeH="0" baseline="0" noProof="0" dirty="0">
                <a:ln>
                  <a:noFill/>
                </a:ln>
                <a:solidFill>
                  <a:prstClr val="white"/>
                </a:solidFill>
                <a:effectLst/>
                <a:uLnTx/>
                <a:uFillTx/>
                <a:latin typeface="Segoe UI Semibold"/>
                <a:ea typeface="Segoe UI Semibold" panose="020B0502040204020203" pitchFamily="34" charset="0"/>
                <a:cs typeface="Segoe UI Semibold"/>
              </a:rPr>
              <a:t>Take advantage of the limited time offer on </a:t>
            </a:r>
            <a:r>
              <a:rPr lang="en-IN" sz="1400" b="1">
                <a:solidFill>
                  <a:prstClr val="white"/>
                </a:solidFill>
                <a:latin typeface="Segoe UI Semibold"/>
                <a:ea typeface="Segoe UI Semibold" panose="020B0502040204020203" pitchFamily="34" charset="0"/>
                <a:cs typeface="Segoe UI Semibold"/>
              </a:rPr>
              <a:t>Copilot Business, </a:t>
            </a:r>
            <a:r>
              <a:rPr kumimoji="0" lang="en-IN" sz="1400" b="1" i="0" u="none" strike="noStrike" kern="1200" cap="none" spc="0" normalizeH="0" baseline="0" noProof="0">
                <a:ln>
                  <a:noFill/>
                </a:ln>
                <a:solidFill>
                  <a:prstClr val="white"/>
                </a:solidFill>
                <a:effectLst/>
                <a:uLnTx/>
                <a:uFillTx/>
                <a:latin typeface="Segoe UI Semibold"/>
                <a:ea typeface="Segoe UI Semibold" panose="020B0502040204020203" pitchFamily="34" charset="0"/>
                <a:cs typeface="Segoe UI Semibold"/>
              </a:rPr>
              <a:t>Business Premium</a:t>
            </a:r>
            <a:r>
              <a:rPr lang="en-IN" sz="1400" b="1">
                <a:solidFill>
                  <a:prstClr val="white"/>
                </a:solidFill>
                <a:latin typeface="Segoe UI Semibold"/>
                <a:ea typeface="Segoe UI Semibold" panose="020B0502040204020203" pitchFamily="34" charset="0"/>
                <a:cs typeface="Segoe UI Semibold"/>
              </a:rPr>
              <a:t>, and Purview Suite</a:t>
            </a:r>
            <a:endParaRPr lang="en-IN" sz="140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53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37</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33263" y="6537777"/>
              <a:ext cx="1117294" cy="565146"/>
            </a:xfrm>
            <a:prstGeom prst="rect">
              <a:avLst/>
            </a:prstGeom>
            <a:noFill/>
            <a:ln/>
          </p:spPr>
          <p:txBody>
            <a:bodyPr wrap="non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30</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57DD734B-FE75-8AE8-3A65-94AA5E574CC8}"/>
              </a:ext>
            </a:extLst>
          </p:cNvPr>
          <p:cNvGraphicFramePr>
            <a:graphicFrameLocks noGrp="1"/>
          </p:cNvGraphicFramePr>
          <p:nvPr>
            <p:extLst>
              <p:ext uri="{D42A27DB-BD31-4B8C-83A1-F6EECF244321}">
                <p14:modId xmlns:p14="http://schemas.microsoft.com/office/powerpoint/2010/main" val="973958546"/>
              </p:ext>
            </p:extLst>
          </p:nvPr>
        </p:nvGraphicFramePr>
        <p:xfrm>
          <a:off x="409575" y="643945"/>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458</TotalTime>
  <Words>1010</Words>
  <Application>Microsoft Office PowerPoint</Application>
  <PresentationFormat>Custom</PresentationFormat>
  <Paragraphs>115</Paragraphs>
  <Slides>6</Slides>
  <Notes>5</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6</vt:i4>
      </vt:variant>
    </vt:vector>
  </HeadingPairs>
  <TitlesOfParts>
    <vt:vector size="23" baseType="lpstr">
      <vt:lpstr>Aptos</vt:lpstr>
      <vt:lpstr>Aptos Display</vt:lpstr>
      <vt:lpstr>Arial</vt:lpstr>
      <vt:lpstr>Calibri</vt:lpstr>
      <vt:lpstr>Segoe Sans Display</vt:lpstr>
      <vt:lpstr>Segoe Sans Display Semibold</vt:lpstr>
      <vt:lpstr>Segoe Sans Display Semilight</vt:lpstr>
      <vt:lpstr>Segoe UI</vt:lpstr>
      <vt:lpstr>Segoe UI Bold</vt:lpstr>
      <vt:lpstr>Segoe UI Regular</vt:lpstr>
      <vt:lpstr>Segoe UI Semibold</vt:lpstr>
      <vt:lpstr>Segoe UI Variable Display Semib</vt:lpstr>
      <vt:lpstr>Wingdings</vt:lpstr>
      <vt:lpstr>Office Theme</vt:lpstr>
      <vt:lpstr>2_CSP Template Diamond 06/23</vt:lpstr>
      <vt:lpstr>3_CSP Template Diamond 06/23</vt:lpstr>
      <vt:lpstr>3_Office Theme</vt:lpstr>
      <vt:lpstr>PowerPoint Presentation</vt:lpstr>
      <vt:lpstr>Microsoft Purview Suite for Microsoft 365 Business Premium</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25</cp:revision>
  <dcterms:created xsi:type="dcterms:W3CDTF">2026-02-21T17:45:29Z</dcterms:created>
  <dcterms:modified xsi:type="dcterms:W3CDTF">2026-04-24T12:06:03Z</dcterms:modified>
</cp:coreProperties>
</file>